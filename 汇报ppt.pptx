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68" r:id="rId2"/>
    <p:sldId id="276" r:id="rId3"/>
    <p:sldId id="280" r:id="rId4"/>
    <p:sldId id="286" r:id="rId5"/>
    <p:sldId id="287" r:id="rId6"/>
    <p:sldId id="288" r:id="rId7"/>
    <p:sldId id="281" r:id="rId8"/>
    <p:sldId id="290" r:id="rId9"/>
    <p:sldId id="318" r:id="rId10"/>
    <p:sldId id="319" r:id="rId11"/>
    <p:sldId id="321" r:id="rId12"/>
    <p:sldId id="322" r:id="rId13"/>
    <p:sldId id="282" r:id="rId14"/>
    <p:sldId id="292" r:id="rId15"/>
    <p:sldId id="330" r:id="rId16"/>
    <p:sldId id="331" r:id="rId17"/>
    <p:sldId id="332" r:id="rId18"/>
    <p:sldId id="335" r:id="rId19"/>
    <p:sldId id="283" r:id="rId20"/>
    <p:sldId id="291" r:id="rId21"/>
    <p:sldId id="349" r:id="rId22"/>
    <p:sldId id="350" r:id="rId23"/>
    <p:sldId id="351" r:id="rId24"/>
    <p:sldId id="353" r:id="rId25"/>
    <p:sldId id="354" r:id="rId26"/>
    <p:sldId id="355" r:id="rId27"/>
    <p:sldId id="284" r:id="rId28"/>
    <p:sldId id="301" r:id="rId29"/>
    <p:sldId id="358" r:id="rId30"/>
    <p:sldId id="277"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2D"/>
    <a:srgbClr val="15548D"/>
    <a:srgbClr val="FFFFFF"/>
    <a:srgbClr val="910807"/>
    <a:srgbClr val="7F7F7F"/>
    <a:srgbClr val="B2B2B2"/>
    <a:srgbClr val="005CA1"/>
    <a:srgbClr val="004A82"/>
    <a:srgbClr val="00355C"/>
    <a:srgbClr val="004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2" autoAdjust="0"/>
    <p:restoredTop sz="96344" autoAdjust="0"/>
  </p:normalViewPr>
  <p:slideViewPr>
    <p:cSldViewPr snapToGrid="0">
      <p:cViewPr varScale="1">
        <p:scale>
          <a:sx n="109" d="100"/>
          <a:sy n="109" d="100"/>
        </p:scale>
        <p:origin x="408" y="114"/>
      </p:cViewPr>
      <p:guideLst>
        <p:guide orient="horz" pos="2160"/>
        <p:guide pos="3840"/>
      </p:guideLst>
    </p:cSldViewPr>
  </p:slideViewPr>
  <p:outlineViewPr>
    <p:cViewPr>
      <p:scale>
        <a:sx n="33" d="100"/>
        <a:sy n="33" d="100"/>
      </p:scale>
      <p:origin x="0" y="-1224"/>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A552A8-ECE7-49AA-8726-BE90DBC11947}" type="datetimeFigureOut">
              <a:rPr lang="zh-CN" altLang="en-US" smtClean="0"/>
              <a:t>2026/6/21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EAD77-486C-432B-9EE9-E6FD5C91EB8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B18EAD77-486C-432B-9EE9-E6FD5C91EB8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smtClean="0"/>
              <a:t>GTFS </a:t>
            </a:r>
            <a:r>
              <a:rPr lang="zh-CN" altLang="en-US" b="1" dirty="0" smtClean="0"/>
              <a:t>字段转换说明：</a:t>
            </a:r>
            <a:r>
              <a:rPr lang="zh-CN" altLang="en-US" dirty="0" smtClean="0"/>
              <a:t/>
            </a:r>
            <a:br>
              <a:rPr lang="zh-CN" altLang="en-US" dirty="0" smtClean="0"/>
            </a:br>
            <a:r>
              <a:rPr lang="zh-CN" altLang="en-US" dirty="0" smtClean="0"/>
              <a:t>本项目的公交班次基础来自香港 </a:t>
            </a:r>
            <a:r>
              <a:rPr lang="en-US" altLang="zh-CN" dirty="0" smtClean="0"/>
              <a:t>GTFS </a:t>
            </a:r>
            <a:r>
              <a:rPr lang="zh-CN" altLang="en-US" dirty="0" smtClean="0"/>
              <a:t>数据。</a:t>
            </a:r>
            <a:r>
              <a:rPr lang="en-US" altLang="zh-CN" dirty="0" smtClean="0"/>
              <a:t>GTFS </a:t>
            </a:r>
            <a:r>
              <a:rPr lang="zh-CN" altLang="en-US" dirty="0" smtClean="0"/>
              <a:t>原始表并不能直接用于充电调度，因此需要从 </a:t>
            </a:r>
            <a:r>
              <a:rPr lang="en-US" altLang="zh-CN" dirty="0" smtClean="0"/>
              <a:t>trips.txt</a:t>
            </a:r>
            <a:r>
              <a:rPr lang="zh-CN" altLang="en-US" dirty="0" smtClean="0"/>
              <a:t>、</a:t>
            </a:r>
            <a:r>
              <a:rPr lang="en-US" altLang="zh-CN" dirty="0" smtClean="0"/>
              <a:t>stop_times.txt</a:t>
            </a:r>
            <a:r>
              <a:rPr lang="zh-CN" altLang="en-US" dirty="0" smtClean="0"/>
              <a:t>、</a:t>
            </a:r>
            <a:r>
              <a:rPr lang="en-US" altLang="zh-CN" dirty="0" smtClean="0"/>
              <a:t>stops.txt </a:t>
            </a:r>
            <a:r>
              <a:rPr lang="zh-CN" altLang="en-US" dirty="0" smtClean="0"/>
              <a:t>等表中提取线路、班次、站点和时刻信息，并整理成项目统一的数据字段。</a:t>
            </a:r>
          </a:p>
          <a:p>
            <a:r>
              <a:rPr lang="zh-CN" altLang="en-US" b="1" dirty="0" smtClean="0"/>
              <a:t>关键字段含义：</a:t>
            </a:r>
            <a:r>
              <a:rPr lang="zh-CN" altLang="en-US" dirty="0" smtClean="0"/>
              <a:t/>
            </a:r>
            <a:br>
              <a:rPr lang="zh-CN" altLang="en-US" dirty="0" smtClean="0"/>
            </a:br>
            <a:r>
              <a:rPr lang="en-US" altLang="zh-CN" dirty="0" smtClean="0"/>
              <a:t>trip_id / route_id </a:t>
            </a:r>
            <a:r>
              <a:rPr lang="zh-CN" altLang="en-US" dirty="0" smtClean="0"/>
              <a:t>用来标识一趟具体班次及其所属线路，是连接能耗预测、调度结果和后续评估的主键。</a:t>
            </a:r>
            <a:br>
              <a:rPr lang="zh-CN" altLang="en-US" dirty="0" smtClean="0"/>
            </a:br>
            <a:r>
              <a:rPr lang="en-US" altLang="zh-CN" dirty="0" smtClean="0"/>
              <a:t>start_time / end_time </a:t>
            </a:r>
            <a:r>
              <a:rPr lang="zh-CN" altLang="en-US" dirty="0" smtClean="0"/>
              <a:t>来自首末站到离站时间，用于确定车辆什么时候运行、什么时候有充电窗口。</a:t>
            </a:r>
            <a:br>
              <a:rPr lang="zh-CN" altLang="en-US" dirty="0" smtClean="0"/>
            </a:br>
            <a:r>
              <a:rPr lang="en-US" altLang="zh-CN" dirty="0" smtClean="0"/>
              <a:t>origin / destination </a:t>
            </a:r>
            <a:r>
              <a:rPr lang="zh-CN" altLang="en-US" dirty="0" smtClean="0"/>
              <a:t>来自站点名称，用于标识线路起终点，也可以进一步派生充电站候选位置。</a:t>
            </a:r>
            <a:br>
              <a:rPr lang="zh-CN" altLang="en-US" dirty="0" smtClean="0"/>
            </a:br>
            <a:r>
              <a:rPr lang="en-US" altLang="zh-CN" dirty="0" smtClean="0"/>
              <a:t>distance_km </a:t>
            </a:r>
            <a:r>
              <a:rPr lang="zh-CN" altLang="en-US" dirty="0" smtClean="0"/>
              <a:t>主要来自 </a:t>
            </a:r>
            <a:r>
              <a:rPr lang="en-US" altLang="zh-CN" dirty="0" smtClean="0"/>
              <a:t>GTFS </a:t>
            </a:r>
            <a:r>
              <a:rPr lang="zh-CN" altLang="en-US" dirty="0" smtClean="0"/>
              <a:t>中的里程字段，如果缺失则通过经纬度估算，是能耗预测中最核心的输入特征。</a:t>
            </a:r>
            <a:br>
              <a:rPr lang="zh-CN" altLang="en-US" dirty="0" smtClean="0"/>
            </a:br>
            <a:r>
              <a:rPr lang="en-US" altLang="zh-CN" dirty="0" smtClean="0"/>
              <a:t>candidate_path </a:t>
            </a:r>
            <a:r>
              <a:rPr lang="zh-CN" altLang="en-US" dirty="0" smtClean="0"/>
              <a:t>则是在每趟班次基础上构造的候选路径，用于比较“最短路径”和“最低能耗路径”的差异。</a:t>
            </a:r>
          </a:p>
          <a:p>
            <a:r>
              <a:rPr lang="zh-CN" altLang="en-US" b="1" dirty="0" smtClean="0"/>
              <a:t>处理流程说明：</a:t>
            </a:r>
            <a:r>
              <a:rPr lang="zh-CN" altLang="en-US" dirty="0" smtClean="0"/>
              <a:t/>
            </a:r>
            <a:br>
              <a:rPr lang="zh-CN" altLang="en-US" dirty="0" smtClean="0"/>
            </a:br>
            <a:r>
              <a:rPr lang="zh-CN" altLang="en-US" dirty="0" smtClean="0"/>
              <a:t>数据处理分为两步：首先通过 </a:t>
            </a:r>
            <a:r>
              <a:rPr lang="en-US" altLang="zh-CN" dirty="0" smtClean="0"/>
              <a:t>collect_hk_gtfs.py </a:t>
            </a:r>
            <a:r>
              <a:rPr lang="zh-CN" altLang="en-US" dirty="0" smtClean="0"/>
              <a:t>下载、解压并规范化 </a:t>
            </a:r>
            <a:r>
              <a:rPr lang="en-US" altLang="zh-CN" dirty="0" smtClean="0"/>
              <a:t>GTFS </a:t>
            </a:r>
            <a:r>
              <a:rPr lang="zh-CN" altLang="en-US" dirty="0" smtClean="0"/>
              <a:t>原始数据；然后由 </a:t>
            </a:r>
            <a:r>
              <a:rPr lang="en-US" altLang="zh-CN" dirty="0" smtClean="0"/>
              <a:t>build_project_datasets.py </a:t>
            </a:r>
            <a:r>
              <a:rPr lang="zh-CN" altLang="en-US" dirty="0" smtClean="0"/>
              <a:t>继续补齐车辆、站点、电价、天气和能耗样本等信息。这样就把公开交通数据转化成了后续 </a:t>
            </a:r>
            <a:r>
              <a:rPr lang="en-US" altLang="zh-CN" dirty="0" smtClean="0"/>
              <a:t>MLP </a:t>
            </a:r>
            <a:r>
              <a:rPr lang="zh-CN" altLang="en-US" dirty="0" smtClean="0"/>
              <a:t>能耗预测、</a:t>
            </a:r>
            <a:r>
              <a:rPr lang="en-US" altLang="zh-CN" dirty="0" smtClean="0"/>
              <a:t>JSQ </a:t>
            </a:r>
            <a:r>
              <a:rPr lang="zh-CN" altLang="en-US" dirty="0" smtClean="0"/>
              <a:t>基线调度和 </a:t>
            </a:r>
            <a:r>
              <a:rPr lang="en-US" altLang="zh-CN" dirty="0" smtClean="0"/>
              <a:t>GA </a:t>
            </a:r>
            <a:r>
              <a:rPr lang="zh-CN" altLang="en-US" dirty="0" smtClean="0"/>
              <a:t>优化都能直接使用的结构化输入。</a:t>
            </a:r>
          </a:p>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9</a:t>
            </a:fld>
            <a:endParaRPr lang="zh-CN" altLang="en-US"/>
          </a:p>
        </p:txBody>
      </p:sp>
    </p:spTree>
    <p:extLst>
      <p:ext uri="{BB962C8B-B14F-4D97-AF65-F5344CB8AC3E}">
        <p14:creationId xmlns:p14="http://schemas.microsoft.com/office/powerpoint/2010/main" val="337708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三阶段场景设计说明：</a:t>
            </a:r>
            <a:r>
              <a:rPr lang="zh-CN" altLang="en-US" dirty="0" smtClean="0"/>
              <a:t/>
            </a:r>
            <a:br>
              <a:rPr lang="zh-CN" altLang="en-US" dirty="0" smtClean="0"/>
            </a:br>
            <a:r>
              <a:rPr lang="zh-CN" altLang="en-US" dirty="0" smtClean="0"/>
              <a:t>本项目没有只在单一规模下测试调度算法，而是设置了 </a:t>
            </a:r>
            <a:r>
              <a:rPr lang="en-US" altLang="zh-CN" dirty="0" smtClean="0"/>
              <a:t>current</a:t>
            </a:r>
            <a:r>
              <a:rPr lang="zh-CN" altLang="en-US" dirty="0" smtClean="0"/>
              <a:t>、</a:t>
            </a:r>
            <a:r>
              <a:rPr lang="en-US" altLang="zh-CN" dirty="0" smtClean="0"/>
              <a:t>planned </a:t>
            </a:r>
            <a:r>
              <a:rPr lang="zh-CN" altLang="en-US" dirty="0" smtClean="0"/>
              <a:t>和 </a:t>
            </a:r>
            <a:r>
              <a:rPr lang="en-US" altLang="zh-CN" dirty="0" smtClean="0"/>
              <a:t>full </a:t>
            </a:r>
            <a:r>
              <a:rPr lang="zh-CN" altLang="en-US" dirty="0" smtClean="0"/>
              <a:t>三个电动公交渗透率场景，用来模拟新能源公交从现状试点、近期扩张到全面覆盖的演进过程。这样可以观察：当车辆规模和班次数逐步增加时，充电需求、排队压力和调度优化价值会如何变化。</a:t>
            </a:r>
          </a:p>
          <a:p>
            <a:r>
              <a:rPr lang="zh-CN" altLang="en-US" b="1" dirty="0" smtClean="0"/>
              <a:t>各场景含义：</a:t>
            </a:r>
            <a:r>
              <a:rPr lang="zh-CN" altLang="en-US" dirty="0" smtClean="0"/>
              <a:t/>
            </a:r>
            <a:br>
              <a:rPr lang="zh-CN" altLang="en-US" dirty="0" smtClean="0"/>
            </a:br>
            <a:r>
              <a:rPr lang="en-US" altLang="zh-CN" dirty="0" smtClean="0"/>
              <a:t>current </a:t>
            </a:r>
            <a:r>
              <a:rPr lang="zh-CN" altLang="en-US" dirty="0" smtClean="0"/>
              <a:t>表示现状试点规模，包含 </a:t>
            </a:r>
            <a:r>
              <a:rPr lang="en-US" altLang="zh-CN" dirty="0" smtClean="0"/>
              <a:t>150 </a:t>
            </a:r>
            <a:r>
              <a:rPr lang="zh-CN" altLang="en-US" dirty="0" smtClean="0"/>
              <a:t>辆车和 </a:t>
            </a:r>
            <a:r>
              <a:rPr lang="en-US" altLang="zh-CN" dirty="0" smtClean="0"/>
              <a:t>1,713 </a:t>
            </a:r>
            <a:r>
              <a:rPr lang="zh-CN" altLang="en-US" dirty="0" smtClean="0"/>
              <a:t>个班次，约占全量班次 </a:t>
            </a:r>
            <a:r>
              <a:rPr lang="en-US" altLang="zh-CN" dirty="0" smtClean="0"/>
              <a:t>2.5%</a:t>
            </a:r>
            <a:r>
              <a:rPr lang="zh-CN" altLang="en-US" dirty="0" smtClean="0"/>
              <a:t>。在这个阶段，初始 </a:t>
            </a:r>
            <a:r>
              <a:rPr lang="en-US" altLang="zh-CN" dirty="0" smtClean="0"/>
              <a:t>SOC </a:t>
            </a:r>
            <a:r>
              <a:rPr lang="zh-CN" altLang="en-US" dirty="0" smtClean="0"/>
              <a:t>较高，充电需求较少，调度压力不明显。</a:t>
            </a:r>
            <a:br>
              <a:rPr lang="zh-CN" altLang="en-US" dirty="0" smtClean="0"/>
            </a:br>
            <a:r>
              <a:rPr lang="en-US" altLang="zh-CN" dirty="0" smtClean="0"/>
              <a:t>planned </a:t>
            </a:r>
            <a:r>
              <a:rPr lang="zh-CN" altLang="en-US" dirty="0" smtClean="0"/>
              <a:t>表示近期拓展规模，包含 </a:t>
            </a:r>
            <a:r>
              <a:rPr lang="en-US" altLang="zh-CN" dirty="0" smtClean="0"/>
              <a:t>750 </a:t>
            </a:r>
            <a:r>
              <a:rPr lang="zh-CN" altLang="en-US" dirty="0" smtClean="0"/>
              <a:t>辆车和 </a:t>
            </a:r>
            <a:r>
              <a:rPr lang="en-US" altLang="zh-CN" dirty="0" smtClean="0"/>
              <a:t>9,717 </a:t>
            </a:r>
            <a:r>
              <a:rPr lang="zh-CN" altLang="en-US" dirty="0" smtClean="0"/>
              <a:t>个班次，约占全量班次 </a:t>
            </a:r>
            <a:r>
              <a:rPr lang="en-US" altLang="zh-CN" dirty="0" smtClean="0"/>
              <a:t>12%-13%</a:t>
            </a:r>
            <a:r>
              <a:rPr lang="zh-CN" altLang="en-US" dirty="0" smtClean="0"/>
              <a:t>。此时充电需求开始出现，算法优化开始产生实际意义。</a:t>
            </a:r>
            <a:br>
              <a:rPr lang="zh-CN" altLang="en-US" dirty="0" smtClean="0"/>
            </a:br>
            <a:r>
              <a:rPr lang="en-US" altLang="zh-CN" dirty="0" smtClean="0"/>
              <a:t>full </a:t>
            </a:r>
            <a:r>
              <a:rPr lang="zh-CN" altLang="en-US" dirty="0" smtClean="0"/>
              <a:t>表示全面电动化覆盖，包含 </a:t>
            </a:r>
            <a:r>
              <a:rPr lang="en-US" altLang="zh-CN" dirty="0" smtClean="0"/>
              <a:t>5,870 </a:t>
            </a:r>
            <a:r>
              <a:rPr lang="zh-CN" altLang="en-US" dirty="0" smtClean="0"/>
              <a:t>辆车和 </a:t>
            </a:r>
            <a:r>
              <a:rPr lang="en-US" altLang="zh-CN" dirty="0" smtClean="0"/>
              <a:t>77,120 </a:t>
            </a:r>
            <a:r>
              <a:rPr lang="zh-CN" altLang="en-US" dirty="0" smtClean="0"/>
              <a:t>个班次，对应完整 </a:t>
            </a:r>
            <a:r>
              <a:rPr lang="en-US" altLang="zh-CN" dirty="0" smtClean="0"/>
              <a:t>GTFS </a:t>
            </a:r>
            <a:r>
              <a:rPr lang="zh-CN" altLang="en-US" dirty="0" smtClean="0"/>
              <a:t>班次规模。这个场景下充电压力达到峰值，最能检验调度算法的全局协调能力。</a:t>
            </a:r>
          </a:p>
          <a:p>
            <a:r>
              <a:rPr lang="zh-CN" altLang="en-US" b="1" dirty="0" smtClean="0"/>
              <a:t>为什么采用嵌套抽样：</a:t>
            </a:r>
            <a:r>
              <a:rPr lang="zh-CN" altLang="en-US" dirty="0" smtClean="0"/>
              <a:t/>
            </a:r>
            <a:br>
              <a:rPr lang="zh-CN" altLang="en-US" dirty="0" smtClean="0"/>
            </a:br>
            <a:r>
              <a:rPr lang="zh-CN" altLang="en-US" dirty="0" smtClean="0"/>
              <a:t>三个场景不是独立随机抽样，而是采用 </a:t>
            </a:r>
            <a:r>
              <a:rPr lang="en-US" altLang="zh-CN" dirty="0" smtClean="0"/>
              <a:t>current ⊂ planned ⊂ full </a:t>
            </a:r>
            <a:r>
              <a:rPr lang="zh-CN" altLang="en-US" dirty="0" smtClean="0"/>
              <a:t>的嵌套结构。也就是说，较小场景中的线路和班次会被包含在更大场景中。这样做可以避免随机抽样导致线路结构失真，也保证不同规模之间的比较更公平。</a:t>
            </a:r>
          </a:p>
          <a:p>
            <a:r>
              <a:rPr lang="zh-CN" altLang="en-US" b="1" dirty="0" smtClean="0"/>
              <a:t>为什么 </a:t>
            </a:r>
            <a:r>
              <a:rPr lang="en-US" altLang="zh-CN" b="1" dirty="0" smtClean="0"/>
              <a:t>JSQ </a:t>
            </a:r>
            <a:r>
              <a:rPr lang="zh-CN" altLang="en-US" b="1" dirty="0" smtClean="0"/>
              <a:t>和 </a:t>
            </a:r>
            <a:r>
              <a:rPr lang="en-US" altLang="zh-CN" b="1" dirty="0" smtClean="0"/>
              <a:t>GA </a:t>
            </a:r>
            <a:r>
              <a:rPr lang="zh-CN" altLang="en-US" b="1" dirty="0" smtClean="0"/>
              <a:t>可以直接比较：</a:t>
            </a:r>
            <a:r>
              <a:rPr lang="zh-CN" altLang="en-US" dirty="0" smtClean="0"/>
              <a:t/>
            </a:r>
            <a:br>
              <a:rPr lang="zh-CN" altLang="en-US" dirty="0" smtClean="0"/>
            </a:br>
            <a:r>
              <a:rPr lang="zh-CN" altLang="en-US" dirty="0" smtClean="0"/>
              <a:t>每个场景都有对应的 </a:t>
            </a:r>
            <a:r>
              <a:rPr lang="en-US" altLang="zh-CN" dirty="0" smtClean="0"/>
              <a:t>trips / vehicles / stations </a:t>
            </a:r>
            <a:r>
              <a:rPr lang="zh-CN" altLang="en-US" dirty="0" smtClean="0"/>
              <a:t>输入文件；在同一场景下，</a:t>
            </a:r>
            <a:r>
              <a:rPr lang="en-US" altLang="zh-CN" dirty="0" smtClean="0"/>
              <a:t>JSQ </a:t>
            </a:r>
            <a:r>
              <a:rPr lang="zh-CN" altLang="en-US" dirty="0" smtClean="0"/>
              <a:t>和 </a:t>
            </a:r>
            <a:r>
              <a:rPr lang="en-US" altLang="zh-CN" dirty="0" smtClean="0"/>
              <a:t>GA </a:t>
            </a:r>
            <a:r>
              <a:rPr lang="zh-CN" altLang="en-US" dirty="0" smtClean="0"/>
              <a:t>使用完全相同的数据输入，只是调度策略不同。因此，后续成本、等待时间、充电量和碳排放的差异，可以主要归因于算法策略本身，而不是数据规模或输入条件不同。</a:t>
            </a:r>
          </a:p>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10</a:t>
            </a:fld>
            <a:endParaRPr lang="zh-CN" altLang="en-US"/>
          </a:p>
        </p:txBody>
      </p:sp>
    </p:spTree>
    <p:extLst>
      <p:ext uri="{BB962C8B-B14F-4D97-AF65-F5344CB8AC3E}">
        <p14:creationId xmlns:p14="http://schemas.microsoft.com/office/powerpoint/2010/main" val="1285912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数据假设边界说明：</a:t>
            </a:r>
            <a:r>
              <a:rPr lang="zh-CN" altLang="en-US" dirty="0" smtClean="0"/>
              <a:t/>
            </a:r>
            <a:br>
              <a:rPr lang="zh-CN" altLang="en-US" dirty="0" smtClean="0"/>
            </a:br>
            <a:r>
              <a:rPr lang="zh-CN" altLang="en-US" dirty="0" smtClean="0"/>
              <a:t>本项目的真实基础数据主要来自公开 </a:t>
            </a:r>
            <a:r>
              <a:rPr lang="en-US" altLang="zh-CN" dirty="0" smtClean="0"/>
              <a:t>GTFS </a:t>
            </a:r>
            <a:r>
              <a:rPr lang="zh-CN" altLang="en-US" dirty="0" smtClean="0"/>
              <a:t>班次、线路和站点信息，但 </a:t>
            </a:r>
            <a:r>
              <a:rPr lang="en-US" altLang="zh-CN" dirty="0" smtClean="0"/>
              <a:t>GTFS </a:t>
            </a:r>
            <a:r>
              <a:rPr lang="zh-CN" altLang="en-US" dirty="0" smtClean="0"/>
              <a:t>本身并不包含车辆电池容量、实时 </a:t>
            </a:r>
            <a:r>
              <a:rPr lang="en-US" altLang="zh-CN" dirty="0" smtClean="0"/>
              <a:t>SOC</a:t>
            </a:r>
            <a:r>
              <a:rPr lang="zh-CN" altLang="en-US" dirty="0" smtClean="0"/>
              <a:t>、充电桩容量、逐趟真实能耗、坡度、拥堵和载客率等运营细节。因此，项目在真实公交班次框架上，对这些关键变量进行了合理假设和派生构造，并在结果解释中明确区分真实数据与模拟数据。</a:t>
            </a:r>
          </a:p>
          <a:p>
            <a:r>
              <a:rPr lang="zh-CN" altLang="en-US" b="1" dirty="0" smtClean="0"/>
              <a:t>各类假设的作用：</a:t>
            </a:r>
            <a:r>
              <a:rPr lang="zh-CN" altLang="en-US" dirty="0" smtClean="0"/>
              <a:t/>
            </a:r>
            <a:br>
              <a:rPr lang="zh-CN" altLang="en-US" dirty="0" smtClean="0"/>
            </a:br>
            <a:r>
              <a:rPr lang="zh-CN" altLang="en-US" dirty="0" smtClean="0"/>
              <a:t>车辆电池容量和 </a:t>
            </a:r>
            <a:r>
              <a:rPr lang="en-US" altLang="zh-CN" dirty="0" smtClean="0"/>
              <a:t>SOC </a:t>
            </a:r>
            <a:r>
              <a:rPr lang="zh-CN" altLang="en-US" dirty="0" smtClean="0"/>
              <a:t>参数用于判断车辆是否需要充电，以及是否存在低电量风险；充电桩数量和功率决定车辆排队时间和快慢充选择；逐趟能耗标签用于训练 </a:t>
            </a:r>
            <a:r>
              <a:rPr lang="en-US" altLang="zh-CN" dirty="0" smtClean="0"/>
              <a:t>MLP </a:t>
            </a:r>
            <a:r>
              <a:rPr lang="zh-CN" altLang="en-US" dirty="0" smtClean="0"/>
              <a:t>能耗预测模型；坡度、拥堵和载客率用于刻画不同班次之间的能耗差异。也就是说，这些假设不是随意添加的，而是为了让调度模型能够完整运行。</a:t>
            </a:r>
          </a:p>
          <a:p>
            <a:r>
              <a:rPr lang="zh-CN" altLang="en-US" b="1" dirty="0" smtClean="0"/>
              <a:t>边界与可信度：</a:t>
            </a:r>
            <a:r>
              <a:rPr lang="zh-CN" altLang="en-US" dirty="0" smtClean="0"/>
              <a:t/>
            </a:r>
            <a:br>
              <a:rPr lang="zh-CN" altLang="en-US" dirty="0" smtClean="0"/>
            </a:br>
            <a:r>
              <a:rPr lang="zh-CN" altLang="en-US" dirty="0" smtClean="0"/>
              <a:t>需要说明的是，这些补齐数据属于场景假设，并不等同于公交企业的真实运营日志。若未来能够接入企业真实 </a:t>
            </a:r>
            <a:r>
              <a:rPr lang="en-US" altLang="zh-CN" dirty="0" smtClean="0"/>
              <a:t>SOC </a:t>
            </a:r>
            <a:r>
              <a:rPr lang="zh-CN" altLang="en-US" dirty="0" smtClean="0"/>
              <a:t>记录、充电站负荷、</a:t>
            </a:r>
            <a:r>
              <a:rPr lang="en-US" altLang="zh-CN" dirty="0" smtClean="0"/>
              <a:t>AFC </a:t>
            </a:r>
            <a:r>
              <a:rPr lang="zh-CN" altLang="en-US" dirty="0" smtClean="0"/>
              <a:t>客流、</a:t>
            </a:r>
            <a:r>
              <a:rPr lang="en-US" altLang="zh-CN" dirty="0" smtClean="0"/>
              <a:t>OSM/DEM </a:t>
            </a:r>
            <a:r>
              <a:rPr lang="zh-CN" altLang="en-US" dirty="0" smtClean="0"/>
              <a:t>地形和实时交通数据，模型就可以进一步从“仿真调度实验”扩展到更贴近真实运营的决策支持系统。</a:t>
            </a:r>
          </a:p>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11</a:t>
            </a:fld>
            <a:endParaRPr lang="zh-CN" altLang="en-US"/>
          </a:p>
        </p:txBody>
      </p:sp>
    </p:spTree>
    <p:extLst>
      <p:ext uri="{BB962C8B-B14F-4D97-AF65-F5344CB8AC3E}">
        <p14:creationId xmlns:p14="http://schemas.microsoft.com/office/powerpoint/2010/main" val="380890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干净能耗公式说明：左上公式用于生成模型训练中的规则化能耗标签。它以行驶距离作为基础能耗来源，并叠加正坡度、拥堵程度、载客率和温度偏离带来的额外能耗影响。其中，正坡度表示上坡路段带来的能耗增加，拥堵指数反映低速和频繁启停，载客率代表车辆负载，温度惩罚项用于模拟空调等辅助系统能耗。为什么要加入噪声：如果只使用干净公式生成标签，模型会学习到过于理想化的规律，预测结果可能虚高，无法反映真实运营中的波动。因此项目在干净能耗基础上叠加高斯噪声和场景噪声，用来模拟测量误差、高峰拥堵、载客变化、温度偏离、低速行驶和少量极端异常情况。这样生成的数据更接近真实公交运营中的不确定性。噪声设置说明：右上给出了噪声构造方式：基础高斯噪声表示一般测量误差；高峰、拥堵、高载客、温度偏离和低速条件会额外放大扰动；少量 </a:t>
            </a:r>
            <a:r>
              <a:rPr lang="en-US" altLang="zh-CN" dirty="0" smtClean="0"/>
              <a:t>3% </a:t>
            </a:r>
            <a:r>
              <a:rPr lang="zh-CN" altLang="en-US" dirty="0" smtClean="0"/>
              <a:t>的异常扰动用于模拟极端事件。噪声按照 </a:t>
            </a:r>
            <a:r>
              <a:rPr lang="en-US" altLang="zh-CN" dirty="0" smtClean="0"/>
              <a:t>trip_id </a:t>
            </a:r>
            <a:r>
              <a:rPr lang="zh-CN" altLang="en-US" dirty="0" smtClean="0"/>
              <a:t>固定随机种子生成，因此同一趟行程每次生成结果一致，保证实验可以复现。碳排转换说明：电动公交本身没有尾气排放，因此这里比较的是充电用电带来的间接碳排放。项目采用</a:t>
            </a:r>
            <a:r>
              <a:rPr lang="en-US" altLang="zh-CN" dirty="0" smtClean="0"/>
              <a:t>carbon = predicted_energy × 0.55 kgCO₂/kWh</a:t>
            </a:r>
            <a:r>
              <a:rPr lang="zh-CN" altLang="en-US" dirty="0" smtClean="0"/>
              <a:t>进行估算，其中 </a:t>
            </a:r>
            <a:r>
              <a:rPr lang="en-US" altLang="zh-CN" dirty="0" smtClean="0"/>
              <a:t>0.55 </a:t>
            </a:r>
            <a:r>
              <a:rPr lang="zh-CN" altLang="en-US" dirty="0" smtClean="0"/>
              <a:t>表示香港电网碳排放因子。调度策略如果减少总充电电量，就会同步降低对应的电力侧碳排放。</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12</a:t>
            </a:fld>
            <a:endParaRPr lang="zh-CN" altLang="en-US"/>
          </a:p>
        </p:txBody>
      </p:sp>
    </p:spTree>
    <p:extLst>
      <p:ext uri="{BB962C8B-B14F-4D97-AF65-F5344CB8AC3E}">
        <p14:creationId xmlns:p14="http://schemas.microsoft.com/office/powerpoint/2010/main" val="967342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模型结构说明：</a:t>
            </a:r>
            <a:r>
              <a:rPr lang="zh-CN" altLang="en-US" dirty="0" smtClean="0"/>
              <a:t/>
            </a:r>
            <a:br>
              <a:rPr lang="zh-CN" altLang="en-US" dirty="0" smtClean="0"/>
            </a:br>
            <a:r>
              <a:rPr lang="zh-CN" altLang="en-US" dirty="0" smtClean="0"/>
              <a:t>左上展示的是能耗预测模型的结构。模型输入为 </a:t>
            </a:r>
            <a:r>
              <a:rPr lang="en-US" altLang="zh-CN" dirty="0" smtClean="0"/>
              <a:t>7 </a:t>
            </a:r>
            <a:r>
              <a:rPr lang="zh-CN" altLang="en-US" dirty="0" smtClean="0"/>
              <a:t>个行程特征，包括行驶距离、平均坡度、拥堵指数、平均速度、载客率、温度和是否高峰。数据先经过 </a:t>
            </a:r>
            <a:r>
              <a:rPr lang="en-US" altLang="zh-CN" dirty="0" smtClean="0"/>
              <a:t>StandardScaler </a:t>
            </a:r>
            <a:r>
              <a:rPr lang="zh-CN" altLang="en-US" dirty="0" smtClean="0"/>
              <a:t>标准化，避免不同量纲影响训练；随后进入两层全连接神经网络，分别包含 </a:t>
            </a:r>
            <a:r>
              <a:rPr lang="en-US" altLang="zh-CN" dirty="0" smtClean="0"/>
              <a:t>64 </a:t>
            </a:r>
            <a:r>
              <a:rPr lang="zh-CN" altLang="en-US" dirty="0" smtClean="0"/>
              <a:t>和 </a:t>
            </a:r>
            <a:r>
              <a:rPr lang="en-US" altLang="zh-CN" dirty="0" smtClean="0"/>
              <a:t>32 </a:t>
            </a:r>
            <a:r>
              <a:rPr lang="zh-CN" altLang="en-US" dirty="0" smtClean="0"/>
              <a:t>个神经元，并使用 </a:t>
            </a:r>
            <a:r>
              <a:rPr lang="en-US" altLang="zh-CN" dirty="0" smtClean="0"/>
              <a:t>ReLU </a:t>
            </a:r>
            <a:r>
              <a:rPr lang="zh-CN" altLang="en-US" dirty="0" smtClean="0"/>
              <a:t>激活函数提取非线性能耗特征；最终输出该趟行程的预测耗电量 </a:t>
            </a:r>
            <a:r>
              <a:rPr lang="en-US" altLang="zh-CN" dirty="0" smtClean="0"/>
              <a:t>energy_kWh</a:t>
            </a:r>
            <a:r>
              <a:rPr lang="zh-CN" altLang="en-US" dirty="0" smtClean="0"/>
              <a:t>。</a:t>
            </a:r>
          </a:p>
          <a:p>
            <a:r>
              <a:rPr lang="zh-CN" altLang="en-US" b="1" dirty="0" smtClean="0"/>
              <a:t>训练配置说明：</a:t>
            </a:r>
            <a:r>
              <a:rPr lang="zh-CN" altLang="en-US" dirty="0" smtClean="0"/>
              <a:t/>
            </a:r>
            <a:br>
              <a:rPr lang="zh-CN" altLang="en-US" dirty="0" smtClean="0"/>
            </a:br>
            <a:r>
              <a:rPr lang="zh-CN" altLang="en-US" dirty="0" smtClean="0"/>
              <a:t>右上展示的是模型训练方式。项目使用 </a:t>
            </a:r>
            <a:r>
              <a:rPr lang="en-US" altLang="zh-CN" dirty="0" smtClean="0"/>
              <a:t>77,120 </a:t>
            </a:r>
            <a:r>
              <a:rPr lang="zh-CN" altLang="en-US" dirty="0" smtClean="0"/>
              <a:t>条样本，并按 </a:t>
            </a:r>
            <a:r>
              <a:rPr lang="en-US" altLang="zh-CN" dirty="0" smtClean="0"/>
              <a:t>80/20 </a:t>
            </a:r>
            <a:r>
              <a:rPr lang="zh-CN" altLang="en-US" dirty="0" smtClean="0"/>
              <a:t>划分训练集和测试集；优化器采用 </a:t>
            </a:r>
            <a:r>
              <a:rPr lang="en-US" altLang="zh-CN" dirty="0" smtClean="0"/>
              <a:t>Adam</a:t>
            </a:r>
            <a:r>
              <a:rPr lang="zh-CN" altLang="en-US" dirty="0" smtClean="0"/>
              <a:t>，配合 </a:t>
            </a:r>
            <a:r>
              <a:rPr lang="en-US" altLang="zh-CN" dirty="0" smtClean="0"/>
              <a:t>Early Stopping </a:t>
            </a:r>
            <a:r>
              <a:rPr lang="zh-CN" altLang="en-US" dirty="0" smtClean="0"/>
              <a:t>防止过拟合。对照基线是固定单位里程能耗模型，即只用“距离 </a:t>
            </a:r>
            <a:r>
              <a:rPr lang="en-US" altLang="zh-CN" dirty="0" smtClean="0"/>
              <a:t>× </a:t>
            </a:r>
            <a:r>
              <a:rPr lang="zh-CN" altLang="en-US" dirty="0" smtClean="0"/>
              <a:t>平均单位耗电量”来估算能耗，用来和 </a:t>
            </a:r>
            <a:r>
              <a:rPr lang="en-US" altLang="zh-CN" dirty="0" smtClean="0"/>
              <a:t>MLP </a:t>
            </a:r>
            <a:r>
              <a:rPr lang="zh-CN" altLang="en-US" dirty="0" smtClean="0"/>
              <a:t>的预测效果进行比较。</a:t>
            </a:r>
          </a:p>
          <a:p>
            <a:r>
              <a:rPr lang="zh-CN" altLang="en-US" b="1" dirty="0" smtClean="0"/>
              <a:t>在调度链路中的作用：</a:t>
            </a:r>
            <a:r>
              <a:rPr lang="zh-CN" altLang="en-US" dirty="0" smtClean="0"/>
              <a:t/>
            </a:r>
            <a:br>
              <a:rPr lang="zh-CN" altLang="en-US" dirty="0" smtClean="0"/>
            </a:br>
            <a:r>
              <a:rPr lang="zh-CN" altLang="en-US" dirty="0" smtClean="0"/>
              <a:t>能耗预测模型不是单独展示结果，而是直接服务于后续调度。每完成一趟行程后，系统会用 </a:t>
            </a:r>
            <a:r>
              <a:rPr lang="en-US" altLang="zh-CN" dirty="0" smtClean="0"/>
              <a:t>MLP </a:t>
            </a:r>
            <a:r>
              <a:rPr lang="zh-CN" altLang="en-US" dirty="0" smtClean="0"/>
              <a:t>预测该趟耗电量，并据此更新车辆 </a:t>
            </a:r>
            <a:r>
              <a:rPr lang="en-US" altLang="zh-CN" dirty="0" smtClean="0"/>
              <a:t>SOC</a:t>
            </a:r>
            <a:r>
              <a:rPr lang="zh-CN" altLang="en-US" dirty="0" smtClean="0"/>
              <a:t>；</a:t>
            </a:r>
            <a:r>
              <a:rPr lang="en-US" altLang="zh-CN" dirty="0" smtClean="0"/>
              <a:t>SOC </a:t>
            </a:r>
            <a:r>
              <a:rPr lang="zh-CN" altLang="en-US" dirty="0" smtClean="0"/>
              <a:t>决定车辆是否需要充电、何时触发充电、以及后续是否存在低电量风险。因此，能耗预测越准确，调度器对车辆电量状态的判断就越可靠。</a:t>
            </a:r>
          </a:p>
          <a:p>
            <a:r>
              <a:rPr lang="zh-CN" altLang="en-US" b="1" dirty="0" smtClean="0"/>
              <a:t>为什么不用固定里程模型：</a:t>
            </a:r>
            <a:r>
              <a:rPr lang="zh-CN" altLang="en-US" dirty="0" smtClean="0"/>
              <a:t/>
            </a:r>
            <a:br>
              <a:rPr lang="zh-CN" altLang="en-US" dirty="0" smtClean="0"/>
            </a:br>
            <a:r>
              <a:rPr lang="zh-CN" altLang="en-US" dirty="0" smtClean="0"/>
              <a:t>固定里程模型只考虑行驶距离，无法反映坡度、拥堵、速度、载客率和温度变化带来的能耗差异。</a:t>
            </a:r>
            <a:r>
              <a:rPr lang="en-US" altLang="zh-CN" dirty="0" smtClean="0"/>
              <a:t>MLP </a:t>
            </a:r>
            <a:r>
              <a:rPr lang="zh-CN" altLang="en-US" dirty="0" smtClean="0"/>
              <a:t>引入 </a:t>
            </a:r>
            <a:r>
              <a:rPr lang="en-US" altLang="zh-CN" dirty="0" smtClean="0"/>
              <a:t>7 </a:t>
            </a:r>
            <a:r>
              <a:rPr lang="zh-CN" altLang="en-US" dirty="0" smtClean="0"/>
              <a:t>维动态特征后，可以更接近真实运行环境，因此预测误差更低，为后续 </a:t>
            </a:r>
            <a:r>
              <a:rPr lang="en-US" altLang="zh-CN" dirty="0" smtClean="0"/>
              <a:t>JSQ </a:t>
            </a:r>
            <a:r>
              <a:rPr lang="zh-CN" altLang="en-US" dirty="0" smtClean="0"/>
              <a:t>基线和 </a:t>
            </a:r>
            <a:r>
              <a:rPr lang="en-US" altLang="zh-CN" dirty="0" smtClean="0"/>
              <a:t>GA </a:t>
            </a:r>
            <a:r>
              <a:rPr lang="zh-CN" altLang="en-US" dirty="0" smtClean="0"/>
              <a:t>优化提供更准确的 </a:t>
            </a:r>
            <a:r>
              <a:rPr lang="en-US" altLang="zh-CN" dirty="0" smtClean="0"/>
              <a:t>SOC </a:t>
            </a:r>
            <a:r>
              <a:rPr lang="zh-CN" altLang="en-US" dirty="0" smtClean="0"/>
              <a:t>更新依据。</a:t>
            </a:r>
          </a:p>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15</a:t>
            </a:fld>
            <a:endParaRPr lang="zh-CN" altLang="en-US"/>
          </a:p>
        </p:txBody>
      </p:sp>
    </p:spTree>
    <p:extLst>
      <p:ext uri="{BB962C8B-B14F-4D97-AF65-F5344CB8AC3E}">
        <p14:creationId xmlns:p14="http://schemas.microsoft.com/office/powerpoint/2010/main" val="1644215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左上公式说明：</a:t>
            </a:r>
            <a:r>
              <a:rPr lang="zh-CN" altLang="en-US" dirty="0" smtClean="0"/>
              <a:t/>
            </a:r>
            <a:br>
              <a:rPr lang="zh-CN" altLang="en-US" dirty="0" smtClean="0"/>
            </a:br>
            <a:r>
              <a:rPr lang="zh-CN" altLang="en-US" dirty="0" smtClean="0"/>
              <a:t>左上公式是 </a:t>
            </a:r>
            <a:r>
              <a:rPr lang="en-US" altLang="zh-CN" dirty="0" smtClean="0"/>
              <a:t>JSQ </a:t>
            </a:r>
            <a:r>
              <a:rPr lang="zh-CN" altLang="en-US" dirty="0" smtClean="0"/>
              <a:t>的核心决策规则。</a:t>
            </a:r>
            <a:r>
              <a:rPr lang="en-US" altLang="zh-CN" dirty="0" smtClean="0"/>
              <a:t>\(j^*\) </a:t>
            </a:r>
            <a:r>
              <a:rPr lang="zh-CN" altLang="en-US" dirty="0" smtClean="0"/>
              <a:t>表示最终选择的充电位，</a:t>
            </a:r>
            <a:r>
              <a:rPr lang="en-US" altLang="zh-CN" dirty="0" smtClean="0"/>
              <a:t>\(T_{\mathrm{wait}}\) </a:t>
            </a:r>
            <a:r>
              <a:rPr lang="zh-CN" altLang="en-US" dirty="0" smtClean="0"/>
              <a:t>表示车辆到达后预计需要排队等待的时间，</a:t>
            </a:r>
            <a:r>
              <a:rPr lang="en-US" altLang="zh-CN" dirty="0" smtClean="0"/>
              <a:t>\(T_{\mathrm{charge}}\) </a:t>
            </a:r>
            <a:r>
              <a:rPr lang="zh-CN" altLang="en-US" dirty="0" smtClean="0"/>
              <a:t>表示预计充电时长。</a:t>
            </a:r>
            <a:r>
              <a:rPr lang="en-US" altLang="zh-CN" dirty="0" smtClean="0"/>
              <a:t>JSQ </a:t>
            </a:r>
            <a:r>
              <a:rPr lang="zh-CN" altLang="en-US" dirty="0" smtClean="0"/>
              <a:t>会遍历所有可选充电站和快</a:t>
            </a:r>
            <a:r>
              <a:rPr lang="en-US" altLang="zh-CN" dirty="0" smtClean="0"/>
              <a:t>/</a:t>
            </a:r>
            <a:r>
              <a:rPr lang="zh-CN" altLang="en-US" dirty="0" smtClean="0"/>
              <a:t>慢充电位，计算“等待时间 </a:t>
            </a:r>
            <a:r>
              <a:rPr lang="en-US" altLang="zh-CN" dirty="0" smtClean="0"/>
              <a:t>+ </a:t>
            </a:r>
            <a:r>
              <a:rPr lang="zh-CN" altLang="en-US" dirty="0" smtClean="0"/>
              <a:t>充电时间”，然后选择预计最早完成的那个充电位。</a:t>
            </a:r>
          </a:p>
          <a:p>
            <a:r>
              <a:rPr lang="zh-CN" altLang="en-US" b="1" dirty="0" smtClean="0"/>
              <a:t>右上调度流程说明：</a:t>
            </a:r>
            <a:r>
              <a:rPr lang="zh-CN" altLang="en-US" dirty="0" smtClean="0"/>
              <a:t/>
            </a:r>
            <a:br>
              <a:rPr lang="zh-CN" altLang="en-US" dirty="0" smtClean="0"/>
            </a:br>
            <a:r>
              <a:rPr lang="zh-CN" altLang="en-US" dirty="0" smtClean="0"/>
              <a:t>右上流程展示了 </a:t>
            </a:r>
            <a:r>
              <a:rPr lang="en-US" altLang="zh-CN" dirty="0" smtClean="0"/>
              <a:t>JSQ </a:t>
            </a:r>
            <a:r>
              <a:rPr lang="zh-CN" altLang="en-US" dirty="0" smtClean="0"/>
              <a:t>在仿真中的执行顺序。车辆先按固定公交班表运行，每完成一趟行程后，根据预测能耗更新 </a:t>
            </a:r>
            <a:r>
              <a:rPr lang="en-US" altLang="zh-CN" dirty="0" smtClean="0"/>
              <a:t>SOC</a:t>
            </a:r>
            <a:r>
              <a:rPr lang="zh-CN" altLang="en-US" dirty="0" smtClean="0"/>
              <a:t>；如果 </a:t>
            </a:r>
            <a:r>
              <a:rPr lang="en-US" altLang="zh-CN" dirty="0" smtClean="0"/>
              <a:t>SOC </a:t>
            </a:r>
            <a:r>
              <a:rPr lang="zh-CN" altLang="en-US" dirty="0" smtClean="0"/>
              <a:t>低于设定阈值，就发起充电请求。系统随后检查各充电站队列，估算每个充电位的完成时间，选择最快可完成的充电位，并充到目标 </a:t>
            </a:r>
            <a:r>
              <a:rPr lang="en-US" altLang="zh-CN" dirty="0" smtClean="0"/>
              <a:t>SOC </a:t>
            </a:r>
            <a:r>
              <a:rPr lang="zh-CN" altLang="en-US" dirty="0" smtClean="0"/>
              <a:t>或在下一个班次前离开。</a:t>
            </a:r>
          </a:p>
          <a:p>
            <a:r>
              <a:rPr lang="zh-CN" altLang="en-US" b="1" dirty="0" smtClean="0"/>
              <a:t>两者之间的关系：</a:t>
            </a:r>
            <a:r>
              <a:rPr lang="zh-CN" altLang="en-US" dirty="0" smtClean="0"/>
              <a:t/>
            </a:r>
            <a:br>
              <a:rPr lang="zh-CN" altLang="en-US" dirty="0" smtClean="0"/>
            </a:br>
            <a:r>
              <a:rPr lang="zh-CN" altLang="en-US" dirty="0" smtClean="0"/>
              <a:t>右上流程是完整的 </a:t>
            </a:r>
            <a:r>
              <a:rPr lang="en-US" altLang="zh-CN" dirty="0" smtClean="0"/>
              <a:t>JSQ </a:t>
            </a:r>
            <a:r>
              <a:rPr lang="zh-CN" altLang="en-US" dirty="0" smtClean="0"/>
              <a:t>调度过程，左上公式对应流程中的第 </a:t>
            </a:r>
            <a:r>
              <a:rPr lang="en-US" altLang="zh-CN" dirty="0" smtClean="0"/>
              <a:t>4-5 </a:t>
            </a:r>
            <a:r>
              <a:rPr lang="zh-CN" altLang="en-US" dirty="0" smtClean="0"/>
              <a:t>步，也就是“遍历队列并选择最早完成充电位”。因此，公式是 </a:t>
            </a:r>
            <a:r>
              <a:rPr lang="en-US" altLang="zh-CN" dirty="0" smtClean="0"/>
              <a:t>JSQ </a:t>
            </a:r>
            <a:r>
              <a:rPr lang="zh-CN" altLang="en-US" dirty="0" smtClean="0"/>
              <a:t>做选择的数学表达，流程是公式在公交充电调度中的实际执行方式。</a:t>
            </a:r>
          </a:p>
          <a:p>
            <a:r>
              <a:rPr lang="en-US" altLang="zh-CN" b="1" dirty="0" smtClean="0"/>
              <a:t>JSQ </a:t>
            </a:r>
            <a:r>
              <a:rPr lang="zh-CN" altLang="en-US" b="1" dirty="0" smtClean="0"/>
              <a:t>的定位：</a:t>
            </a:r>
            <a:r>
              <a:rPr lang="zh-CN" altLang="en-US" dirty="0" smtClean="0"/>
              <a:t/>
            </a:r>
            <a:br>
              <a:rPr lang="zh-CN" altLang="en-US" dirty="0" smtClean="0"/>
            </a:br>
            <a:r>
              <a:rPr lang="en-US" altLang="zh-CN" dirty="0" smtClean="0"/>
              <a:t>JSQ </a:t>
            </a:r>
            <a:r>
              <a:rPr lang="zh-CN" altLang="en-US" dirty="0" smtClean="0"/>
              <a:t>是本项目的传统基线方法。它只利用当前队列状态进行局部贪心选择，优点是规则简单、计算速度快、结果稳定可复现；但它不主动考虑分时电价、未来班次和全天桩位节奏，因此可能出现局部最优偏离全局最优的问题。后续 </a:t>
            </a:r>
            <a:r>
              <a:rPr lang="en-US" altLang="zh-CN" dirty="0" smtClean="0"/>
              <a:t>GA </a:t>
            </a:r>
            <a:r>
              <a:rPr lang="zh-CN" altLang="en-US" dirty="0" smtClean="0"/>
              <a:t>优化就是在同一数据输入下，尝试克服这些局限。</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16</a:t>
            </a:fld>
            <a:endParaRPr lang="zh-CN" altLang="en-US"/>
          </a:p>
        </p:txBody>
      </p:sp>
    </p:spTree>
    <p:extLst>
      <p:ext uri="{BB962C8B-B14F-4D97-AF65-F5344CB8AC3E}">
        <p14:creationId xmlns:p14="http://schemas.microsoft.com/office/powerpoint/2010/main" val="4161768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 </a:t>
            </a:r>
            <a:r>
              <a:rPr lang="en-US" altLang="zh-CN" dirty="0" smtClean="0"/>
              <a:t>6 </a:t>
            </a:r>
            <a:r>
              <a:rPr lang="zh-CN" altLang="en-US" dirty="0" smtClean="0"/>
              <a:t>个基因不是某一辆车的一次充电决策，而是一组“调度策略参数”。遗传算法会不断调整这些参数，寻找成本更低、等待更少、</a:t>
            </a:r>
            <a:r>
              <a:rPr lang="en-US" altLang="zh-CN" dirty="0" smtClean="0"/>
              <a:t>SOC </a:t>
            </a:r>
            <a:r>
              <a:rPr lang="zh-CN" altLang="en-US" dirty="0" smtClean="0"/>
              <a:t>更安全的整体充电方案。</a:t>
            </a:r>
            <a:r>
              <a:rPr lang="en-US" altLang="zh-CN" dirty="0" smtClean="0"/>
              <a:t>charge_trigger_soc ∈ [0.22, 0.45] </a:t>
            </a:r>
            <a:r>
              <a:rPr lang="zh-CN" altLang="en-US" dirty="0" smtClean="0"/>
              <a:t>表示车辆触发充电的 </a:t>
            </a:r>
            <a:r>
              <a:rPr lang="en-US" altLang="zh-CN" dirty="0" smtClean="0"/>
              <a:t>SOC </a:t>
            </a:r>
            <a:r>
              <a:rPr lang="zh-CN" altLang="en-US" dirty="0" smtClean="0"/>
              <a:t>阈值。数值越低，车辆越晚去充电，可以减少冗余充电和排队，但 </a:t>
            </a:r>
            <a:r>
              <a:rPr lang="en-US" altLang="zh-CN" dirty="0" smtClean="0"/>
              <a:t>SOC </a:t>
            </a:r>
            <a:r>
              <a:rPr lang="zh-CN" altLang="en-US" dirty="0" smtClean="0"/>
              <a:t>风险更高；数值越高，车辆越早充电，更安全但可能增加充电次数。</a:t>
            </a:r>
            <a:r>
              <a:rPr lang="en-US" altLang="zh-CN" dirty="0" smtClean="0"/>
              <a:t>offpeak_target_soc ∈ [0.55, 0.90] </a:t>
            </a:r>
            <a:r>
              <a:rPr lang="zh-CN" altLang="en-US" dirty="0" smtClean="0"/>
              <a:t>表示低谷电价时段的目标 </a:t>
            </a:r>
            <a:r>
              <a:rPr lang="en-US" altLang="zh-CN" dirty="0" smtClean="0"/>
              <a:t>SOC</a:t>
            </a:r>
            <a:r>
              <a:rPr lang="zh-CN" altLang="en-US" dirty="0" smtClean="0"/>
              <a:t>。数值越高，说明系统倾向于在便宜时段多充电，为后续班次储备电量。</a:t>
            </a:r>
            <a:r>
              <a:rPr lang="en-US" altLang="zh-CN" dirty="0" smtClean="0"/>
              <a:t>peak_target_soc ∈ [0.55, 0.90] </a:t>
            </a:r>
            <a:r>
              <a:rPr lang="zh-CN" altLang="en-US" dirty="0" smtClean="0"/>
              <a:t>表示高峰电价时段的目标 </a:t>
            </a:r>
            <a:r>
              <a:rPr lang="en-US" altLang="zh-CN" dirty="0" smtClean="0"/>
              <a:t>SOC</a:t>
            </a:r>
            <a:r>
              <a:rPr lang="zh-CN" altLang="en-US" dirty="0" smtClean="0"/>
              <a:t>。数值越低，说明系统倾向于少在高价时段充电，避免增加成本；数值越高则更重视运行安全。</a:t>
            </a:r>
            <a:r>
              <a:rPr lang="en-US" altLang="zh-CN" dirty="0" smtClean="0"/>
              <a:t>cost_weight ∈ [0, 2.5] </a:t>
            </a:r>
            <a:r>
              <a:rPr lang="zh-CN" altLang="en-US" dirty="0" smtClean="0"/>
              <a:t>表示电费成本在策略中的重要程度。数值越高，算法越倾向于避开高电价时段；数值越低，则更少关注电价差异。</a:t>
            </a:r>
            <a:r>
              <a:rPr lang="en-US" altLang="zh-CN" dirty="0" smtClean="0"/>
              <a:t>wait_weight ∈ [0, 1] </a:t>
            </a:r>
            <a:r>
              <a:rPr lang="zh-CN" altLang="en-US" dirty="0" smtClean="0"/>
              <a:t>表示排队等待时间的重要程度。数值越高，算法越倾向于减少等待和分散充电需求；数值越低，则排队惩罚较弱。</a:t>
            </a:r>
            <a:r>
              <a:rPr lang="en-US" altLang="zh-CN" dirty="0" smtClean="0"/>
              <a:t>slow_charger_penalty ∈ [-20, 40] </a:t>
            </a:r>
            <a:r>
              <a:rPr lang="zh-CN" altLang="en-US" dirty="0" smtClean="0"/>
              <a:t>表示对慢充的偏好或惩罚。数值越高，慢充惩罚越强，算法更偏向快充；数值为负时，说明慢充在某些场景下被鼓励，例如车辆空闲时间较长、慢充更适合削峰填谷。</a:t>
            </a:r>
            <a:r>
              <a:rPr lang="en-US" altLang="zh-CN" dirty="0" smtClean="0"/>
              <a:t>6 </a:t>
            </a:r>
            <a:r>
              <a:rPr lang="zh-CN" altLang="en-US" dirty="0" smtClean="0"/>
              <a:t>基因策略编码负责“生成方案”，适应度函数负责“评价方案”。</a:t>
            </a:r>
            <a:r>
              <a:rPr lang="en-US" altLang="zh-CN" dirty="0" smtClean="0"/>
              <a:t>GA </a:t>
            </a:r>
            <a:r>
              <a:rPr lang="zh-CN" altLang="en-US" dirty="0" smtClean="0"/>
              <a:t>会随机生成很多组 </a:t>
            </a:r>
            <a:r>
              <a:rPr lang="en-US" altLang="zh-CN" dirty="0" smtClean="0"/>
              <a:t>6 </a:t>
            </a:r>
            <a:r>
              <a:rPr lang="zh-CN" altLang="en-US" dirty="0" smtClean="0"/>
              <a:t>基因参数，把每组参数代入调度仿真，算出成本、等待、未完成班次和低 </a:t>
            </a:r>
            <a:r>
              <a:rPr lang="en-US" altLang="zh-CN" dirty="0" smtClean="0"/>
              <a:t>SOC </a:t>
            </a:r>
            <a:r>
              <a:rPr lang="zh-CN" altLang="en-US" dirty="0" smtClean="0"/>
              <a:t>风险，再用适应度函数打分。分数低的方案会被保留下来，继续交叉、变异，最终得到更优的充电调度策略。</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17</a:t>
            </a:fld>
            <a:endParaRPr lang="zh-CN" altLang="en-US"/>
          </a:p>
        </p:txBody>
      </p:sp>
    </p:spTree>
    <p:extLst>
      <p:ext uri="{BB962C8B-B14F-4D97-AF65-F5344CB8AC3E}">
        <p14:creationId xmlns:p14="http://schemas.microsoft.com/office/powerpoint/2010/main" val="3513402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18</a:t>
            </a:fld>
            <a:endParaRPr lang="zh-CN" altLang="en-US"/>
          </a:p>
        </p:txBody>
      </p:sp>
    </p:spTree>
    <p:extLst>
      <p:ext uri="{BB962C8B-B14F-4D97-AF65-F5344CB8AC3E}">
        <p14:creationId xmlns:p14="http://schemas.microsoft.com/office/powerpoint/2010/main" val="15284831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左图比较了固定里程模型和 </a:t>
            </a:r>
            <a:r>
              <a:rPr lang="en-US" altLang="zh-CN" dirty="0" smtClean="0"/>
              <a:t>MLP </a:t>
            </a:r>
            <a:r>
              <a:rPr lang="zh-CN" altLang="en-US" dirty="0" smtClean="0"/>
              <a:t>模型的三项指标。</a:t>
            </a:r>
            <a:r>
              <a:rPr lang="en-US" altLang="zh-CN" dirty="0" smtClean="0"/>
              <a:t>MAE </a:t>
            </a:r>
            <a:r>
              <a:rPr lang="zh-CN" altLang="en-US" dirty="0" smtClean="0"/>
              <a:t>和 </a:t>
            </a:r>
            <a:r>
              <a:rPr lang="en-US" altLang="zh-CN" dirty="0" smtClean="0"/>
              <a:t>RMSE </a:t>
            </a:r>
            <a:r>
              <a:rPr lang="zh-CN" altLang="en-US" dirty="0" smtClean="0"/>
              <a:t>表示预测误差，数值越低越好；</a:t>
            </a:r>
            <a:r>
              <a:rPr lang="en-US" altLang="zh-CN" dirty="0" smtClean="0"/>
              <a:t>R² </a:t>
            </a:r>
            <a:r>
              <a:rPr lang="zh-CN" altLang="en-US" dirty="0" smtClean="0"/>
              <a:t>表示模型对真实能耗变化的解释能力，越接近 </a:t>
            </a:r>
            <a:r>
              <a:rPr lang="en-US" altLang="zh-CN" dirty="0" smtClean="0"/>
              <a:t>1 </a:t>
            </a:r>
            <a:r>
              <a:rPr lang="zh-CN" altLang="en-US" dirty="0" smtClean="0"/>
              <a:t>越好。结果显示，</a:t>
            </a:r>
            <a:r>
              <a:rPr lang="en-US" altLang="zh-CN" dirty="0" smtClean="0"/>
              <a:t>MLP </a:t>
            </a:r>
            <a:r>
              <a:rPr lang="zh-CN" altLang="en-US" dirty="0" smtClean="0"/>
              <a:t>的 </a:t>
            </a:r>
            <a:r>
              <a:rPr lang="en-US" altLang="zh-CN" dirty="0" smtClean="0"/>
              <a:t>MAE </a:t>
            </a:r>
            <a:r>
              <a:rPr lang="zh-CN" altLang="en-US" dirty="0" smtClean="0"/>
              <a:t>从 </a:t>
            </a:r>
            <a:r>
              <a:rPr lang="en-US" altLang="zh-CN" dirty="0" smtClean="0"/>
              <a:t>5.39 </a:t>
            </a:r>
            <a:r>
              <a:rPr lang="zh-CN" altLang="en-US" dirty="0" smtClean="0"/>
              <a:t>降到 </a:t>
            </a:r>
            <a:r>
              <a:rPr lang="en-US" altLang="zh-CN" dirty="0" smtClean="0"/>
              <a:t>2.85</a:t>
            </a:r>
            <a:r>
              <a:rPr lang="zh-CN" altLang="en-US" dirty="0" smtClean="0"/>
              <a:t>，</a:t>
            </a:r>
            <a:r>
              <a:rPr lang="en-US" altLang="zh-CN" dirty="0" smtClean="0"/>
              <a:t>RMSE </a:t>
            </a:r>
            <a:r>
              <a:rPr lang="zh-CN" altLang="en-US" dirty="0" smtClean="0"/>
              <a:t>从 </a:t>
            </a:r>
            <a:r>
              <a:rPr lang="en-US" altLang="zh-CN" dirty="0" smtClean="0"/>
              <a:t>8.41 </a:t>
            </a:r>
            <a:r>
              <a:rPr lang="zh-CN" altLang="en-US" dirty="0" smtClean="0"/>
              <a:t>降到 </a:t>
            </a:r>
            <a:r>
              <a:rPr lang="en-US" altLang="zh-CN" dirty="0" smtClean="0"/>
              <a:t>4.76</a:t>
            </a:r>
            <a:r>
              <a:rPr lang="zh-CN" altLang="en-US" dirty="0" smtClean="0"/>
              <a:t>，</a:t>
            </a:r>
            <a:r>
              <a:rPr lang="en-US" altLang="zh-CN" dirty="0" smtClean="0"/>
              <a:t>R² </a:t>
            </a:r>
            <a:r>
              <a:rPr lang="zh-CN" altLang="en-US" dirty="0" smtClean="0"/>
              <a:t>从 </a:t>
            </a:r>
            <a:r>
              <a:rPr lang="en-US" altLang="zh-CN" dirty="0" smtClean="0"/>
              <a:t>0.81 </a:t>
            </a:r>
            <a:r>
              <a:rPr lang="zh-CN" altLang="en-US" dirty="0" smtClean="0"/>
              <a:t>提升到 </a:t>
            </a:r>
            <a:r>
              <a:rPr lang="en-US" altLang="zh-CN" dirty="0" smtClean="0"/>
              <a:t>0.94</a:t>
            </a:r>
            <a:r>
              <a:rPr lang="zh-CN" altLang="en-US" dirty="0" smtClean="0"/>
              <a:t>，说明加入坡度、拥堵、速度、载客率、温度和高峰等特征后，模型预测明显更准确。</a:t>
            </a:r>
          </a:p>
          <a:p>
            <a:r>
              <a:rPr lang="zh-CN" altLang="en-US" dirty="0" smtClean="0"/>
              <a:t>右图进一步验证了预测效果。横轴是真实能耗，纵轴是 </a:t>
            </a:r>
            <a:r>
              <a:rPr lang="en-US" altLang="zh-CN" dirty="0" smtClean="0"/>
              <a:t>MLP </a:t>
            </a:r>
            <a:r>
              <a:rPr lang="zh-CN" altLang="en-US" dirty="0" smtClean="0"/>
              <a:t>预测能耗，虚线表示“预测值等于真实值”的理想情况。大部分散点都贴近虚线，说明模型能较好跟随真实能耗变化，极端偏差较少。</a:t>
            </a:r>
          </a:p>
          <a:p>
            <a:r>
              <a:rPr lang="zh-CN" altLang="en-US" dirty="0" smtClean="0"/>
              <a:t>因此，本项目后续用 </a:t>
            </a:r>
            <a:r>
              <a:rPr lang="en-US" altLang="zh-CN" dirty="0" smtClean="0"/>
              <a:t>MLP </a:t>
            </a:r>
            <a:r>
              <a:rPr lang="zh-CN" altLang="en-US" dirty="0" smtClean="0"/>
              <a:t>预测结果更新车辆 </a:t>
            </a:r>
            <a:r>
              <a:rPr lang="en-US" altLang="zh-CN" dirty="0" smtClean="0"/>
              <a:t>SOC</a:t>
            </a:r>
            <a:r>
              <a:rPr lang="zh-CN" altLang="en-US" dirty="0" smtClean="0"/>
              <a:t>，并据此判断是否需要充电、充多久、在哪里充电。能耗预测越准确，调度决策越可靠。</a:t>
            </a:r>
          </a:p>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21</a:t>
            </a:fld>
            <a:endParaRPr lang="zh-CN" altLang="en-US"/>
          </a:p>
        </p:txBody>
      </p:sp>
    </p:spTree>
    <p:extLst>
      <p:ext uri="{BB962C8B-B14F-4D97-AF65-F5344CB8AC3E}">
        <p14:creationId xmlns:p14="http://schemas.microsoft.com/office/powerpoint/2010/main" val="644918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22</a:t>
            </a:fld>
            <a:endParaRPr lang="zh-CN" altLang="en-US"/>
          </a:p>
        </p:txBody>
      </p:sp>
    </p:spTree>
    <p:extLst>
      <p:ext uri="{BB962C8B-B14F-4D97-AF65-F5344CB8AC3E}">
        <p14:creationId xmlns:p14="http://schemas.microsoft.com/office/powerpoint/2010/main" val="881093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23</a:t>
            </a:fld>
            <a:endParaRPr lang="zh-CN" altLang="en-US"/>
          </a:p>
        </p:txBody>
      </p:sp>
    </p:spTree>
    <p:extLst>
      <p:ext uri="{BB962C8B-B14F-4D97-AF65-F5344CB8AC3E}">
        <p14:creationId xmlns:p14="http://schemas.microsoft.com/office/powerpoint/2010/main" val="1101088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24</a:t>
            </a:fld>
            <a:endParaRPr lang="zh-CN" altLang="en-US"/>
          </a:p>
        </p:txBody>
      </p:sp>
    </p:spTree>
    <p:extLst>
      <p:ext uri="{BB962C8B-B14F-4D97-AF65-F5344CB8AC3E}">
        <p14:creationId xmlns:p14="http://schemas.microsoft.com/office/powerpoint/2010/main" val="1501239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本页用于验证绿色路径规划是否真的会改变能耗结果。左图比较三类候选路径：短陡路径距离最短，但坡度更大；长平路径坡度较小，但绕行距离增加。结果显示，在当前候选路径规则下，距离增加带来的额外能耗高于坡度降低带来的节能，因此短距离路径整体能耗和碳排最低。</a:t>
            </a:r>
          </a:p>
          <a:p>
            <a:r>
              <a:rPr lang="zh-CN" altLang="en-US" dirty="0" smtClean="0"/>
              <a:t>右图进一步对比“最短距离策略”和“最低能耗策略”。结果显示，两者在 </a:t>
            </a:r>
            <a:r>
              <a:rPr lang="en-US" altLang="zh-CN" dirty="0" smtClean="0"/>
              <a:t>99.98% </a:t>
            </a:r>
            <a:r>
              <a:rPr lang="zh-CN" altLang="en-US" dirty="0" smtClean="0"/>
              <a:t>班次中选择结果一致，说明本项目构造的公交候选路径中，距离仍是能耗的主导因素。绿色路径模块的作用不是强行绕路，而是在存在能耗差异时筛选低能耗路径，作为调度前的预处理，从源头减少后续充电需求和电力侧碳排放。</a:t>
            </a:r>
          </a:p>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25</a:t>
            </a:fld>
            <a:endParaRPr lang="zh-CN" altLang="en-US"/>
          </a:p>
        </p:txBody>
      </p:sp>
    </p:spTree>
    <p:extLst>
      <p:ext uri="{BB962C8B-B14F-4D97-AF65-F5344CB8AC3E}">
        <p14:creationId xmlns:p14="http://schemas.microsoft.com/office/powerpoint/2010/main" val="1296595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26</a:t>
            </a:fld>
            <a:endParaRPr lang="zh-CN" altLang="en-US"/>
          </a:p>
        </p:txBody>
      </p:sp>
    </p:spTree>
    <p:extLst>
      <p:ext uri="{BB962C8B-B14F-4D97-AF65-F5344CB8AC3E}">
        <p14:creationId xmlns:p14="http://schemas.microsoft.com/office/powerpoint/2010/main" val="29172762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29</a:t>
            </a:fld>
            <a:endParaRPr lang="zh-CN" altLang="en-US"/>
          </a:p>
        </p:txBody>
      </p:sp>
    </p:spTree>
    <p:extLst>
      <p:ext uri="{BB962C8B-B14F-4D97-AF65-F5344CB8AC3E}">
        <p14:creationId xmlns:p14="http://schemas.microsoft.com/office/powerpoint/2010/main" val="1329623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a:t>https://liangliangtuwen.tmall.com</a:t>
            </a:r>
          </a:p>
          <a:p>
            <a:endParaRPr lang="zh-CN" altLang="en-US"/>
          </a:p>
        </p:txBody>
      </p:sp>
      <p:sp>
        <p:nvSpPr>
          <p:cNvPr id="4" name="灯片编号占位符 3"/>
          <p:cNvSpPr>
            <a:spLocks noGrp="1"/>
          </p:cNvSpPr>
          <p:nvPr>
            <p:ph type="sldNum" sz="quarter" idx="10"/>
          </p:nvPr>
        </p:nvSpPr>
        <p:spPr/>
        <p:txBody>
          <a:bodyPr/>
          <a:lstStyle/>
          <a:p>
            <a:fld id="{B18EAD77-486C-432B-9EE9-E6FD5C91EB8A}"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17F9E5-2C3F-427E-9E18-8DB1205C1BD4}" type="datetimeFigureOut">
              <a:rPr lang="zh-CN" altLang="en-US" smtClean="0"/>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17F9E5-2C3F-427E-9E18-8DB1205C1BD4}" type="datetimeFigureOut">
              <a:rPr lang="zh-CN" altLang="en-US" smtClean="0"/>
              <a:t>2026/6/21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635508-54A0-4FB0-A4C5-6467DE85E92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a:extLst>
              <a:ext uri="{FF2B5EF4-FFF2-40B4-BE49-F238E27FC236}">
                <a16:creationId xmlns:a16="http://schemas.microsoft.com/office/drawing/2014/main" id="{5BB8490A-2135-9E53-7CDB-D90031302C9C}"/>
              </a:ext>
            </a:extLst>
          </p:cNvPr>
          <p:cNvSpPr txBox="1"/>
          <p:nvPr/>
        </p:nvSpPr>
        <p:spPr>
          <a:xfrm>
            <a:off x="1509486" y="-667657"/>
            <a:ext cx="707245" cy="369332"/>
          </a:xfrm>
          <a:prstGeom prst="rect">
            <a:avLst/>
          </a:prstGeom>
          <a:noFill/>
        </p:spPr>
        <p:txBody>
          <a:bodyPr wrap="none" rtlCol="0">
            <a:spAutoFit/>
          </a:bodyPr>
          <a:lstStyle/>
          <a:p>
            <a:r>
              <a:rPr lang="en-US" altLang="zh-CN" dirty="0" err="1">
                <a:solidFill/>
              </a:rPr>
              <a:t>asdas</a:t>
            </a:r>
            <a:endParaRPr lang="zh-CN" altLang="en-US" dirty="0"/>
          </a:p>
        </p:txBody>
      </p:sp>
      <p:grpSp>
        <p:nvGrpSpPr>
          <p:cNvPr id="2" name="组合 1"/>
          <p:cNvGrpSpPr/>
          <p:nvPr/>
        </p:nvGrpSpPr>
        <p:grpSpPr>
          <a:xfrm>
            <a:off x="4705866" y="0"/>
            <a:ext cx="2780268" cy="3063728"/>
            <a:chOff x="4705866" y="0"/>
            <a:chExt cx="2780268" cy="3063728"/>
          </a:xfrm>
        </p:grpSpPr>
        <p:sp>
          <p:nvSpPr>
            <p:cNvPr id="28" name="淘宝-想搞设计PPT(倒卖必究)-28"/>
            <p:cNvSpPr/>
            <p:nvPr/>
          </p:nvSpPr>
          <p:spPr>
            <a:xfrm>
              <a:off x="4705866" y="0"/>
              <a:ext cx="2780268" cy="3063728"/>
            </a:xfrm>
            <a:custGeom>
              <a:avLst/>
              <a:gdLst>
                <a:gd name="connsiteX0" fmla="*/ 0 w 2780268"/>
                <a:gd name="connsiteY0" fmla="*/ 0 h 3063728"/>
                <a:gd name="connsiteX1" fmla="*/ 2780268 w 2780268"/>
                <a:gd name="connsiteY1" fmla="*/ 0 h 3063728"/>
                <a:gd name="connsiteX2" fmla="*/ 2780268 w 2780268"/>
                <a:gd name="connsiteY2" fmla="*/ 1673594 h 3063728"/>
                <a:gd name="connsiteX3" fmla="*/ 1390134 w 2780268"/>
                <a:gd name="connsiteY3" fmla="*/ 3063728 h 3063728"/>
                <a:gd name="connsiteX4" fmla="*/ 0 w 2780268"/>
                <a:gd name="connsiteY4" fmla="*/ 1673594 h 3063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268" h="3063728">
                  <a:moveTo>
                    <a:pt x="0" y="0"/>
                  </a:moveTo>
                  <a:lnTo>
                    <a:pt x="2780268" y="0"/>
                  </a:lnTo>
                  <a:lnTo>
                    <a:pt x="2780268" y="1673594"/>
                  </a:lnTo>
                  <a:cubicBezTo>
                    <a:pt x="2780268" y="2441344"/>
                    <a:pt x="2157884" y="3063728"/>
                    <a:pt x="1390134" y="3063728"/>
                  </a:cubicBezTo>
                  <a:cubicBezTo>
                    <a:pt x="622384" y="3063728"/>
                    <a:pt x="0" y="2441344"/>
                    <a:pt x="0" y="1673594"/>
                  </a:cubicBezTo>
                  <a:close/>
                </a:path>
              </a:pathLst>
            </a:cu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875891" y="408799"/>
              <a:ext cx="2439190" cy="2439192"/>
              <a:chOff x="5007734" y="902247"/>
              <a:chExt cx="2543685" cy="2543686"/>
            </a:xfrm>
          </p:grpSpPr>
          <p:sp>
            <p:nvSpPr>
              <p:cNvPr id="8" name="淘宝-想搞设计PPT(倒卖必究)-8"/>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淘宝-想搞设计PPT(倒卖必究)-10"/>
              <p:cNvSpPr/>
              <p:nvPr/>
            </p:nvSpPr>
            <p:spPr>
              <a:xfrm rot="10800000">
                <a:off x="5253394" y="1176935"/>
                <a:ext cx="2052364" cy="2052365"/>
              </a:xfrm>
              <a:prstGeom prst="ellipse">
                <a:avLst/>
              </a:prstGeom>
              <a:blipFill dpi="0" rotWithShape="0">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4" name="淘宝-想搞设计PPT(倒卖必究)-14"/>
          <p:cNvSpPr/>
          <p:nvPr/>
        </p:nvSpPr>
        <p:spPr>
          <a:xfrm>
            <a:off x="0" y="5223311"/>
            <a:ext cx="12192000" cy="1634689"/>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淘宝-想搞设计PPT(倒卖必究)-15"/>
          <p:cNvSpPr/>
          <p:nvPr/>
        </p:nvSpPr>
        <p:spPr>
          <a:xfrm>
            <a:off x="0" y="5053673"/>
            <a:ext cx="12192000" cy="77108"/>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淘宝-想搞设计PPT(倒卖必究)-16"/>
          <p:cNvSpPr txBox="1"/>
          <p:nvPr/>
        </p:nvSpPr>
        <p:spPr>
          <a:xfrm>
            <a:off x="1031449" y="3344512"/>
            <a:ext cx="10128071" cy="1754326"/>
          </a:xfrm>
          <a:prstGeom prst="rect">
            <a:avLst/>
          </a:prstGeom>
          <a:noFill/>
        </p:spPr>
        <p:txBody>
          <a:bodyPr wrap="square" rtlCol="0">
            <a:spAutoFit/>
          </a:bodyPr>
          <a:lstStyle/>
          <a:p>
            <a:pPr algn="ctr"/>
            <a:r>
              <a:rPr lang="zh-CN" altLang="en-US" sz="3600" b="1" dirty="0" smtClean="0">
                <a:solidFill>
                  <a:srgbClr val="15548D"/>
                </a:solidFill>
                <a:latin typeface="微软雅黑" panose="020B0503020204020204" pitchFamily="34" charset="-122"/>
                <a:ea typeface="微软雅黑" panose="020B0503020204020204" pitchFamily="34" charset="-122"/>
              </a:rPr>
              <a:t>新</a:t>
            </a:r>
            <a:r>
              <a:rPr lang="zh-CN" altLang="en-US" sz="3600" b="1" dirty="0">
                <a:solidFill>
                  <a:srgbClr val="15548D"/>
                </a:solidFill>
                <a:latin typeface="微软雅黑" panose="020B0503020204020204" pitchFamily="34" charset="-122"/>
                <a:ea typeface="微软雅黑" panose="020B0503020204020204" pitchFamily="34" charset="-122"/>
              </a:rPr>
              <a:t>能源公交车队的</a:t>
            </a:r>
          </a:p>
          <a:p>
            <a:pPr algn="ctr"/>
            <a:r>
              <a:rPr lang="zh-CN" altLang="en-US" sz="3600" b="1" dirty="0">
                <a:solidFill>
                  <a:srgbClr val="15548D"/>
                </a:solidFill>
                <a:latin typeface="微软雅黑" panose="020B0503020204020204" pitchFamily="34" charset="-122"/>
                <a:ea typeface="微软雅黑" panose="020B0503020204020204" pitchFamily="34" charset="-122"/>
              </a:rPr>
              <a:t>智能充电调度与绿色路径规划</a:t>
            </a:r>
          </a:p>
          <a:p>
            <a:pPr algn="ctr"/>
            <a:endParaRPr lang="en-US" altLang="zh-CN" sz="3600" b="1" dirty="0">
              <a:solidFill>
                <a:srgbClr val="910807"/>
              </a:solidFill>
              <a:latin typeface="微软雅黑" panose="020B0503020204020204" pitchFamily="34" charset="-122"/>
              <a:ea typeface="微软雅黑" panose="020B0503020204020204" pitchFamily="34" charset="-122"/>
            </a:endParaRPr>
          </a:p>
        </p:txBody>
      </p:sp>
      <p:sp>
        <p:nvSpPr>
          <p:cNvPr id="21" name="淘宝-想搞设计PPT(倒卖必究)-21"/>
          <p:cNvSpPr txBox="1"/>
          <p:nvPr/>
        </p:nvSpPr>
        <p:spPr>
          <a:xfrm>
            <a:off x="1955799" y="5804535"/>
            <a:ext cx="5472430"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小</a:t>
            </a:r>
            <a:r>
              <a:rPr lang="zh-CN" altLang="en-US" dirty="0" smtClean="0">
                <a:solidFill>
                  <a:schemeClr val="bg1"/>
                </a:solidFill>
                <a:latin typeface="微软雅黑" panose="020B0503020204020204" pitchFamily="34" charset="-122"/>
                <a:ea typeface="微软雅黑" panose="020B0503020204020204" pitchFamily="34" charset="-122"/>
              </a:rPr>
              <a:t>组成员：刘俊、戴维昌</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2" name="淘宝-想搞设计PPT(倒卖必究)-22"/>
          <p:cNvSpPr txBox="1"/>
          <p:nvPr/>
        </p:nvSpPr>
        <p:spPr>
          <a:xfrm>
            <a:off x="7522843" y="5804535"/>
            <a:ext cx="2591435"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时间</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2026/6/22</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1" name="淘宝-想搞设计PPT(倒卖必究)-11">
            <a:extLst>
              <a:ext uri="{FF2B5EF4-FFF2-40B4-BE49-F238E27FC236}">
                <a16:creationId xmlns:a16="http://schemas.microsoft.com/office/drawing/2014/main" id="{AE082206-F2A7-B88B-EFCE-FB692FD0698B}"/>
              </a:ext>
            </a:extLst>
          </p:cNvPr>
          <p:cNvSpPr/>
          <p:nvPr/>
        </p:nvSpPr>
        <p:spPr>
          <a:xfrm>
            <a:off x="4837064" y="408451"/>
            <a:ext cx="2490717" cy="249071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Picture 46" descr="华中科技大学.png"/>
          <p:cNvPicPr>
            <a:picLocks noChangeAspect="1"/>
          </p:cNvPicPr>
          <p:nvPr/>
        </p:nvPicPr>
        <p:blipFill>
          <a:blip r:embed="rId4"/>
          <a:stretch>
            <a:fillRect/>
          </a:stretch>
        </p:blipFill>
        <p:spPr>
          <a:xfrm>
            <a:off x="4869407" y="440795"/>
            <a:ext cx="2426030" cy="24260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800" fill="hold"/>
                                        <p:tgtEl>
                                          <p:spTgt spid="16"/>
                                        </p:tgtEl>
                                        <p:attrNameLst>
                                          <p:attrName>ppt_w</p:attrName>
                                        </p:attrNameLst>
                                      </p:cBhvr>
                                      <p:tavLst>
                                        <p:tav tm="0">
                                          <p:val>
                                            <p:fltVal val="0"/>
                                          </p:val>
                                        </p:tav>
                                        <p:tav tm="100000">
                                          <p:val>
                                            <p:strVal val="#ppt_w"/>
                                          </p:val>
                                        </p:tav>
                                      </p:tavLst>
                                    </p:anim>
                                    <p:anim calcmode="lin" valueType="num">
                                      <p:cBhvr>
                                        <p:cTn id="13" dur="800" fill="hold"/>
                                        <p:tgtEl>
                                          <p:spTgt spid="16"/>
                                        </p:tgtEl>
                                        <p:attrNameLst>
                                          <p:attrName>ppt_h</p:attrName>
                                        </p:attrNameLst>
                                      </p:cBhvr>
                                      <p:tavLst>
                                        <p:tav tm="0">
                                          <p:val>
                                            <p:fltVal val="0"/>
                                          </p:val>
                                        </p:tav>
                                        <p:tav tm="100000">
                                          <p:val>
                                            <p:strVal val="#ppt_h"/>
                                          </p:val>
                                        </p:tav>
                                      </p:tavLst>
                                    </p:anim>
                                    <p:animEffect transition="in" filter="fade">
                                      <p:cBhvr>
                                        <p:cTn id="14" dur="800"/>
                                        <p:tgtEl>
                                          <p:spTgt spid="16"/>
                                        </p:tgtEl>
                                      </p:cBhvr>
                                    </p:animEffect>
                                  </p:childTnLst>
                                </p:cTn>
                              </p:par>
                              <p:par>
                                <p:cTn id="15" presetID="12" presetClass="entr" presetSubtype="4" fill="hold" grpId="0" nodeType="withEffect">
                                  <p:stCondLst>
                                    <p:cond delay="150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p:tgtEl>
                                          <p:spTgt spid="14"/>
                                        </p:tgtEl>
                                        <p:attrNameLst>
                                          <p:attrName>ppt_y</p:attrName>
                                        </p:attrNameLst>
                                      </p:cBhvr>
                                      <p:tavLst>
                                        <p:tav tm="0">
                                          <p:val>
                                            <p:strVal val="#ppt_y+#ppt_h*1.125000"/>
                                          </p:val>
                                        </p:tav>
                                        <p:tav tm="100000">
                                          <p:val>
                                            <p:strVal val="#ppt_y"/>
                                          </p:val>
                                        </p:tav>
                                      </p:tavLst>
                                    </p:anim>
                                    <p:animEffect transition="in" filter="wipe(up)">
                                      <p:cBhvr>
                                        <p:cTn id="18" dur="500"/>
                                        <p:tgtEl>
                                          <p:spTgt spid="14"/>
                                        </p:tgtEl>
                                      </p:cBhvr>
                                    </p:animEffect>
                                  </p:childTnLst>
                                </p:cTn>
                              </p:par>
                              <p:par>
                                <p:cTn id="19" presetID="12" presetClass="entr" presetSubtype="4" fill="hold" grpId="0" nodeType="withEffect">
                                  <p:stCondLst>
                                    <p:cond delay="20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p:tgtEl>
                                          <p:spTgt spid="15"/>
                                        </p:tgtEl>
                                        <p:attrNameLst>
                                          <p:attrName>ppt_y</p:attrName>
                                        </p:attrNameLst>
                                      </p:cBhvr>
                                      <p:tavLst>
                                        <p:tav tm="0">
                                          <p:val>
                                            <p:strVal val="#ppt_y+#ppt_h*1.125000"/>
                                          </p:val>
                                        </p:tav>
                                        <p:tav tm="100000">
                                          <p:val>
                                            <p:strVal val="#ppt_y"/>
                                          </p:val>
                                        </p:tav>
                                      </p:tavLst>
                                    </p:anim>
                                    <p:animEffect transition="in" filter="wipe(up)">
                                      <p:cBhvr>
                                        <p:cTn id="22" dur="500"/>
                                        <p:tgtEl>
                                          <p:spTgt spid="15"/>
                                        </p:tgtEl>
                                      </p:cBhvr>
                                    </p:animEffect>
                                  </p:childTnLst>
                                </p:cTn>
                              </p:par>
                            </p:childTnLst>
                          </p:cTn>
                        </p:par>
                        <p:par>
                          <p:cTn id="23" fill="hold">
                            <p:stCondLst>
                              <p:cond delay="2500"/>
                            </p:stCondLst>
                            <p:childTnLst>
                              <p:par>
                                <p:cTn id="24" presetID="12" presetClass="entr" presetSubtype="2"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p:tgtEl>
                                          <p:spTgt spid="21"/>
                                        </p:tgtEl>
                                        <p:attrNameLst>
                                          <p:attrName>ppt_x</p:attrName>
                                        </p:attrNameLst>
                                      </p:cBhvr>
                                      <p:tavLst>
                                        <p:tav tm="0">
                                          <p:val>
                                            <p:strVal val="#ppt_x+#ppt_w*1.125000"/>
                                          </p:val>
                                        </p:tav>
                                        <p:tav tm="100000">
                                          <p:val>
                                            <p:strVal val="#ppt_x"/>
                                          </p:val>
                                        </p:tav>
                                      </p:tavLst>
                                    </p:anim>
                                    <p:animEffect transition="in" filter="wipe(left)">
                                      <p:cBhvr>
                                        <p:cTn id="27" dur="500"/>
                                        <p:tgtEl>
                                          <p:spTgt spid="21"/>
                                        </p:tgtEl>
                                      </p:cBhvr>
                                    </p:animEffect>
                                  </p:childTnLst>
                                </p:cTn>
                              </p:par>
                            </p:childTnLst>
                          </p:cTn>
                        </p:par>
                        <p:par>
                          <p:cTn id="28" fill="hold">
                            <p:stCondLst>
                              <p:cond delay="3000"/>
                            </p:stCondLst>
                            <p:childTnLst>
                              <p:par>
                                <p:cTn id="29" presetID="12" presetClass="entr" presetSubtype="2"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p:tgtEl>
                                          <p:spTgt spid="22"/>
                                        </p:tgtEl>
                                        <p:attrNameLst>
                                          <p:attrName>ppt_x</p:attrName>
                                        </p:attrNameLst>
                                      </p:cBhvr>
                                      <p:tavLst>
                                        <p:tav tm="0">
                                          <p:val>
                                            <p:strVal val="#ppt_x+#ppt_w*1.125000"/>
                                          </p:val>
                                        </p:tav>
                                        <p:tav tm="100000">
                                          <p:val>
                                            <p:strVal val="#ppt_x"/>
                                          </p:val>
                                        </p:tav>
                                      </p:tavLst>
                                    </p:anim>
                                    <p:animEffect transition="in" filter="wipe(lef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21"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淘宝-想搞设计PPT(倒卖必究)-9"/>
          <p:cNvCxnSpPr/>
          <p:nvPr/>
        </p:nvCxnSpPr>
        <p:spPr>
          <a:xfrm>
            <a:off x="4277437" y="1619962"/>
            <a:ext cx="7914563" cy="0"/>
          </a:xfrm>
          <a:prstGeom prst="line">
            <a:avLst/>
          </a:prstGeom>
          <a:ln w="508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5389226" y="1257300"/>
            <a:ext cx="976380" cy="767990"/>
            <a:chOff x="5389226" y="1257300"/>
            <a:chExt cx="976380" cy="767990"/>
          </a:xfrm>
        </p:grpSpPr>
        <p:sp>
          <p:nvSpPr>
            <p:cNvPr id="11" name="淘宝-想搞设计PPT(倒卖必究)-11"/>
            <p:cNvSpPr/>
            <p:nvPr/>
          </p:nvSpPr>
          <p:spPr>
            <a:xfrm>
              <a:off x="5493421" y="1257300"/>
              <a:ext cx="767990" cy="76799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淘宝-想搞设计PPT(倒卖必究)-17"/>
            <p:cNvSpPr txBox="1"/>
            <p:nvPr/>
          </p:nvSpPr>
          <p:spPr>
            <a:xfrm>
              <a:off x="5389226" y="1351966"/>
              <a:ext cx="976380" cy="654858"/>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7767862" y="1257300"/>
            <a:ext cx="976380" cy="767990"/>
            <a:chOff x="7767862" y="1257300"/>
            <a:chExt cx="976380" cy="767990"/>
          </a:xfrm>
        </p:grpSpPr>
        <p:sp>
          <p:nvSpPr>
            <p:cNvPr id="12" name="淘宝-想搞设计PPT(倒卖必究)-12"/>
            <p:cNvSpPr/>
            <p:nvPr/>
          </p:nvSpPr>
          <p:spPr>
            <a:xfrm>
              <a:off x="7850724" y="1257300"/>
              <a:ext cx="767990" cy="76799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淘宝-想搞设计PPT(倒卖必究)-18"/>
            <p:cNvSpPr txBox="1"/>
            <p:nvPr/>
          </p:nvSpPr>
          <p:spPr>
            <a:xfrm>
              <a:off x="7767862" y="1351966"/>
              <a:ext cx="976380" cy="654858"/>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10178497" y="1257300"/>
            <a:ext cx="976380" cy="767990"/>
            <a:chOff x="10178497" y="1257300"/>
            <a:chExt cx="976380" cy="767990"/>
          </a:xfrm>
        </p:grpSpPr>
        <p:sp>
          <p:nvSpPr>
            <p:cNvPr id="13" name="淘宝-想搞设计PPT(倒卖必究)-13"/>
            <p:cNvSpPr/>
            <p:nvPr/>
          </p:nvSpPr>
          <p:spPr>
            <a:xfrm>
              <a:off x="10282692" y="1257300"/>
              <a:ext cx="767990" cy="76799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淘宝-想搞设计PPT(倒卖必究)-19"/>
            <p:cNvSpPr txBox="1"/>
            <p:nvPr/>
          </p:nvSpPr>
          <p:spPr>
            <a:xfrm>
              <a:off x="10178497" y="1351966"/>
              <a:ext cx="976380" cy="654858"/>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
        <p:nvSpPr>
          <p:cNvPr id="23" name="淘宝-想搞设计PPT(倒卖必究)-23"/>
          <p:cNvSpPr txBox="1"/>
          <p:nvPr/>
        </p:nvSpPr>
        <p:spPr>
          <a:xfrm>
            <a:off x="5066235" y="2249325"/>
            <a:ext cx="1620948" cy="523216"/>
          </a:xfrm>
          <a:prstGeom prst="rect">
            <a:avLst/>
          </a:prstGeom>
          <a:noFill/>
        </p:spPr>
        <p:txBody>
          <a:bodyPr wrap="none" lIns="91436" tIns="45718" rIns="91436" bIns="45718" rtlCol="0">
            <a:spAutoFit/>
          </a:bodyPr>
          <a:lstStyle/>
          <a:p>
            <a:r>
              <a:rPr lang="zh-CN" altLang="en-US" sz="2800" dirty="0" smtClean="0">
                <a:solidFill>
                  <a:srgbClr val="7F7F7F"/>
                </a:solidFill>
                <a:latin typeface="微软雅黑" panose="020B0503020204020204" pitchFamily="34" charset="-122"/>
                <a:ea typeface="微软雅黑" panose="020B0503020204020204" pitchFamily="34" charset="-122"/>
              </a:rPr>
              <a:t>研究背景</a:t>
            </a:r>
            <a:endParaRPr lang="zh-CN" altLang="en-US" sz="2800" dirty="0">
              <a:solidFill>
                <a:srgbClr val="7F7F7F"/>
              </a:solidFill>
              <a:latin typeface="微软雅黑" panose="020B0503020204020204" pitchFamily="34" charset="-122"/>
              <a:ea typeface="微软雅黑" panose="020B0503020204020204" pitchFamily="34" charset="-122"/>
            </a:endParaRPr>
          </a:p>
        </p:txBody>
      </p:sp>
      <p:sp>
        <p:nvSpPr>
          <p:cNvPr id="24" name="淘宝-想搞设计PPT(倒卖必究)-24"/>
          <p:cNvSpPr/>
          <p:nvPr/>
        </p:nvSpPr>
        <p:spPr>
          <a:xfrm>
            <a:off x="5213794" y="2816669"/>
            <a:ext cx="1396528" cy="415494"/>
          </a:xfrm>
          <a:prstGeom prst="rect">
            <a:avLst/>
          </a:prstGeom>
        </p:spPr>
        <p:txBody>
          <a:bodyPr wrap="none" lIns="91436" tIns="45718" rIns="91436" bIns="45718">
            <a:spAutoFit/>
          </a:bodyPr>
          <a:lstStyle/>
          <a:p>
            <a:pPr algn="ctr"/>
            <a:r>
              <a:rPr lang="zh-CN" altLang="en-US" sz="1050" dirty="0" smtClean="0">
                <a:solidFill>
                  <a:schemeClr val="tx1">
                    <a:lumMod val="65000"/>
                    <a:lumOff val="35000"/>
                  </a:schemeClr>
                </a:solidFill>
                <a:latin typeface="微软雅黑" panose="020B0503020204020204" pitchFamily="34" charset="-122"/>
                <a:ea typeface="微软雅黑" panose="020B0503020204020204" pitchFamily="34" charset="-122"/>
              </a:rPr>
              <a:t>项</a:t>
            </a:r>
            <a:r>
              <a:rPr lang="zh-CN" altLang="en-US" sz="1050" dirty="0">
                <a:solidFill>
                  <a:schemeClr val="tx1">
                    <a:lumMod val="65000"/>
                    <a:lumOff val="35000"/>
                  </a:schemeClr>
                </a:solidFill>
                <a:latin typeface="微软雅黑" panose="020B0503020204020204" pitchFamily="34" charset="-122"/>
                <a:ea typeface="微软雅黑" panose="020B0503020204020204" pitchFamily="34" charset="-122"/>
              </a:rPr>
              <a:t>目背景与任务拆解</a:t>
            </a:r>
          </a:p>
          <a:p>
            <a:pPr algn="ctr"/>
            <a:endParaRPr lang="en-US" altLang="zh-CN" sz="105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5" name="淘宝-想搞设计PPT(倒卖必究)-25"/>
          <p:cNvSpPr txBox="1"/>
          <p:nvPr/>
        </p:nvSpPr>
        <p:spPr>
          <a:xfrm>
            <a:off x="7467477" y="2273152"/>
            <a:ext cx="1620948" cy="523216"/>
          </a:xfrm>
          <a:prstGeom prst="rect">
            <a:avLst/>
          </a:prstGeom>
          <a:noFill/>
        </p:spPr>
        <p:txBody>
          <a:bodyPr wrap="none" lIns="91436" tIns="45718" rIns="91436" bIns="45718" rtlCol="0">
            <a:spAutoFit/>
          </a:bodyPr>
          <a:lstStyle>
            <a:defPPr>
              <a:defRPr lang="zh-CN"/>
            </a:defPPr>
            <a:lvl1pPr>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2800" dirty="0" smtClean="0">
                <a:solidFill>
                  <a:srgbClr val="7F7F7F"/>
                </a:solidFill>
              </a:rPr>
              <a:t>数</a:t>
            </a:r>
            <a:r>
              <a:rPr lang="zh-CN" altLang="en-US" sz="2800" dirty="0">
                <a:solidFill>
                  <a:srgbClr val="7F7F7F"/>
                </a:solidFill>
              </a:rPr>
              <a:t>据构建</a:t>
            </a:r>
          </a:p>
        </p:txBody>
      </p:sp>
      <p:sp>
        <p:nvSpPr>
          <p:cNvPr id="26" name="淘宝-想搞设计PPT(倒卖必究)-26"/>
          <p:cNvSpPr/>
          <p:nvPr/>
        </p:nvSpPr>
        <p:spPr>
          <a:xfrm>
            <a:off x="7597668" y="2836007"/>
            <a:ext cx="1396528" cy="415494"/>
          </a:xfrm>
          <a:prstGeom prst="rect">
            <a:avLst/>
          </a:prstGeom>
        </p:spPr>
        <p:txBody>
          <a:bodyPr wrap="none" lIns="91436" tIns="45718" rIns="91436" bIns="45718">
            <a:spAutoFit/>
          </a:bodyPr>
          <a:lstStyle/>
          <a:p>
            <a:pPr algn="ctr"/>
            <a:r>
              <a:rPr lang="zh-CN" altLang="en-US" sz="1050" dirty="0" smtClean="0">
                <a:solidFill>
                  <a:schemeClr val="tx1">
                    <a:lumMod val="65000"/>
                    <a:lumOff val="35000"/>
                  </a:schemeClr>
                </a:solidFill>
                <a:latin typeface="微软雅黑" panose="020B0503020204020204" pitchFamily="34" charset="-122"/>
                <a:ea typeface="微软雅黑" panose="020B0503020204020204" pitchFamily="34" charset="-122"/>
              </a:rPr>
              <a:t>数</a:t>
            </a:r>
            <a:r>
              <a:rPr lang="zh-CN" altLang="en-US" sz="1050" dirty="0">
                <a:solidFill>
                  <a:schemeClr val="tx1">
                    <a:lumMod val="65000"/>
                    <a:lumOff val="35000"/>
                  </a:schemeClr>
                </a:solidFill>
                <a:latin typeface="微软雅黑" panose="020B0503020204020204" pitchFamily="34" charset="-122"/>
                <a:ea typeface="微软雅黑" panose="020B0503020204020204" pitchFamily="34" charset="-122"/>
              </a:rPr>
              <a:t>据来源与假设边界</a:t>
            </a:r>
          </a:p>
          <a:p>
            <a:pPr algn="ctr"/>
            <a:endParaRPr lang="en-US" altLang="zh-CN" sz="105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淘宝-想搞设计PPT(倒卖必究)-27"/>
          <p:cNvSpPr txBox="1"/>
          <p:nvPr/>
        </p:nvSpPr>
        <p:spPr>
          <a:xfrm>
            <a:off x="9874555" y="2264657"/>
            <a:ext cx="1620948" cy="523216"/>
          </a:xfrm>
          <a:prstGeom prst="rect">
            <a:avLst/>
          </a:prstGeom>
          <a:noFill/>
        </p:spPr>
        <p:txBody>
          <a:bodyPr wrap="none" lIns="91436" tIns="45718" rIns="91436" bIns="45718" rtlCol="0">
            <a:spAutoFit/>
          </a:bodyPr>
          <a:lstStyle>
            <a:defPPr>
              <a:defRPr lang="zh-CN"/>
            </a:defPPr>
            <a:lvl1pPr>
              <a:defRPr sz="2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2800" dirty="0">
                <a:solidFill>
                  <a:srgbClr val="7F7F7F"/>
                </a:solidFill>
              </a:rPr>
              <a:t>代</a:t>
            </a:r>
            <a:r>
              <a:rPr lang="zh-CN" altLang="en-US" sz="2800" dirty="0" smtClean="0">
                <a:solidFill>
                  <a:srgbClr val="7F7F7F"/>
                </a:solidFill>
              </a:rPr>
              <a:t>码算法</a:t>
            </a:r>
            <a:endParaRPr lang="zh-CN" altLang="en-US" sz="2800" dirty="0">
              <a:solidFill>
                <a:srgbClr val="7F7F7F"/>
              </a:solidFill>
            </a:endParaRPr>
          </a:p>
        </p:txBody>
      </p:sp>
      <p:sp>
        <p:nvSpPr>
          <p:cNvPr id="28" name="淘宝-想搞设计PPT(倒卖必究)-28"/>
          <p:cNvSpPr/>
          <p:nvPr/>
        </p:nvSpPr>
        <p:spPr>
          <a:xfrm>
            <a:off x="9956269" y="2849550"/>
            <a:ext cx="1396528" cy="415494"/>
          </a:xfrm>
          <a:prstGeom prst="rect">
            <a:avLst/>
          </a:prstGeom>
        </p:spPr>
        <p:txBody>
          <a:bodyPr wrap="none" lIns="91436" tIns="45718" rIns="91436" bIns="45718">
            <a:spAutoFit/>
          </a:bodyPr>
          <a:lstStyle/>
          <a:p>
            <a:pPr algn="ctr"/>
            <a:r>
              <a:rPr lang="zh-CN" altLang="en-US" sz="1050" dirty="0" smtClean="0">
                <a:solidFill>
                  <a:schemeClr val="tx1">
                    <a:lumMod val="65000"/>
                    <a:lumOff val="35000"/>
                  </a:schemeClr>
                </a:solidFill>
                <a:latin typeface="微软雅黑" panose="020B0503020204020204" pitchFamily="34" charset="-122"/>
                <a:ea typeface="微软雅黑" panose="020B0503020204020204" pitchFamily="34" charset="-122"/>
              </a:rPr>
              <a:t>代</a:t>
            </a:r>
            <a:r>
              <a:rPr lang="zh-CN" altLang="en-US" sz="1050" dirty="0">
                <a:solidFill>
                  <a:schemeClr val="tx1">
                    <a:lumMod val="65000"/>
                    <a:lumOff val="35000"/>
                  </a:schemeClr>
                </a:solidFill>
                <a:latin typeface="微软雅黑" panose="020B0503020204020204" pitchFamily="34" charset="-122"/>
                <a:ea typeface="微软雅黑" panose="020B0503020204020204" pitchFamily="34" charset="-122"/>
              </a:rPr>
              <a:t>码结构与核心算法</a:t>
            </a:r>
          </a:p>
          <a:p>
            <a:pPr algn="ctr"/>
            <a:endParaRPr lang="en-US" altLang="zh-CN" sz="1050"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0" name="淘宝-想搞设计PPT(倒卖必究)-30"/>
          <p:cNvCxnSpPr/>
          <p:nvPr/>
        </p:nvCxnSpPr>
        <p:spPr>
          <a:xfrm>
            <a:off x="1727217" y="4598894"/>
            <a:ext cx="5576709" cy="11918"/>
          </a:xfrm>
          <a:prstGeom prst="line">
            <a:avLst/>
          </a:prstGeom>
          <a:ln w="508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811806" y="4248150"/>
            <a:ext cx="976380" cy="767990"/>
            <a:chOff x="2811806" y="4248150"/>
            <a:chExt cx="976380" cy="767990"/>
          </a:xfrm>
        </p:grpSpPr>
        <p:sp>
          <p:nvSpPr>
            <p:cNvPr id="31" name="淘宝-想搞设计PPT(倒卖必究)-31"/>
            <p:cNvSpPr/>
            <p:nvPr/>
          </p:nvSpPr>
          <p:spPr>
            <a:xfrm>
              <a:off x="2916001" y="4248150"/>
              <a:ext cx="767990" cy="76799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34"/>
            <p:cNvSpPr txBox="1"/>
            <p:nvPr/>
          </p:nvSpPr>
          <p:spPr>
            <a:xfrm>
              <a:off x="2811806" y="4342816"/>
              <a:ext cx="976380" cy="58477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5190442" y="4248150"/>
            <a:ext cx="976380" cy="767990"/>
            <a:chOff x="5190442" y="4248150"/>
            <a:chExt cx="976380" cy="767990"/>
          </a:xfrm>
        </p:grpSpPr>
        <p:sp>
          <p:nvSpPr>
            <p:cNvPr id="32" name="淘宝-想搞设计PPT(倒卖必究)-32"/>
            <p:cNvSpPr/>
            <p:nvPr/>
          </p:nvSpPr>
          <p:spPr>
            <a:xfrm>
              <a:off x="5273304" y="4248150"/>
              <a:ext cx="767990" cy="76799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淘宝-想搞设计PPT(倒卖必究)-35"/>
            <p:cNvSpPr txBox="1"/>
            <p:nvPr/>
          </p:nvSpPr>
          <p:spPr>
            <a:xfrm>
              <a:off x="5190442" y="4342816"/>
              <a:ext cx="976380" cy="58477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5</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
        <p:nvSpPr>
          <p:cNvPr id="5" name="淘宝-想搞设计PPT(倒卖必究)-5"/>
          <p:cNvSpPr/>
          <p:nvPr/>
        </p:nvSpPr>
        <p:spPr>
          <a:xfrm rot="5400000">
            <a:off x="-2611658" y="2611657"/>
            <a:ext cx="6858001" cy="1634689"/>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p:nvPr/>
        </p:nvSpPr>
        <p:spPr>
          <a:xfrm rot="5400000">
            <a:off x="-1663229" y="3390448"/>
            <a:ext cx="6858001" cy="77108"/>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淘宝-想搞设计PPT(倒卖必究)-43"/>
          <p:cNvSpPr txBox="1"/>
          <p:nvPr/>
        </p:nvSpPr>
        <p:spPr>
          <a:xfrm>
            <a:off x="2517549" y="5226939"/>
            <a:ext cx="1620948" cy="523216"/>
          </a:xfrm>
          <a:prstGeom prst="rect">
            <a:avLst/>
          </a:prstGeom>
          <a:noFill/>
        </p:spPr>
        <p:txBody>
          <a:bodyPr wrap="none" lIns="91436" tIns="45718" rIns="91436" bIns="45718" rtlCol="0">
            <a:spAutoFit/>
          </a:bodyPr>
          <a:lstStyle>
            <a:defPPr>
              <a:defRPr lang="zh-CN"/>
            </a:defPPr>
            <a:lvl1pPr>
              <a:defRPr sz="28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solidFill>
                  <a:srgbClr val="7F7F7F"/>
                </a:solidFill>
              </a:rPr>
              <a:t>实</a:t>
            </a:r>
            <a:r>
              <a:rPr lang="zh-CN" altLang="en-US" dirty="0" smtClean="0">
                <a:solidFill>
                  <a:srgbClr val="7F7F7F"/>
                </a:solidFill>
              </a:rPr>
              <a:t>验结果</a:t>
            </a:r>
            <a:endParaRPr lang="zh-CN" altLang="en-US" dirty="0">
              <a:solidFill>
                <a:srgbClr val="7F7F7F"/>
              </a:solidFill>
            </a:endParaRPr>
          </a:p>
        </p:txBody>
      </p:sp>
      <p:sp>
        <p:nvSpPr>
          <p:cNvPr id="44" name="淘宝-想搞设计PPT(倒卖必究)-44"/>
          <p:cNvSpPr/>
          <p:nvPr/>
        </p:nvSpPr>
        <p:spPr>
          <a:xfrm>
            <a:off x="2608486" y="5838704"/>
            <a:ext cx="1396528" cy="415494"/>
          </a:xfrm>
          <a:prstGeom prst="rect">
            <a:avLst/>
          </a:prstGeom>
        </p:spPr>
        <p:txBody>
          <a:bodyPr wrap="none" lIns="91436" tIns="45718" rIns="91436" bIns="45718">
            <a:spAutoFit/>
          </a:bodyPr>
          <a:lstStyle/>
          <a:p>
            <a:pPr algn="ctr"/>
            <a:r>
              <a:rPr lang="zh-CN" altLang="en-US" sz="1050" dirty="0" smtClean="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1050" dirty="0">
                <a:solidFill>
                  <a:schemeClr val="tx1">
                    <a:lumMod val="65000"/>
                    <a:lumOff val="35000"/>
                  </a:schemeClr>
                </a:solidFill>
                <a:latin typeface="微软雅黑" panose="020B0503020204020204" pitchFamily="34" charset="-122"/>
                <a:ea typeface="微软雅黑" panose="020B0503020204020204" pitchFamily="34" charset="-122"/>
              </a:rPr>
              <a:t>验结果与图表解读</a:t>
            </a:r>
          </a:p>
          <a:p>
            <a:pPr algn="ctr"/>
            <a:endParaRPr lang="en-US" altLang="zh-CN" sz="105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5" name="淘宝-想搞设计PPT(倒卖必究)-45"/>
          <p:cNvSpPr txBox="1"/>
          <p:nvPr/>
        </p:nvSpPr>
        <p:spPr>
          <a:xfrm>
            <a:off x="4667288" y="5240174"/>
            <a:ext cx="1980021" cy="523216"/>
          </a:xfrm>
          <a:prstGeom prst="rect">
            <a:avLst/>
          </a:prstGeom>
          <a:noFill/>
        </p:spPr>
        <p:txBody>
          <a:bodyPr wrap="none" lIns="91436" tIns="45718" rIns="91436" bIns="45718" rtlCol="0">
            <a:spAutoFit/>
          </a:bodyPr>
          <a:lstStyle>
            <a:defPPr>
              <a:defRPr lang="zh-CN"/>
            </a:defPPr>
            <a:lvl1pPr>
              <a:defRPr sz="28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solidFill>
                  <a:srgbClr val="7F7F7F"/>
                </a:solidFill>
              </a:rPr>
              <a:t>总</a:t>
            </a:r>
            <a:r>
              <a:rPr lang="zh-CN" altLang="en-US" dirty="0" smtClean="0">
                <a:solidFill>
                  <a:srgbClr val="7F7F7F"/>
                </a:solidFill>
              </a:rPr>
              <a:t>结与展望</a:t>
            </a:r>
            <a:endParaRPr lang="zh-CN" altLang="en-US" dirty="0">
              <a:solidFill>
                <a:srgbClr val="7F7F7F"/>
              </a:solidFill>
            </a:endParaRPr>
          </a:p>
        </p:txBody>
      </p:sp>
      <p:sp>
        <p:nvSpPr>
          <p:cNvPr id="46" name="淘宝-想搞设计PPT(倒卖必究)-46"/>
          <p:cNvSpPr/>
          <p:nvPr/>
        </p:nvSpPr>
        <p:spPr>
          <a:xfrm>
            <a:off x="5047693" y="5842552"/>
            <a:ext cx="1261876" cy="415494"/>
          </a:xfrm>
          <a:prstGeom prst="rect">
            <a:avLst/>
          </a:prstGeom>
        </p:spPr>
        <p:txBody>
          <a:bodyPr wrap="none" lIns="91436" tIns="45718" rIns="91436" bIns="45718">
            <a:spAutoFit/>
          </a:bodyPr>
          <a:lstStyle/>
          <a:p>
            <a:pPr algn="ctr"/>
            <a:r>
              <a:rPr lang="zh-CN" altLang="en-US" sz="1050" dirty="0" smtClean="0">
                <a:solidFill>
                  <a:schemeClr val="tx1">
                    <a:lumMod val="65000"/>
                    <a:lumOff val="35000"/>
                  </a:schemeClr>
                </a:solidFill>
                <a:latin typeface="微软雅黑" panose="020B0503020204020204" pitchFamily="34" charset="-122"/>
                <a:ea typeface="微软雅黑" panose="020B0503020204020204" pitchFamily="34" charset="-122"/>
              </a:rPr>
              <a:t>总</a:t>
            </a:r>
            <a:r>
              <a:rPr lang="zh-CN" altLang="en-US" sz="1050" dirty="0">
                <a:solidFill>
                  <a:schemeClr val="tx1">
                    <a:lumMod val="65000"/>
                    <a:lumOff val="35000"/>
                  </a:schemeClr>
                </a:solidFill>
                <a:latin typeface="微软雅黑" panose="020B0503020204020204" pitchFamily="34" charset="-122"/>
                <a:ea typeface="微软雅黑" panose="020B0503020204020204" pitchFamily="34" charset="-122"/>
              </a:rPr>
              <a:t>结、局限与展望</a:t>
            </a:r>
          </a:p>
          <a:p>
            <a:pPr algn="ctr"/>
            <a:endParaRPr lang="en-US" altLang="zh-CN" sz="105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淘宝-想搞设计PPT(倒卖必究)-7"/>
          <p:cNvSpPr txBox="1"/>
          <p:nvPr/>
        </p:nvSpPr>
        <p:spPr>
          <a:xfrm>
            <a:off x="527377" y="247904"/>
            <a:ext cx="1015663" cy="1758920"/>
          </a:xfrm>
          <a:prstGeom prst="rect">
            <a:avLst/>
          </a:prstGeom>
          <a:noFill/>
        </p:spPr>
        <p:txBody>
          <a:bodyPr vert="eaVert" wrap="square" rtlCol="0">
            <a:spAutoFit/>
          </a:bodyPr>
          <a:lstStyle/>
          <a:p>
            <a:pPr algn="dist"/>
            <a:r>
              <a:rPr lang="zh-CN" altLang="en-US" sz="5400" b="1" dirty="0">
                <a:solidFill>
                  <a:schemeClr val="bg1"/>
                </a:solidFill>
                <a:latin typeface="微软雅黑" panose="020B0503020204020204" pitchFamily="34" charset="-122"/>
                <a:ea typeface="微软雅黑" panose="020B0503020204020204" pitchFamily="34" charset="-122"/>
              </a:rPr>
              <a:t>目录</a:t>
            </a:r>
          </a:p>
        </p:txBody>
      </p:sp>
      <p:pic>
        <p:nvPicPr>
          <p:cNvPr id="123" name="Picture 122" descr="华中科技大学.png"/>
          <p:cNvPicPr>
            <a:picLocks noChangeAspect="1"/>
          </p:cNvPicPr>
          <p:nvPr/>
        </p:nvPicPr>
        <p:blipFill>
          <a:blip r:embed="rId3"/>
          <a:stretch>
            <a:fillRect/>
          </a:stretch>
        </p:blipFill>
        <p:spPr>
          <a:xfrm>
            <a:off x="10237269" y="6203926"/>
            <a:ext cx="1835216" cy="40309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1"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ppt_y</p:attrName>
                                        </p:attrNameLst>
                                      </p:cBhvr>
                                      <p:tavLst>
                                        <p:tav tm="0">
                                          <p:val>
                                            <p:strVal val="#ppt_y+#ppt_h*1.125000"/>
                                          </p:val>
                                        </p:tav>
                                        <p:tav tm="100000">
                                          <p:val>
                                            <p:strVal val="#ppt_y"/>
                                          </p:val>
                                        </p:tav>
                                      </p:tavLst>
                                    </p:anim>
                                    <p:animEffect transition="in" filter="wipe(up)">
                                      <p:cBhvr>
                                        <p:cTn id="8" dur="1000"/>
                                        <p:tgtEl>
                                          <p:spTgt spid="5"/>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p:tgtEl>
                                          <p:spTgt spid="6"/>
                                        </p:tgtEl>
                                        <p:attrNameLst>
                                          <p:attrName>ppt_y</p:attrName>
                                        </p:attrNameLst>
                                      </p:cBhvr>
                                      <p:tavLst>
                                        <p:tav tm="0">
                                          <p:val>
                                            <p:strVal val="#ppt_y-#ppt_h*1.125000"/>
                                          </p:val>
                                        </p:tav>
                                        <p:tav tm="100000">
                                          <p:val>
                                            <p:strVal val="#ppt_y"/>
                                          </p:val>
                                        </p:tav>
                                      </p:tavLst>
                                    </p:anim>
                                    <p:animEffect transition="in" filter="wipe(down)">
                                      <p:cBhvr>
                                        <p:cTn id="12" dur="1000"/>
                                        <p:tgtEl>
                                          <p:spTgt spid="6"/>
                                        </p:tgtEl>
                                      </p:cBhvr>
                                    </p:animEffect>
                                  </p:childTnLst>
                                </p:cTn>
                              </p:par>
                              <p:par>
                                <p:cTn id="13" presetID="12" presetClass="entr" presetSubtype="4" fill="hold" grpId="0"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p:tgtEl>
                                          <p:spTgt spid="7"/>
                                        </p:tgtEl>
                                        <p:attrNameLst>
                                          <p:attrName>ppt_y</p:attrName>
                                        </p:attrNameLst>
                                      </p:cBhvr>
                                      <p:tavLst>
                                        <p:tav tm="0">
                                          <p:val>
                                            <p:strVal val="#ppt_y+#ppt_h*1.125000"/>
                                          </p:val>
                                        </p:tav>
                                        <p:tav tm="100000">
                                          <p:val>
                                            <p:strVal val="#ppt_y"/>
                                          </p:val>
                                        </p:tav>
                                      </p:tavLst>
                                    </p:anim>
                                    <p:animEffect transition="in" filter="wipe(up)">
                                      <p:cBhvr>
                                        <p:cTn id="16" dur="500"/>
                                        <p:tgtEl>
                                          <p:spTgt spid="7"/>
                                        </p:tgtEl>
                                      </p:cBhvr>
                                    </p:animEffect>
                                  </p:childTnLst>
                                </p:cTn>
                              </p:par>
                            </p:childTnLst>
                          </p:cTn>
                        </p:par>
                        <p:par>
                          <p:cTn id="17" fill="hold">
                            <p:stCondLst>
                              <p:cond delay="1000"/>
                            </p:stCondLst>
                            <p:childTnLst>
                              <p:par>
                                <p:cTn id="18" presetID="12" presetClass="entr" presetSubtype="2"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p:tgtEl>
                                          <p:spTgt spid="9"/>
                                        </p:tgtEl>
                                        <p:attrNameLst>
                                          <p:attrName>ppt_x</p:attrName>
                                        </p:attrNameLst>
                                      </p:cBhvr>
                                      <p:tavLst>
                                        <p:tav tm="0">
                                          <p:val>
                                            <p:strVal val="#ppt_x+#ppt_w*1.125000"/>
                                          </p:val>
                                        </p:tav>
                                        <p:tav tm="100000">
                                          <p:val>
                                            <p:strVal val="#ppt_x"/>
                                          </p:val>
                                        </p:tav>
                                      </p:tavLst>
                                    </p:anim>
                                    <p:animEffect transition="in" filter="wipe(left)">
                                      <p:cBhvr>
                                        <p:cTn id="21" dur="500"/>
                                        <p:tgtEl>
                                          <p:spTgt spid="9"/>
                                        </p:tgtEl>
                                      </p:cBhvr>
                                    </p:animEffect>
                                  </p:childTnLst>
                                </p:cTn>
                              </p:par>
                            </p:childTnLst>
                          </p:cTn>
                        </p:par>
                        <p:par>
                          <p:cTn id="22" fill="hold">
                            <p:stCondLst>
                              <p:cond delay="1500"/>
                            </p:stCondLst>
                            <p:childTnLst>
                              <p:par>
                                <p:cTn id="23" presetID="49" presetClass="entr" presetSubtype="0" decel="10000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 calcmode="lin" valueType="num">
                                      <p:cBhvr>
                                        <p:cTn id="27" dur="500" fill="hold"/>
                                        <p:tgtEl>
                                          <p:spTgt spid="2"/>
                                        </p:tgtEl>
                                        <p:attrNameLst>
                                          <p:attrName>style.rotation</p:attrName>
                                        </p:attrNameLst>
                                      </p:cBhvr>
                                      <p:tavLst>
                                        <p:tav tm="0">
                                          <p:val>
                                            <p:fltVal val="360"/>
                                          </p:val>
                                        </p:tav>
                                        <p:tav tm="100000">
                                          <p:val>
                                            <p:fltVal val="0"/>
                                          </p:val>
                                        </p:tav>
                                      </p:tavLst>
                                    </p:anim>
                                    <p:animEffect transition="in" filter="fade">
                                      <p:cBhvr>
                                        <p:cTn id="28" dur="500"/>
                                        <p:tgtEl>
                                          <p:spTgt spid="2"/>
                                        </p:tgtEl>
                                      </p:cBhvr>
                                    </p:animEffect>
                                  </p:childTnLst>
                                </p:cTn>
                              </p:par>
                            </p:childTnLst>
                          </p:cTn>
                        </p:par>
                        <p:par>
                          <p:cTn id="29" fill="hold">
                            <p:stCondLst>
                              <p:cond delay="2000"/>
                            </p:stCondLst>
                            <p:childTnLst>
                              <p:par>
                                <p:cTn id="30" presetID="12" presetClass="entr" presetSubtype="4"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par>
                                <p:cTn id="34" presetID="12" presetClass="entr" presetSubtype="4" fill="hold" grpId="0" nodeType="withEffect">
                                  <p:stCondLst>
                                    <p:cond delay="20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p:tgtEl>
                                          <p:spTgt spid="24"/>
                                        </p:tgtEl>
                                        <p:attrNameLst>
                                          <p:attrName>ppt_y</p:attrName>
                                        </p:attrNameLst>
                                      </p:cBhvr>
                                      <p:tavLst>
                                        <p:tav tm="0">
                                          <p:val>
                                            <p:strVal val="#ppt_y+#ppt_h*1.125000"/>
                                          </p:val>
                                        </p:tav>
                                        <p:tav tm="100000">
                                          <p:val>
                                            <p:strVal val="#ppt_y"/>
                                          </p:val>
                                        </p:tav>
                                      </p:tavLst>
                                    </p:anim>
                                    <p:animEffect transition="in" filter="wipe(up)">
                                      <p:cBhvr>
                                        <p:cTn id="37" dur="500"/>
                                        <p:tgtEl>
                                          <p:spTgt spid="24"/>
                                        </p:tgtEl>
                                      </p:cBhvr>
                                    </p:animEffect>
                                  </p:childTnLst>
                                </p:cTn>
                              </p:par>
                            </p:childTnLst>
                          </p:cTn>
                        </p:par>
                        <p:par>
                          <p:cTn id="38" fill="hold">
                            <p:stCondLst>
                              <p:cond delay="2500"/>
                            </p:stCondLst>
                            <p:childTnLst>
                              <p:par>
                                <p:cTn id="39" presetID="49" presetClass="entr" presetSubtype="0" decel="100000"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p:cTn id="41" dur="500" fill="hold"/>
                                        <p:tgtEl>
                                          <p:spTgt spid="3"/>
                                        </p:tgtEl>
                                        <p:attrNameLst>
                                          <p:attrName>ppt_w</p:attrName>
                                        </p:attrNameLst>
                                      </p:cBhvr>
                                      <p:tavLst>
                                        <p:tav tm="0">
                                          <p:val>
                                            <p:fltVal val="0"/>
                                          </p:val>
                                        </p:tav>
                                        <p:tav tm="100000">
                                          <p:val>
                                            <p:strVal val="#ppt_w"/>
                                          </p:val>
                                        </p:tav>
                                      </p:tavLst>
                                    </p:anim>
                                    <p:anim calcmode="lin" valueType="num">
                                      <p:cBhvr>
                                        <p:cTn id="42" dur="500" fill="hold"/>
                                        <p:tgtEl>
                                          <p:spTgt spid="3"/>
                                        </p:tgtEl>
                                        <p:attrNameLst>
                                          <p:attrName>ppt_h</p:attrName>
                                        </p:attrNameLst>
                                      </p:cBhvr>
                                      <p:tavLst>
                                        <p:tav tm="0">
                                          <p:val>
                                            <p:fltVal val="0"/>
                                          </p:val>
                                        </p:tav>
                                        <p:tav tm="100000">
                                          <p:val>
                                            <p:strVal val="#ppt_h"/>
                                          </p:val>
                                        </p:tav>
                                      </p:tavLst>
                                    </p:anim>
                                    <p:anim calcmode="lin" valueType="num">
                                      <p:cBhvr>
                                        <p:cTn id="43" dur="500" fill="hold"/>
                                        <p:tgtEl>
                                          <p:spTgt spid="3"/>
                                        </p:tgtEl>
                                        <p:attrNameLst>
                                          <p:attrName>style.rotation</p:attrName>
                                        </p:attrNameLst>
                                      </p:cBhvr>
                                      <p:tavLst>
                                        <p:tav tm="0">
                                          <p:val>
                                            <p:fltVal val="360"/>
                                          </p:val>
                                        </p:tav>
                                        <p:tav tm="100000">
                                          <p:val>
                                            <p:fltVal val="0"/>
                                          </p:val>
                                        </p:tav>
                                      </p:tavLst>
                                    </p:anim>
                                    <p:animEffect transition="in" filter="fade">
                                      <p:cBhvr>
                                        <p:cTn id="44" dur="500"/>
                                        <p:tgtEl>
                                          <p:spTgt spid="3"/>
                                        </p:tgtEl>
                                      </p:cBhvr>
                                    </p:animEffect>
                                  </p:childTnLst>
                                </p:cTn>
                              </p:par>
                            </p:childTnLst>
                          </p:cTn>
                        </p:par>
                        <p:par>
                          <p:cTn id="45" fill="hold">
                            <p:stCondLst>
                              <p:cond delay="3000"/>
                            </p:stCondLst>
                            <p:childTnLst>
                              <p:par>
                                <p:cTn id="46" presetID="12" presetClass="entr" presetSubtype="4"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p:tgtEl>
                                          <p:spTgt spid="25"/>
                                        </p:tgtEl>
                                        <p:attrNameLst>
                                          <p:attrName>ppt_y</p:attrName>
                                        </p:attrNameLst>
                                      </p:cBhvr>
                                      <p:tavLst>
                                        <p:tav tm="0">
                                          <p:val>
                                            <p:strVal val="#ppt_y+#ppt_h*1.125000"/>
                                          </p:val>
                                        </p:tav>
                                        <p:tav tm="100000">
                                          <p:val>
                                            <p:strVal val="#ppt_y"/>
                                          </p:val>
                                        </p:tav>
                                      </p:tavLst>
                                    </p:anim>
                                    <p:animEffect transition="in" filter="wipe(up)">
                                      <p:cBhvr>
                                        <p:cTn id="49" dur="500"/>
                                        <p:tgtEl>
                                          <p:spTgt spid="25"/>
                                        </p:tgtEl>
                                      </p:cBhvr>
                                    </p:animEffect>
                                  </p:childTnLst>
                                </p:cTn>
                              </p:par>
                              <p:par>
                                <p:cTn id="50" presetID="12" presetClass="entr" presetSubtype="4" fill="hold" grpId="0" nodeType="withEffect">
                                  <p:stCondLst>
                                    <p:cond delay="200"/>
                                  </p:stCondLst>
                                  <p:childTnLst>
                                    <p:set>
                                      <p:cBhvr>
                                        <p:cTn id="51" dur="1" fill="hold">
                                          <p:stCondLst>
                                            <p:cond delay="0"/>
                                          </p:stCondLst>
                                        </p:cTn>
                                        <p:tgtEl>
                                          <p:spTgt spid="26"/>
                                        </p:tgtEl>
                                        <p:attrNameLst>
                                          <p:attrName>style.visibility</p:attrName>
                                        </p:attrNameLst>
                                      </p:cBhvr>
                                      <p:to>
                                        <p:strVal val="visible"/>
                                      </p:to>
                                    </p:set>
                                    <p:anim calcmode="lin" valueType="num">
                                      <p:cBhvr additive="base">
                                        <p:cTn id="52" dur="500"/>
                                        <p:tgtEl>
                                          <p:spTgt spid="26"/>
                                        </p:tgtEl>
                                        <p:attrNameLst>
                                          <p:attrName>ppt_y</p:attrName>
                                        </p:attrNameLst>
                                      </p:cBhvr>
                                      <p:tavLst>
                                        <p:tav tm="0">
                                          <p:val>
                                            <p:strVal val="#ppt_y+#ppt_h*1.125000"/>
                                          </p:val>
                                        </p:tav>
                                        <p:tav tm="100000">
                                          <p:val>
                                            <p:strVal val="#ppt_y"/>
                                          </p:val>
                                        </p:tav>
                                      </p:tavLst>
                                    </p:anim>
                                    <p:animEffect transition="in" filter="wipe(up)">
                                      <p:cBhvr>
                                        <p:cTn id="53" dur="500"/>
                                        <p:tgtEl>
                                          <p:spTgt spid="26"/>
                                        </p:tgtEl>
                                      </p:cBhvr>
                                    </p:animEffect>
                                  </p:childTnLst>
                                </p:cTn>
                              </p:par>
                            </p:childTnLst>
                          </p:cTn>
                        </p:par>
                        <p:par>
                          <p:cTn id="54" fill="hold">
                            <p:stCondLst>
                              <p:cond delay="3500"/>
                            </p:stCondLst>
                            <p:childTnLst>
                              <p:par>
                                <p:cTn id="55" presetID="49" presetClass="entr" presetSubtype="0" decel="100000"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 calcmode="lin" valueType="num">
                                      <p:cBhvr>
                                        <p:cTn id="59" dur="500" fill="hold"/>
                                        <p:tgtEl>
                                          <p:spTgt spid="8"/>
                                        </p:tgtEl>
                                        <p:attrNameLst>
                                          <p:attrName>style.rotation</p:attrName>
                                        </p:attrNameLst>
                                      </p:cBhvr>
                                      <p:tavLst>
                                        <p:tav tm="0">
                                          <p:val>
                                            <p:fltVal val="360"/>
                                          </p:val>
                                        </p:tav>
                                        <p:tav tm="100000">
                                          <p:val>
                                            <p:fltVal val="0"/>
                                          </p:val>
                                        </p:tav>
                                      </p:tavLst>
                                    </p:anim>
                                    <p:animEffect transition="in" filter="fade">
                                      <p:cBhvr>
                                        <p:cTn id="60" dur="500"/>
                                        <p:tgtEl>
                                          <p:spTgt spid="8"/>
                                        </p:tgtEl>
                                      </p:cBhvr>
                                    </p:animEffect>
                                  </p:childTnLst>
                                </p:cTn>
                              </p:par>
                            </p:childTnLst>
                          </p:cTn>
                        </p:par>
                        <p:par>
                          <p:cTn id="61" fill="hold">
                            <p:stCondLst>
                              <p:cond delay="4000"/>
                            </p:stCondLst>
                            <p:childTnLst>
                              <p:par>
                                <p:cTn id="62" presetID="12" presetClass="entr" presetSubtype="4" fill="hold" grpId="0" nodeType="afterEffect">
                                  <p:stCondLst>
                                    <p:cond delay="0"/>
                                  </p:stCondLst>
                                  <p:childTnLst>
                                    <p:set>
                                      <p:cBhvr>
                                        <p:cTn id="63" dur="1" fill="hold">
                                          <p:stCondLst>
                                            <p:cond delay="0"/>
                                          </p:stCondLst>
                                        </p:cTn>
                                        <p:tgtEl>
                                          <p:spTgt spid="27"/>
                                        </p:tgtEl>
                                        <p:attrNameLst>
                                          <p:attrName>style.visibility</p:attrName>
                                        </p:attrNameLst>
                                      </p:cBhvr>
                                      <p:to>
                                        <p:strVal val="visible"/>
                                      </p:to>
                                    </p:set>
                                    <p:anim calcmode="lin" valueType="num">
                                      <p:cBhvr additive="base">
                                        <p:cTn id="64" dur="500"/>
                                        <p:tgtEl>
                                          <p:spTgt spid="27"/>
                                        </p:tgtEl>
                                        <p:attrNameLst>
                                          <p:attrName>ppt_y</p:attrName>
                                        </p:attrNameLst>
                                      </p:cBhvr>
                                      <p:tavLst>
                                        <p:tav tm="0">
                                          <p:val>
                                            <p:strVal val="#ppt_y+#ppt_h*1.125000"/>
                                          </p:val>
                                        </p:tav>
                                        <p:tav tm="100000">
                                          <p:val>
                                            <p:strVal val="#ppt_y"/>
                                          </p:val>
                                        </p:tav>
                                      </p:tavLst>
                                    </p:anim>
                                    <p:animEffect transition="in" filter="wipe(up)">
                                      <p:cBhvr>
                                        <p:cTn id="65" dur="500"/>
                                        <p:tgtEl>
                                          <p:spTgt spid="27"/>
                                        </p:tgtEl>
                                      </p:cBhvr>
                                    </p:animEffect>
                                  </p:childTnLst>
                                </p:cTn>
                              </p:par>
                              <p:par>
                                <p:cTn id="66" presetID="12" presetClass="entr" presetSubtype="4" fill="hold" grpId="0" nodeType="withEffect">
                                  <p:stCondLst>
                                    <p:cond delay="200"/>
                                  </p:stCondLst>
                                  <p:childTnLst>
                                    <p:set>
                                      <p:cBhvr>
                                        <p:cTn id="67" dur="1" fill="hold">
                                          <p:stCondLst>
                                            <p:cond delay="0"/>
                                          </p:stCondLst>
                                        </p:cTn>
                                        <p:tgtEl>
                                          <p:spTgt spid="28"/>
                                        </p:tgtEl>
                                        <p:attrNameLst>
                                          <p:attrName>style.visibility</p:attrName>
                                        </p:attrNameLst>
                                      </p:cBhvr>
                                      <p:to>
                                        <p:strVal val="visible"/>
                                      </p:to>
                                    </p:set>
                                    <p:anim calcmode="lin" valueType="num">
                                      <p:cBhvr additive="base">
                                        <p:cTn id="68" dur="500"/>
                                        <p:tgtEl>
                                          <p:spTgt spid="28"/>
                                        </p:tgtEl>
                                        <p:attrNameLst>
                                          <p:attrName>ppt_y</p:attrName>
                                        </p:attrNameLst>
                                      </p:cBhvr>
                                      <p:tavLst>
                                        <p:tav tm="0">
                                          <p:val>
                                            <p:strVal val="#ppt_y+#ppt_h*1.125000"/>
                                          </p:val>
                                        </p:tav>
                                        <p:tav tm="100000">
                                          <p:val>
                                            <p:strVal val="#ppt_y"/>
                                          </p:val>
                                        </p:tav>
                                      </p:tavLst>
                                    </p:anim>
                                    <p:animEffect transition="in" filter="wipe(up)">
                                      <p:cBhvr>
                                        <p:cTn id="69" dur="500"/>
                                        <p:tgtEl>
                                          <p:spTgt spid="28"/>
                                        </p:tgtEl>
                                      </p:cBhvr>
                                    </p:animEffect>
                                  </p:childTnLst>
                                </p:cTn>
                              </p:par>
                            </p:childTnLst>
                          </p:cTn>
                        </p:par>
                        <p:par>
                          <p:cTn id="70" fill="hold">
                            <p:stCondLst>
                              <p:cond delay="4500"/>
                            </p:stCondLst>
                            <p:childTnLst>
                              <p:par>
                                <p:cTn id="71" presetID="12" presetClass="entr" presetSubtype="8" fill="hold" nodeType="after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additive="base">
                                        <p:cTn id="73" dur="500"/>
                                        <p:tgtEl>
                                          <p:spTgt spid="30"/>
                                        </p:tgtEl>
                                        <p:attrNameLst>
                                          <p:attrName>ppt_x</p:attrName>
                                        </p:attrNameLst>
                                      </p:cBhvr>
                                      <p:tavLst>
                                        <p:tav tm="0">
                                          <p:val>
                                            <p:strVal val="#ppt_x-#ppt_w*1.125000"/>
                                          </p:val>
                                        </p:tav>
                                        <p:tav tm="100000">
                                          <p:val>
                                            <p:strVal val="#ppt_x"/>
                                          </p:val>
                                        </p:tav>
                                      </p:tavLst>
                                    </p:anim>
                                    <p:animEffect transition="in" filter="wipe(right)">
                                      <p:cBhvr>
                                        <p:cTn id="74" dur="500"/>
                                        <p:tgtEl>
                                          <p:spTgt spid="30"/>
                                        </p:tgtEl>
                                      </p:cBhvr>
                                    </p:animEffect>
                                  </p:childTnLst>
                                </p:cTn>
                              </p:par>
                            </p:childTnLst>
                          </p:cTn>
                        </p:par>
                        <p:par>
                          <p:cTn id="75" fill="hold">
                            <p:stCondLst>
                              <p:cond delay="5000"/>
                            </p:stCondLst>
                            <p:childTnLst>
                              <p:par>
                                <p:cTn id="76" presetID="49" presetClass="entr" presetSubtype="0" decel="100000" fill="hold" nodeType="afterEffect">
                                  <p:stCondLst>
                                    <p:cond delay="0"/>
                                  </p:stCondLst>
                                  <p:childTnLst>
                                    <p:set>
                                      <p:cBhvr>
                                        <p:cTn id="77" dur="1" fill="hold">
                                          <p:stCondLst>
                                            <p:cond delay="0"/>
                                          </p:stCondLst>
                                        </p:cTn>
                                        <p:tgtEl>
                                          <p:spTgt spid="10"/>
                                        </p:tgtEl>
                                        <p:attrNameLst>
                                          <p:attrName>style.visibility</p:attrName>
                                        </p:attrNameLst>
                                      </p:cBhvr>
                                      <p:to>
                                        <p:strVal val="visible"/>
                                      </p:to>
                                    </p:set>
                                    <p:anim calcmode="lin" valueType="num">
                                      <p:cBhvr>
                                        <p:cTn id="78" dur="500" fill="hold"/>
                                        <p:tgtEl>
                                          <p:spTgt spid="10"/>
                                        </p:tgtEl>
                                        <p:attrNameLst>
                                          <p:attrName>ppt_w</p:attrName>
                                        </p:attrNameLst>
                                      </p:cBhvr>
                                      <p:tavLst>
                                        <p:tav tm="0">
                                          <p:val>
                                            <p:fltVal val="0"/>
                                          </p:val>
                                        </p:tav>
                                        <p:tav tm="100000">
                                          <p:val>
                                            <p:strVal val="#ppt_w"/>
                                          </p:val>
                                        </p:tav>
                                      </p:tavLst>
                                    </p:anim>
                                    <p:anim calcmode="lin" valueType="num">
                                      <p:cBhvr>
                                        <p:cTn id="79" dur="500" fill="hold"/>
                                        <p:tgtEl>
                                          <p:spTgt spid="10"/>
                                        </p:tgtEl>
                                        <p:attrNameLst>
                                          <p:attrName>ppt_h</p:attrName>
                                        </p:attrNameLst>
                                      </p:cBhvr>
                                      <p:tavLst>
                                        <p:tav tm="0">
                                          <p:val>
                                            <p:fltVal val="0"/>
                                          </p:val>
                                        </p:tav>
                                        <p:tav tm="100000">
                                          <p:val>
                                            <p:strVal val="#ppt_h"/>
                                          </p:val>
                                        </p:tav>
                                      </p:tavLst>
                                    </p:anim>
                                    <p:anim calcmode="lin" valueType="num">
                                      <p:cBhvr>
                                        <p:cTn id="80" dur="500" fill="hold"/>
                                        <p:tgtEl>
                                          <p:spTgt spid="10"/>
                                        </p:tgtEl>
                                        <p:attrNameLst>
                                          <p:attrName>style.rotation</p:attrName>
                                        </p:attrNameLst>
                                      </p:cBhvr>
                                      <p:tavLst>
                                        <p:tav tm="0">
                                          <p:val>
                                            <p:fltVal val="360"/>
                                          </p:val>
                                        </p:tav>
                                        <p:tav tm="100000">
                                          <p:val>
                                            <p:fltVal val="0"/>
                                          </p:val>
                                        </p:tav>
                                      </p:tavLst>
                                    </p:anim>
                                    <p:animEffect transition="in" filter="fade">
                                      <p:cBhvr>
                                        <p:cTn id="81" dur="500"/>
                                        <p:tgtEl>
                                          <p:spTgt spid="10"/>
                                        </p:tgtEl>
                                      </p:cBhvr>
                                    </p:animEffect>
                                  </p:childTnLst>
                                </p:cTn>
                              </p:par>
                            </p:childTnLst>
                          </p:cTn>
                        </p:par>
                        <p:par>
                          <p:cTn id="82" fill="hold">
                            <p:stCondLst>
                              <p:cond delay="5500"/>
                            </p:stCondLst>
                            <p:childTnLst>
                              <p:par>
                                <p:cTn id="83" presetID="12" presetClass="entr" presetSubtype="4" fill="hold" grpId="0" nodeType="afterEffect">
                                  <p:stCondLst>
                                    <p:cond delay="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500"/>
                                        <p:tgtEl>
                                          <p:spTgt spid="43"/>
                                        </p:tgtEl>
                                        <p:attrNameLst>
                                          <p:attrName>ppt_y</p:attrName>
                                        </p:attrNameLst>
                                      </p:cBhvr>
                                      <p:tavLst>
                                        <p:tav tm="0">
                                          <p:val>
                                            <p:strVal val="#ppt_y+#ppt_h*1.125000"/>
                                          </p:val>
                                        </p:tav>
                                        <p:tav tm="100000">
                                          <p:val>
                                            <p:strVal val="#ppt_y"/>
                                          </p:val>
                                        </p:tav>
                                      </p:tavLst>
                                    </p:anim>
                                    <p:animEffect transition="in" filter="wipe(up)">
                                      <p:cBhvr>
                                        <p:cTn id="86" dur="500"/>
                                        <p:tgtEl>
                                          <p:spTgt spid="43"/>
                                        </p:tgtEl>
                                      </p:cBhvr>
                                    </p:animEffect>
                                  </p:childTnLst>
                                </p:cTn>
                              </p:par>
                              <p:par>
                                <p:cTn id="87" presetID="12" presetClass="entr" presetSubtype="4" fill="hold" grpId="0" nodeType="withEffect">
                                  <p:stCondLst>
                                    <p:cond delay="200"/>
                                  </p:stCondLst>
                                  <p:childTnLst>
                                    <p:set>
                                      <p:cBhvr>
                                        <p:cTn id="88" dur="1" fill="hold">
                                          <p:stCondLst>
                                            <p:cond delay="0"/>
                                          </p:stCondLst>
                                        </p:cTn>
                                        <p:tgtEl>
                                          <p:spTgt spid="44"/>
                                        </p:tgtEl>
                                        <p:attrNameLst>
                                          <p:attrName>style.visibility</p:attrName>
                                        </p:attrNameLst>
                                      </p:cBhvr>
                                      <p:to>
                                        <p:strVal val="visible"/>
                                      </p:to>
                                    </p:set>
                                    <p:anim calcmode="lin" valueType="num">
                                      <p:cBhvr additive="base">
                                        <p:cTn id="89" dur="500"/>
                                        <p:tgtEl>
                                          <p:spTgt spid="44"/>
                                        </p:tgtEl>
                                        <p:attrNameLst>
                                          <p:attrName>ppt_y</p:attrName>
                                        </p:attrNameLst>
                                      </p:cBhvr>
                                      <p:tavLst>
                                        <p:tav tm="0">
                                          <p:val>
                                            <p:strVal val="#ppt_y+#ppt_h*1.125000"/>
                                          </p:val>
                                        </p:tav>
                                        <p:tav tm="100000">
                                          <p:val>
                                            <p:strVal val="#ppt_y"/>
                                          </p:val>
                                        </p:tav>
                                      </p:tavLst>
                                    </p:anim>
                                    <p:animEffect transition="in" filter="wipe(up)">
                                      <p:cBhvr>
                                        <p:cTn id="90" dur="500"/>
                                        <p:tgtEl>
                                          <p:spTgt spid="44"/>
                                        </p:tgtEl>
                                      </p:cBhvr>
                                    </p:animEffect>
                                  </p:childTnLst>
                                </p:cTn>
                              </p:par>
                            </p:childTnLst>
                          </p:cTn>
                        </p:par>
                        <p:par>
                          <p:cTn id="91" fill="hold">
                            <p:stCondLst>
                              <p:cond delay="6000"/>
                            </p:stCondLst>
                            <p:childTnLst>
                              <p:par>
                                <p:cTn id="92" presetID="49" presetClass="entr" presetSubtype="0" decel="100000" fill="hold" nodeType="afterEffect">
                                  <p:stCondLst>
                                    <p:cond delay="0"/>
                                  </p:stCondLst>
                                  <p:childTnLst>
                                    <p:set>
                                      <p:cBhvr>
                                        <p:cTn id="93" dur="1" fill="hold">
                                          <p:stCondLst>
                                            <p:cond delay="0"/>
                                          </p:stCondLst>
                                        </p:cTn>
                                        <p:tgtEl>
                                          <p:spTgt spid="14"/>
                                        </p:tgtEl>
                                        <p:attrNameLst>
                                          <p:attrName>style.visibility</p:attrName>
                                        </p:attrNameLst>
                                      </p:cBhvr>
                                      <p:to>
                                        <p:strVal val="visible"/>
                                      </p:to>
                                    </p:set>
                                    <p:anim calcmode="lin" valueType="num">
                                      <p:cBhvr>
                                        <p:cTn id="94" dur="500" fill="hold"/>
                                        <p:tgtEl>
                                          <p:spTgt spid="14"/>
                                        </p:tgtEl>
                                        <p:attrNameLst>
                                          <p:attrName>ppt_w</p:attrName>
                                        </p:attrNameLst>
                                      </p:cBhvr>
                                      <p:tavLst>
                                        <p:tav tm="0">
                                          <p:val>
                                            <p:fltVal val="0"/>
                                          </p:val>
                                        </p:tav>
                                        <p:tav tm="100000">
                                          <p:val>
                                            <p:strVal val="#ppt_w"/>
                                          </p:val>
                                        </p:tav>
                                      </p:tavLst>
                                    </p:anim>
                                    <p:anim calcmode="lin" valueType="num">
                                      <p:cBhvr>
                                        <p:cTn id="95" dur="500" fill="hold"/>
                                        <p:tgtEl>
                                          <p:spTgt spid="14"/>
                                        </p:tgtEl>
                                        <p:attrNameLst>
                                          <p:attrName>ppt_h</p:attrName>
                                        </p:attrNameLst>
                                      </p:cBhvr>
                                      <p:tavLst>
                                        <p:tav tm="0">
                                          <p:val>
                                            <p:fltVal val="0"/>
                                          </p:val>
                                        </p:tav>
                                        <p:tav tm="100000">
                                          <p:val>
                                            <p:strVal val="#ppt_h"/>
                                          </p:val>
                                        </p:tav>
                                      </p:tavLst>
                                    </p:anim>
                                    <p:anim calcmode="lin" valueType="num">
                                      <p:cBhvr>
                                        <p:cTn id="96" dur="500" fill="hold"/>
                                        <p:tgtEl>
                                          <p:spTgt spid="14"/>
                                        </p:tgtEl>
                                        <p:attrNameLst>
                                          <p:attrName>style.rotation</p:attrName>
                                        </p:attrNameLst>
                                      </p:cBhvr>
                                      <p:tavLst>
                                        <p:tav tm="0">
                                          <p:val>
                                            <p:fltVal val="360"/>
                                          </p:val>
                                        </p:tav>
                                        <p:tav tm="100000">
                                          <p:val>
                                            <p:fltVal val="0"/>
                                          </p:val>
                                        </p:tav>
                                      </p:tavLst>
                                    </p:anim>
                                    <p:animEffect transition="in" filter="fade">
                                      <p:cBhvr>
                                        <p:cTn id="97" dur="500"/>
                                        <p:tgtEl>
                                          <p:spTgt spid="14"/>
                                        </p:tgtEl>
                                      </p:cBhvr>
                                    </p:animEffect>
                                  </p:childTnLst>
                                </p:cTn>
                              </p:par>
                            </p:childTnLst>
                          </p:cTn>
                        </p:par>
                        <p:par>
                          <p:cTn id="98" fill="hold">
                            <p:stCondLst>
                              <p:cond delay="6500"/>
                            </p:stCondLst>
                            <p:childTnLst>
                              <p:par>
                                <p:cTn id="99" presetID="12" presetClass="entr" presetSubtype="4" fill="hold" grpId="0" nodeType="afterEffect">
                                  <p:stCondLst>
                                    <p:cond delay="0"/>
                                  </p:stCondLst>
                                  <p:childTnLst>
                                    <p:set>
                                      <p:cBhvr>
                                        <p:cTn id="100" dur="1" fill="hold">
                                          <p:stCondLst>
                                            <p:cond delay="0"/>
                                          </p:stCondLst>
                                        </p:cTn>
                                        <p:tgtEl>
                                          <p:spTgt spid="45"/>
                                        </p:tgtEl>
                                        <p:attrNameLst>
                                          <p:attrName>style.visibility</p:attrName>
                                        </p:attrNameLst>
                                      </p:cBhvr>
                                      <p:to>
                                        <p:strVal val="visible"/>
                                      </p:to>
                                    </p:set>
                                    <p:anim calcmode="lin" valueType="num">
                                      <p:cBhvr additive="base">
                                        <p:cTn id="101" dur="500"/>
                                        <p:tgtEl>
                                          <p:spTgt spid="45"/>
                                        </p:tgtEl>
                                        <p:attrNameLst>
                                          <p:attrName>ppt_y</p:attrName>
                                        </p:attrNameLst>
                                      </p:cBhvr>
                                      <p:tavLst>
                                        <p:tav tm="0">
                                          <p:val>
                                            <p:strVal val="#ppt_y+#ppt_h*1.125000"/>
                                          </p:val>
                                        </p:tav>
                                        <p:tav tm="100000">
                                          <p:val>
                                            <p:strVal val="#ppt_y"/>
                                          </p:val>
                                        </p:tav>
                                      </p:tavLst>
                                    </p:anim>
                                    <p:animEffect transition="in" filter="wipe(up)">
                                      <p:cBhvr>
                                        <p:cTn id="102" dur="500"/>
                                        <p:tgtEl>
                                          <p:spTgt spid="45"/>
                                        </p:tgtEl>
                                      </p:cBhvr>
                                    </p:animEffect>
                                  </p:childTnLst>
                                </p:cTn>
                              </p:par>
                              <p:par>
                                <p:cTn id="103" presetID="12" presetClass="entr" presetSubtype="4" fill="hold" grpId="0" nodeType="withEffect">
                                  <p:stCondLst>
                                    <p:cond delay="200"/>
                                  </p:stCondLst>
                                  <p:childTnLst>
                                    <p:set>
                                      <p:cBhvr>
                                        <p:cTn id="104" dur="1" fill="hold">
                                          <p:stCondLst>
                                            <p:cond delay="0"/>
                                          </p:stCondLst>
                                        </p:cTn>
                                        <p:tgtEl>
                                          <p:spTgt spid="46"/>
                                        </p:tgtEl>
                                        <p:attrNameLst>
                                          <p:attrName>style.visibility</p:attrName>
                                        </p:attrNameLst>
                                      </p:cBhvr>
                                      <p:to>
                                        <p:strVal val="visible"/>
                                      </p:to>
                                    </p:set>
                                    <p:anim calcmode="lin" valueType="num">
                                      <p:cBhvr additive="base">
                                        <p:cTn id="105" dur="500"/>
                                        <p:tgtEl>
                                          <p:spTgt spid="46"/>
                                        </p:tgtEl>
                                        <p:attrNameLst>
                                          <p:attrName>ppt_y</p:attrName>
                                        </p:attrNameLst>
                                      </p:cBhvr>
                                      <p:tavLst>
                                        <p:tav tm="0">
                                          <p:val>
                                            <p:strVal val="#ppt_y+#ppt_h*1.125000"/>
                                          </p:val>
                                        </p:tav>
                                        <p:tav tm="100000">
                                          <p:val>
                                            <p:strVal val="#ppt_y"/>
                                          </p:val>
                                        </p:tav>
                                      </p:tavLst>
                                    </p:anim>
                                    <p:animEffect transition="in" filter="wipe(up)">
                                      <p:cBhvr>
                                        <p:cTn id="10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5" grpId="1" animBg="1"/>
      <p:bldP spid="6" grpId="0" animBg="1"/>
      <p:bldP spid="43" grpId="0"/>
      <p:bldP spid="44" grpId="0"/>
      <p:bldP spid="45" grpId="0"/>
      <p:bldP spid="4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淘宝-想搞设计PPT(倒卖必究)-11"/>
          <p:cNvSpPr/>
          <p:nvPr/>
        </p:nvSpPr>
        <p:spPr>
          <a:xfrm>
            <a:off x="2857500" y="2686050"/>
            <a:ext cx="9334500" cy="12954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淘宝-想搞设计PPT(倒卖必究)-12"/>
          <p:cNvSpPr/>
          <p:nvPr/>
        </p:nvSpPr>
        <p:spPr>
          <a:xfrm>
            <a:off x="2857500" y="4133850"/>
            <a:ext cx="8210550" cy="952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p:grpSpPr>
        <p:sp>
          <p:nvSpPr>
            <p:cNvPr id="10" name="淘宝-想搞设计PPT(倒卖必究)-10"/>
            <p:cNvSpPr/>
            <p:nvPr/>
          </p:nvSpPr>
          <p:spPr>
            <a:xfrm>
              <a:off x="1123950" y="2686050"/>
              <a:ext cx="1543050" cy="15430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淘宝-想搞设计PPT(倒卖必究)-14"/>
            <p:cNvSpPr txBox="1"/>
            <p:nvPr/>
          </p:nvSpPr>
          <p:spPr>
            <a:xfrm>
              <a:off x="1407285" y="2903577"/>
              <a:ext cx="976380" cy="1107996"/>
            </a:xfrm>
            <a:prstGeom prst="rect">
              <a:avLst/>
            </a:prstGeom>
            <a:no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1</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5" name="淘宝-想搞设计PPT(倒卖必究)-15"/>
          <p:cNvSpPr txBox="1"/>
          <p:nvPr/>
        </p:nvSpPr>
        <p:spPr>
          <a:xfrm>
            <a:off x="2950335" y="2781038"/>
            <a:ext cx="2646870" cy="830993"/>
          </a:xfrm>
          <a:prstGeom prst="rect">
            <a:avLst/>
          </a:prstGeom>
          <a:noFill/>
        </p:spPr>
        <p:txBody>
          <a:bodyPr wrap="none" lIns="91436" tIns="45718" rIns="91436" bIns="45718" rtlCol="0">
            <a:spAutoFit/>
          </a:bodyPr>
          <a:lstStyle/>
          <a:p>
            <a:r>
              <a:rPr lang="zh-CN" altLang="en-US" sz="4800" dirty="0">
                <a:solidFill>
                  <a:schemeClr val="bg1"/>
                </a:solidFill>
                <a:latin typeface="微软雅黑" panose="020B0503020204020204" pitchFamily="34" charset="-122"/>
                <a:ea typeface="微软雅黑" panose="020B0503020204020204" pitchFamily="34" charset="-122"/>
              </a:rPr>
              <a:t>研究背景</a:t>
            </a:r>
          </a:p>
        </p:txBody>
      </p:sp>
      <p:sp>
        <p:nvSpPr>
          <p:cNvPr id="16" name="淘宝-想搞设计PPT(倒卖必究)-16"/>
          <p:cNvSpPr/>
          <p:nvPr/>
        </p:nvSpPr>
        <p:spPr>
          <a:xfrm>
            <a:off x="3098404" y="3581999"/>
            <a:ext cx="2262150" cy="646327"/>
          </a:xfrm>
          <a:prstGeom prst="rect">
            <a:avLst/>
          </a:prstGeom>
        </p:spPr>
        <p:txBody>
          <a:bodyPr wrap="none" lIns="91436" tIns="45718" rIns="91436" bIns="45718">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项</a:t>
            </a:r>
            <a:r>
              <a:rPr lang="zh-CN" altLang="en-US" dirty="0">
                <a:solidFill>
                  <a:schemeClr val="bg1"/>
                </a:solidFill>
                <a:latin typeface="微软雅黑" panose="020B0503020204020204" pitchFamily="34" charset="-122"/>
                <a:ea typeface="微软雅黑" panose="020B0503020204020204" pitchFamily="34" charset="-122"/>
              </a:rPr>
              <a:t>目背景与任务拆解</a:t>
            </a:r>
          </a:p>
          <a:p>
            <a:pPr algn="ctr"/>
            <a:endParaRPr lang="en-US" altLang="zh-CN" dirty="0">
              <a:solidFill>
                <a:schemeClr val="bg1"/>
              </a:solidFill>
              <a:latin typeface="微软雅黑" panose="020B0503020204020204" pitchFamily="34" charset="-122"/>
              <a:ea typeface="微软雅黑" panose="020B0503020204020204" pitchFamily="34" charset="-122"/>
            </a:endParaRPr>
          </a:p>
        </p:txBody>
      </p:sp>
      <p:pic>
        <p:nvPicPr>
          <p:cNvPr id="27" name="Picture 26" descr="华中科技大学.png"/>
          <p:cNvPicPr>
            <a:picLocks noChangeAspect="1"/>
          </p:cNvPicPr>
          <p:nvPr/>
        </p:nvPicPr>
        <p:blipFill>
          <a:blip r:embed="rId3"/>
          <a:stretch>
            <a:fillRect/>
          </a:stretch>
        </p:blipFill>
        <p:spPr>
          <a:xfrm>
            <a:off x="10150442" y="6225192"/>
            <a:ext cx="1835216" cy="40309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12" presetClass="entr" presetSubtype="2"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ppt_x</p:attrName>
                                        </p:attrNameLst>
                                      </p:cBhvr>
                                      <p:tavLst>
                                        <p:tav tm="0">
                                          <p:val>
                                            <p:strVal val="#ppt_x+#ppt_w*1.125000"/>
                                          </p:val>
                                        </p:tav>
                                        <p:tav tm="100000">
                                          <p:val>
                                            <p:strVal val="#ppt_x"/>
                                          </p:val>
                                        </p:tav>
                                      </p:tavLst>
                                    </p:anim>
                                    <p:animEffect transition="in" filter="wipe(left)">
                                      <p:cBhvr>
                                        <p:cTn id="14" dur="500"/>
                                        <p:tgtEl>
                                          <p:spTgt spid="11"/>
                                        </p:tgtEl>
                                      </p:cBhvr>
                                    </p:animEffect>
                                  </p:childTnLst>
                                </p:cTn>
                              </p:par>
                              <p:par>
                                <p:cTn id="15" presetID="12" presetClass="entr" presetSubtype="8"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p:tgtEl>
                                          <p:spTgt spid="12"/>
                                        </p:tgtEl>
                                        <p:attrNameLst>
                                          <p:attrName>ppt_x</p:attrName>
                                        </p:attrNameLst>
                                      </p:cBhvr>
                                      <p:tavLst>
                                        <p:tav tm="0">
                                          <p:val>
                                            <p:strVal val="#ppt_x-#ppt_w*1.125000"/>
                                          </p:val>
                                        </p:tav>
                                        <p:tav tm="100000">
                                          <p:val>
                                            <p:strVal val="#ppt_x"/>
                                          </p:val>
                                        </p:tav>
                                      </p:tavLst>
                                    </p:anim>
                                    <p:animEffect transition="in" filter="wipe(right)">
                                      <p:cBhvr>
                                        <p:cTn id="18" dur="500"/>
                                        <p:tgtEl>
                                          <p:spTgt spid="12"/>
                                        </p:tgtEl>
                                      </p:cBhvr>
                                    </p:animEffect>
                                  </p:childTnLst>
                                </p:cTn>
                              </p:par>
                              <p:par>
                                <p:cTn id="19" presetID="12" presetClass="entr" presetSubtype="2" fill="hold" grpId="0" nodeType="withEffect">
                                  <p:stCondLst>
                                    <p:cond delay="5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p:tgtEl>
                                          <p:spTgt spid="15"/>
                                        </p:tgtEl>
                                        <p:attrNameLst>
                                          <p:attrName>ppt_x</p:attrName>
                                        </p:attrNameLst>
                                      </p:cBhvr>
                                      <p:tavLst>
                                        <p:tav tm="0">
                                          <p:val>
                                            <p:strVal val="#ppt_x+#ppt_w*1.125000"/>
                                          </p:val>
                                        </p:tav>
                                        <p:tav tm="100000">
                                          <p:val>
                                            <p:strVal val="#ppt_x"/>
                                          </p:val>
                                        </p:tav>
                                      </p:tavLst>
                                    </p:anim>
                                    <p:animEffect transition="in" filter="wipe(left)">
                                      <p:cBhvr>
                                        <p:cTn id="22" dur="500"/>
                                        <p:tgtEl>
                                          <p:spTgt spid="15"/>
                                        </p:tgtEl>
                                      </p:cBhvr>
                                    </p:animEffect>
                                  </p:childTnLst>
                                </p:cTn>
                              </p:par>
                              <p:par>
                                <p:cTn id="23" presetID="12" presetClass="entr" presetSubtype="2" fill="hold" grpId="0" nodeType="withEffect">
                                  <p:stCondLst>
                                    <p:cond delay="90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p:tgtEl>
                                          <p:spTgt spid="16"/>
                                        </p:tgtEl>
                                        <p:attrNameLst>
                                          <p:attrName>ppt_x</p:attrName>
                                        </p:attrNameLst>
                                      </p:cBhvr>
                                      <p:tavLst>
                                        <p:tav tm="0">
                                          <p:val>
                                            <p:strVal val="#ppt_x+#ppt_w*1.125000"/>
                                          </p:val>
                                        </p:tav>
                                        <p:tav tm="100000">
                                          <p:val>
                                            <p:strVal val="#ppt_x"/>
                                          </p:val>
                                        </p:tav>
                                      </p:tavLst>
                                    </p:anim>
                                    <p:animEffect transition="in" filter="wipe(left)">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4000" y="201683"/>
            <a:ext cx="898070" cy="523220"/>
            <a:chOff x="-254000" y="201683"/>
            <a:chExt cx="898070" cy="523220"/>
          </a:xfrm>
        </p:grpSpPr>
        <p:sp>
          <p:nvSpPr>
            <p:cNvPr id="5" name="淘宝-想搞设计PPT(倒卖必究)-5"/>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 name="淘宝-想搞设计PPT(倒卖必究)-7"/>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grpSp>
        <p:nvGrpSpPr>
          <p:cNvPr id="15" name="组合 14"/>
          <p:cNvGrpSpPr/>
          <p:nvPr/>
        </p:nvGrpSpPr>
        <p:grpSpPr>
          <a:xfrm>
            <a:off x="2584397" y="217491"/>
            <a:ext cx="10096500" cy="679625"/>
            <a:chOff x="2584397" y="217491"/>
            <a:chExt cx="10096500" cy="679625"/>
          </a:xfrm>
        </p:grpSpPr>
        <p:sp>
          <p:nvSpPr>
            <p:cNvPr id="4" name="淘宝-想搞设计PPT(倒卖必究)-4"/>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想搞设计PPT(倒卖必究)-8"/>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2597097" y="250789"/>
              <a:ext cx="3262423" cy="646327"/>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香</a:t>
              </a:r>
              <a:r>
                <a:rPr lang="zh-CN" altLang="en-US" sz="1200" dirty="0">
                  <a:solidFill>
                    <a:schemeClr val="bg1"/>
                  </a:solidFill>
                  <a:latin typeface="微软雅黑" panose="020B0503020204020204" pitchFamily="34" charset="-122"/>
                  <a:ea typeface="微软雅黑" panose="020B0503020204020204" pitchFamily="34" charset="-122"/>
                </a:rPr>
                <a:t>港公交电动化：从小规模试点到全面零排放</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31" name="Picture 30"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18" name="Shape 8"/>
          <p:cNvSpPr/>
          <p:nvPr/>
        </p:nvSpPr>
        <p:spPr>
          <a:xfrm>
            <a:off x="923206" y="4327475"/>
            <a:ext cx="5447450" cy="594688"/>
          </a:xfrm>
          <a:prstGeom prst="rect">
            <a:avLst/>
          </a:prstGeom>
          <a:solidFill>
            <a:srgbClr val="15548D"/>
          </a:solidFill>
          <a:ln/>
        </p:spPr>
      </p:sp>
      <p:sp>
        <p:nvSpPr>
          <p:cNvPr id="19" name="Text 9"/>
          <p:cNvSpPr/>
          <p:nvPr/>
        </p:nvSpPr>
        <p:spPr>
          <a:xfrm>
            <a:off x="1014645" y="4430187"/>
            <a:ext cx="5280658" cy="411480"/>
          </a:xfrm>
          <a:prstGeom prst="rect">
            <a:avLst/>
          </a:prstGeom>
          <a:noFill/>
          <a:ln/>
        </p:spPr>
        <p:txBody>
          <a:bodyPr wrap="square" rtlCol="0" anchor="ctr"/>
          <a:lstStyle/>
          <a:p>
            <a:pPr marL="0" indent="0" algn="ctr">
              <a:buNone/>
            </a:pPr>
            <a:r>
              <a:rPr lang="en-US" sz="1600" dirty="0">
                <a:solidFill>
                  <a:srgbClr val="FFFFFF"/>
                </a:solidFill>
                <a:latin typeface="Microsoft YaHei" pitchFamily="34" charset="0"/>
                <a:ea typeface="Microsoft YaHei" pitchFamily="34" charset="-122"/>
                <a:cs typeface="Microsoft YaHei" pitchFamily="34" charset="-120"/>
              </a:rPr>
              <a:t>香港双层电动巴士（BYD B12D / ADL Enviro500EV</a:t>
            </a:r>
            <a:r>
              <a:rPr lang="en-US" sz="1000" dirty="0">
                <a:solidFill>
                  <a:srgbClr val="FFFFFF"/>
                </a:solidFill>
                <a:latin typeface="Microsoft YaHei" pitchFamily="34" charset="0"/>
                <a:ea typeface="Microsoft YaHei" pitchFamily="34" charset="-122"/>
                <a:cs typeface="Microsoft YaHei" pitchFamily="34" charset="-120"/>
              </a:rPr>
              <a:t>）</a:t>
            </a:r>
            <a:endParaRPr lang="en-US" sz="1000" dirty="0"/>
          </a:p>
        </p:txBody>
      </p:sp>
      <p:sp>
        <p:nvSpPr>
          <p:cNvPr id="20" name="Shape 10"/>
          <p:cNvSpPr/>
          <p:nvPr/>
        </p:nvSpPr>
        <p:spPr>
          <a:xfrm>
            <a:off x="7229475" y="784097"/>
            <a:ext cx="4705202" cy="1238400"/>
          </a:xfrm>
          <a:prstGeom prst="roundRect">
            <a:avLst>
              <a:gd name="adj" fmla="val 5085"/>
            </a:avLst>
          </a:prstGeom>
          <a:solidFill>
            <a:srgbClr val="F8F5F0"/>
          </a:solidFill>
          <a:ln w="5080">
            <a:solidFill>
              <a:srgbClr val="C4A35A">
                <a:alpha val="30000"/>
              </a:srgbClr>
            </a:solidFill>
            <a:prstDash val="solid"/>
          </a:ln>
        </p:spPr>
      </p:sp>
      <p:sp>
        <p:nvSpPr>
          <p:cNvPr id="21" name="Shape 11"/>
          <p:cNvSpPr/>
          <p:nvPr/>
        </p:nvSpPr>
        <p:spPr>
          <a:xfrm>
            <a:off x="7229475" y="784095"/>
            <a:ext cx="126000" cy="1238401"/>
          </a:xfrm>
          <a:prstGeom prst="rect">
            <a:avLst/>
          </a:prstGeom>
          <a:solidFill>
            <a:srgbClr val="8B1A2B"/>
          </a:solidFill>
          <a:ln/>
        </p:spPr>
      </p:sp>
      <p:sp>
        <p:nvSpPr>
          <p:cNvPr id="22" name="Text 12"/>
          <p:cNvSpPr/>
          <p:nvPr/>
        </p:nvSpPr>
        <p:spPr>
          <a:xfrm>
            <a:off x="7792431" y="1002531"/>
            <a:ext cx="1702041" cy="228600"/>
          </a:xfrm>
          <a:prstGeom prst="rect">
            <a:avLst/>
          </a:prstGeom>
          <a:noFill/>
          <a:ln/>
        </p:spPr>
        <p:txBody>
          <a:bodyPr wrap="square" rtlCol="0" anchor="ctr"/>
          <a:lstStyle/>
          <a:p>
            <a:pPr marL="0" indent="0">
              <a:buNone/>
            </a:pPr>
            <a:r>
              <a:rPr lang="en-US" sz="2400" b="1" dirty="0">
                <a:solidFill>
                  <a:srgbClr val="8B1A2B"/>
                </a:solidFill>
                <a:latin typeface="Microsoft YaHei" pitchFamily="34" charset="0"/>
                <a:ea typeface="Microsoft YaHei" pitchFamily="34" charset="-122"/>
                <a:cs typeface="Microsoft YaHei" pitchFamily="34" charset="-120"/>
              </a:rPr>
              <a:t>2024/25</a:t>
            </a:r>
            <a:endParaRPr lang="en-US" sz="2400" dirty="0"/>
          </a:p>
        </p:txBody>
      </p:sp>
      <p:sp>
        <p:nvSpPr>
          <p:cNvPr id="23" name="Text 13"/>
          <p:cNvSpPr/>
          <p:nvPr/>
        </p:nvSpPr>
        <p:spPr>
          <a:xfrm>
            <a:off x="9971426" y="942438"/>
            <a:ext cx="2377440" cy="228600"/>
          </a:xfrm>
          <a:prstGeom prst="rect">
            <a:avLst/>
          </a:prstGeom>
          <a:noFill/>
          <a:ln/>
        </p:spPr>
        <p:txBody>
          <a:bodyPr wrap="square" rtlCol="0" anchor="ctr"/>
          <a:lstStyle/>
          <a:p>
            <a:pPr marL="0" indent="0">
              <a:buNone/>
            </a:pPr>
            <a:r>
              <a:rPr lang="en-US" sz="1600" b="1" dirty="0">
                <a:solidFill>
                  <a:srgbClr val="2D2D2D"/>
                </a:solidFill>
                <a:latin typeface="Microsoft YaHei" pitchFamily="34" charset="0"/>
                <a:ea typeface="Microsoft YaHei" pitchFamily="34" charset="-122"/>
                <a:cs typeface="Microsoft YaHei" pitchFamily="34" charset="-120"/>
              </a:rPr>
              <a:t>现状试点阶段</a:t>
            </a:r>
            <a:endParaRPr lang="en-US" sz="1600" dirty="0"/>
          </a:p>
        </p:txBody>
      </p:sp>
      <p:sp>
        <p:nvSpPr>
          <p:cNvPr id="24" name="Text 14"/>
          <p:cNvSpPr/>
          <p:nvPr/>
        </p:nvSpPr>
        <p:spPr>
          <a:xfrm>
            <a:off x="7842885" y="1448453"/>
            <a:ext cx="1645920" cy="320040"/>
          </a:xfrm>
          <a:prstGeom prst="rect">
            <a:avLst/>
          </a:prstGeom>
          <a:noFill/>
          <a:ln/>
        </p:spPr>
        <p:txBody>
          <a:bodyPr wrap="square" rtlCol="0" anchor="ctr"/>
          <a:lstStyle/>
          <a:p>
            <a:pPr marL="0" indent="0">
              <a:buNone/>
            </a:pPr>
            <a:r>
              <a:rPr lang="en-US" sz="2000" b="1" dirty="0">
                <a:solidFill>
                  <a:srgbClr val="8B1A2B"/>
                </a:solidFill>
                <a:latin typeface="Microsoft YaHei" pitchFamily="34" charset="0"/>
                <a:ea typeface="Microsoft YaHei" pitchFamily="34" charset="-122"/>
                <a:cs typeface="Microsoft YaHei" pitchFamily="34" charset="-120"/>
              </a:rPr>
              <a:t>~200 辆</a:t>
            </a:r>
            <a:endParaRPr lang="en-US" sz="2000" dirty="0"/>
          </a:p>
        </p:txBody>
      </p:sp>
      <p:sp>
        <p:nvSpPr>
          <p:cNvPr id="25" name="Text 15"/>
          <p:cNvSpPr/>
          <p:nvPr/>
        </p:nvSpPr>
        <p:spPr>
          <a:xfrm>
            <a:off x="9678805" y="1296158"/>
            <a:ext cx="2195723" cy="457200"/>
          </a:xfrm>
          <a:prstGeom prst="rect">
            <a:avLst/>
          </a:prstGeom>
          <a:noFill/>
          <a:ln/>
        </p:spPr>
        <p:txBody>
          <a:bodyPr wrap="square" rtlCol="0" anchor="ctr"/>
          <a:lstStyle/>
          <a:p>
            <a:pPr marL="0" indent="0">
              <a:lnSpc>
                <a:spcPct val="130000"/>
              </a:lnSpc>
              <a:buNone/>
            </a:pPr>
            <a:r>
              <a:rPr lang="en-US" sz="1600" dirty="0">
                <a:solidFill>
                  <a:srgbClr val="9B9B9B"/>
                </a:solidFill>
                <a:latin typeface="Microsoft YaHei" pitchFamily="34" charset="0"/>
                <a:ea typeface="Microsoft YaHei" pitchFamily="34" charset="-122"/>
                <a:cs typeface="Microsoft YaHei" pitchFamily="34" charset="-120"/>
              </a:rPr>
              <a:t>九巴 120 + 城巴 80</a:t>
            </a:r>
            <a:endParaRPr lang="en-US" sz="1600" dirty="0"/>
          </a:p>
          <a:p>
            <a:pPr marL="0" indent="0">
              <a:lnSpc>
                <a:spcPct val="130000"/>
              </a:lnSpc>
              <a:buNone/>
            </a:pPr>
            <a:r>
              <a:rPr lang="en-US" sz="1600" dirty="0">
                <a:solidFill>
                  <a:srgbClr val="9B9B9B"/>
                </a:solidFill>
                <a:latin typeface="Microsoft YaHei" pitchFamily="34" charset="0"/>
                <a:ea typeface="Microsoft YaHei" pitchFamily="34" charset="-122"/>
                <a:cs typeface="Microsoft YaHei" pitchFamily="34" charset="-120"/>
              </a:rPr>
              <a:t>电动化率不足 5%</a:t>
            </a:r>
            <a:endParaRPr lang="en-US" sz="1600" dirty="0"/>
          </a:p>
        </p:txBody>
      </p:sp>
      <p:sp>
        <p:nvSpPr>
          <p:cNvPr id="26" name="Shape 16"/>
          <p:cNvSpPr/>
          <p:nvPr/>
        </p:nvSpPr>
        <p:spPr>
          <a:xfrm>
            <a:off x="7229475" y="2220796"/>
            <a:ext cx="4705202" cy="1239978"/>
          </a:xfrm>
          <a:prstGeom prst="roundRect">
            <a:avLst>
              <a:gd name="adj" fmla="val 5085"/>
            </a:avLst>
          </a:prstGeom>
          <a:solidFill>
            <a:srgbClr val="F8F5F0"/>
          </a:solidFill>
          <a:ln w="5080">
            <a:solidFill>
              <a:srgbClr val="C4A35A">
                <a:alpha val="30000"/>
              </a:srgbClr>
            </a:solidFill>
            <a:prstDash val="solid"/>
          </a:ln>
        </p:spPr>
      </p:sp>
      <p:sp>
        <p:nvSpPr>
          <p:cNvPr id="27" name="Shape 17"/>
          <p:cNvSpPr/>
          <p:nvPr/>
        </p:nvSpPr>
        <p:spPr>
          <a:xfrm>
            <a:off x="7229475" y="2220795"/>
            <a:ext cx="126206" cy="1239979"/>
          </a:xfrm>
          <a:prstGeom prst="rect">
            <a:avLst/>
          </a:prstGeom>
          <a:solidFill>
            <a:srgbClr val="C4A35A"/>
          </a:solidFill>
          <a:ln/>
        </p:spPr>
      </p:sp>
      <p:sp>
        <p:nvSpPr>
          <p:cNvPr id="28" name="Text 18"/>
          <p:cNvSpPr/>
          <p:nvPr/>
        </p:nvSpPr>
        <p:spPr>
          <a:xfrm>
            <a:off x="8007758" y="2477490"/>
            <a:ext cx="1188720" cy="228600"/>
          </a:xfrm>
          <a:prstGeom prst="rect">
            <a:avLst/>
          </a:prstGeom>
          <a:noFill/>
          <a:ln/>
        </p:spPr>
        <p:txBody>
          <a:bodyPr wrap="square" rtlCol="0" anchor="ctr"/>
          <a:lstStyle/>
          <a:p>
            <a:pPr marL="0" indent="0">
              <a:buNone/>
            </a:pPr>
            <a:r>
              <a:rPr lang="en-US" sz="2400" b="1" dirty="0">
                <a:solidFill>
                  <a:srgbClr val="C4A35A"/>
                </a:solidFill>
                <a:latin typeface="Microsoft YaHei" pitchFamily="34" charset="0"/>
                <a:ea typeface="Microsoft YaHei" pitchFamily="34" charset="-122"/>
                <a:cs typeface="Microsoft YaHei" pitchFamily="34" charset="-120"/>
              </a:rPr>
              <a:t>2027</a:t>
            </a:r>
            <a:endParaRPr lang="en-US" sz="2400" dirty="0"/>
          </a:p>
        </p:txBody>
      </p:sp>
      <p:sp>
        <p:nvSpPr>
          <p:cNvPr id="29" name="Text 19"/>
          <p:cNvSpPr/>
          <p:nvPr/>
        </p:nvSpPr>
        <p:spPr>
          <a:xfrm>
            <a:off x="9941809" y="2418514"/>
            <a:ext cx="2377440" cy="228600"/>
          </a:xfrm>
          <a:prstGeom prst="rect">
            <a:avLst/>
          </a:prstGeom>
          <a:noFill/>
          <a:ln/>
        </p:spPr>
        <p:txBody>
          <a:bodyPr wrap="square" rtlCol="0" anchor="ctr"/>
          <a:lstStyle/>
          <a:p>
            <a:pPr marL="0" indent="0">
              <a:buNone/>
            </a:pPr>
            <a:r>
              <a:rPr lang="en-US" sz="1600" b="1" dirty="0">
                <a:solidFill>
                  <a:srgbClr val="2D2D2D"/>
                </a:solidFill>
                <a:latin typeface="Microsoft YaHei" pitchFamily="34" charset="0"/>
                <a:ea typeface="Microsoft YaHei" pitchFamily="34" charset="-122"/>
                <a:cs typeface="Microsoft YaHei" pitchFamily="34" charset="-120"/>
              </a:rPr>
              <a:t>政策扩张目标</a:t>
            </a:r>
            <a:endParaRPr lang="en-US" sz="1600" dirty="0"/>
          </a:p>
        </p:txBody>
      </p:sp>
      <p:sp>
        <p:nvSpPr>
          <p:cNvPr id="30" name="Text 20"/>
          <p:cNvSpPr/>
          <p:nvPr/>
        </p:nvSpPr>
        <p:spPr>
          <a:xfrm>
            <a:off x="7825785" y="2923412"/>
            <a:ext cx="1645920" cy="320040"/>
          </a:xfrm>
          <a:prstGeom prst="rect">
            <a:avLst/>
          </a:prstGeom>
          <a:noFill/>
          <a:ln/>
        </p:spPr>
        <p:txBody>
          <a:bodyPr wrap="square" rtlCol="0" anchor="ctr"/>
          <a:lstStyle/>
          <a:p>
            <a:pPr marL="0" indent="0">
              <a:buNone/>
            </a:pPr>
            <a:r>
              <a:rPr lang="en-US" sz="2000" b="1" dirty="0">
                <a:solidFill>
                  <a:srgbClr val="C4A35A"/>
                </a:solidFill>
                <a:latin typeface="Microsoft YaHei" pitchFamily="34" charset="0"/>
                <a:ea typeface="Microsoft YaHei" pitchFamily="34" charset="-122"/>
                <a:cs typeface="Microsoft YaHei" pitchFamily="34" charset="-120"/>
              </a:rPr>
              <a:t>~700 辆</a:t>
            </a:r>
            <a:endParaRPr lang="en-US" sz="2000" dirty="0"/>
          </a:p>
        </p:txBody>
      </p:sp>
      <p:sp>
        <p:nvSpPr>
          <p:cNvPr id="32" name="Text 21"/>
          <p:cNvSpPr/>
          <p:nvPr/>
        </p:nvSpPr>
        <p:spPr>
          <a:xfrm>
            <a:off x="9655226" y="2786252"/>
            <a:ext cx="2195723" cy="457200"/>
          </a:xfrm>
          <a:prstGeom prst="rect">
            <a:avLst/>
          </a:prstGeom>
          <a:noFill/>
          <a:ln/>
        </p:spPr>
        <p:txBody>
          <a:bodyPr wrap="square" rtlCol="0" anchor="ctr"/>
          <a:lstStyle/>
          <a:p>
            <a:pPr marL="0" indent="0">
              <a:lnSpc>
                <a:spcPct val="130000"/>
              </a:lnSpc>
              <a:buNone/>
            </a:pPr>
            <a:r>
              <a:rPr lang="en-US" sz="1600" dirty="0" smtClean="0">
                <a:solidFill>
                  <a:srgbClr val="9B9B9B"/>
                </a:solidFill>
                <a:latin typeface="Microsoft YaHei" pitchFamily="34" charset="0"/>
                <a:ea typeface="Microsoft YaHei" pitchFamily="34" charset="-122"/>
                <a:cs typeface="Microsoft YaHei" pitchFamily="34" charset="-120"/>
              </a:rPr>
              <a:t>政府资助采购电动化率约 </a:t>
            </a:r>
            <a:r>
              <a:rPr lang="en-US" sz="1600" dirty="0">
                <a:solidFill>
                  <a:srgbClr val="9B9B9B"/>
                </a:solidFill>
                <a:latin typeface="Microsoft YaHei" pitchFamily="34" charset="0"/>
                <a:ea typeface="Microsoft YaHei" pitchFamily="34" charset="-122"/>
                <a:cs typeface="Microsoft YaHei" pitchFamily="34" charset="-120"/>
              </a:rPr>
              <a:t>12%</a:t>
            </a:r>
            <a:endParaRPr lang="en-US" sz="1600" dirty="0"/>
          </a:p>
        </p:txBody>
      </p:sp>
      <p:sp>
        <p:nvSpPr>
          <p:cNvPr id="33" name="Shape 22"/>
          <p:cNvSpPr/>
          <p:nvPr/>
        </p:nvSpPr>
        <p:spPr>
          <a:xfrm>
            <a:off x="7229475" y="3654679"/>
            <a:ext cx="4705202" cy="1238400"/>
          </a:xfrm>
          <a:prstGeom prst="roundRect">
            <a:avLst>
              <a:gd name="adj" fmla="val 0"/>
            </a:avLst>
          </a:prstGeom>
          <a:solidFill>
            <a:srgbClr val="F8F5F0"/>
          </a:solidFill>
          <a:ln w="5080">
            <a:solidFill>
              <a:srgbClr val="C4A35A">
                <a:alpha val="30000"/>
              </a:srgbClr>
            </a:solidFill>
            <a:prstDash val="solid"/>
          </a:ln>
        </p:spPr>
        <p:txBody>
          <a:bodyPr/>
          <a:lstStyle/>
          <a:p>
            <a:endParaRPr lang="zh-CN" altLang="en-US" dirty="0"/>
          </a:p>
        </p:txBody>
      </p:sp>
      <p:sp>
        <p:nvSpPr>
          <p:cNvPr id="34" name="Shape 23"/>
          <p:cNvSpPr/>
          <p:nvPr/>
        </p:nvSpPr>
        <p:spPr>
          <a:xfrm>
            <a:off x="7229475" y="3654679"/>
            <a:ext cx="125289" cy="1238141"/>
          </a:xfrm>
          <a:prstGeom prst="rect">
            <a:avLst/>
          </a:prstGeom>
          <a:solidFill>
            <a:srgbClr val="2E7D32"/>
          </a:solidFill>
          <a:ln/>
        </p:spPr>
      </p:sp>
      <p:sp>
        <p:nvSpPr>
          <p:cNvPr id="35" name="Text 24"/>
          <p:cNvSpPr/>
          <p:nvPr/>
        </p:nvSpPr>
        <p:spPr>
          <a:xfrm>
            <a:off x="7394334" y="3816529"/>
            <a:ext cx="2497486" cy="457200"/>
          </a:xfrm>
          <a:prstGeom prst="rect">
            <a:avLst/>
          </a:prstGeom>
          <a:noFill/>
          <a:ln/>
        </p:spPr>
        <p:txBody>
          <a:bodyPr wrap="square" rtlCol="0" anchor="ctr"/>
          <a:lstStyle/>
          <a:p>
            <a:pPr marL="0" indent="0">
              <a:buNone/>
            </a:pPr>
            <a:r>
              <a:rPr lang="en-US" sz="2400" b="1" dirty="0">
                <a:solidFill>
                  <a:srgbClr val="2E7D32"/>
                </a:solidFill>
                <a:latin typeface="Microsoft YaHei" pitchFamily="34" charset="0"/>
                <a:ea typeface="Microsoft YaHei" pitchFamily="34" charset="-122"/>
                <a:cs typeface="Microsoft YaHei" pitchFamily="34" charset="-120"/>
              </a:rPr>
              <a:t>2035 → 2050</a:t>
            </a:r>
            <a:endParaRPr lang="en-US" sz="2400" dirty="0"/>
          </a:p>
        </p:txBody>
      </p:sp>
      <p:sp>
        <p:nvSpPr>
          <p:cNvPr id="36" name="Text 25"/>
          <p:cNvSpPr/>
          <p:nvPr/>
        </p:nvSpPr>
        <p:spPr>
          <a:xfrm>
            <a:off x="9893186" y="3901982"/>
            <a:ext cx="2377440" cy="228600"/>
          </a:xfrm>
          <a:prstGeom prst="rect">
            <a:avLst/>
          </a:prstGeom>
          <a:noFill/>
          <a:ln/>
        </p:spPr>
        <p:txBody>
          <a:bodyPr wrap="square" rtlCol="0" anchor="ctr"/>
          <a:lstStyle/>
          <a:p>
            <a:pPr marL="0" indent="0">
              <a:buNone/>
            </a:pPr>
            <a:r>
              <a:rPr lang="en-US" sz="1600" b="1" dirty="0">
                <a:solidFill>
                  <a:srgbClr val="2D2D2D"/>
                </a:solidFill>
                <a:latin typeface="Microsoft YaHei" pitchFamily="34" charset="0"/>
                <a:ea typeface="Microsoft YaHei" pitchFamily="34" charset="-122"/>
                <a:cs typeface="Microsoft YaHei" pitchFamily="34" charset="-120"/>
              </a:rPr>
              <a:t>全面电动化愿景</a:t>
            </a:r>
            <a:endParaRPr lang="en-US" sz="1600" dirty="0"/>
          </a:p>
        </p:txBody>
      </p:sp>
      <p:sp>
        <p:nvSpPr>
          <p:cNvPr id="37" name="Text 26"/>
          <p:cNvSpPr/>
          <p:nvPr/>
        </p:nvSpPr>
        <p:spPr>
          <a:xfrm>
            <a:off x="7752193" y="4356180"/>
            <a:ext cx="2210369" cy="320040"/>
          </a:xfrm>
          <a:prstGeom prst="rect">
            <a:avLst/>
          </a:prstGeom>
          <a:noFill/>
          <a:ln/>
        </p:spPr>
        <p:txBody>
          <a:bodyPr wrap="square" rtlCol="0" anchor="ctr"/>
          <a:lstStyle/>
          <a:p>
            <a:pPr marL="0" indent="0">
              <a:buNone/>
            </a:pPr>
            <a:r>
              <a:rPr lang="en-US" sz="2000" b="1" dirty="0" smtClean="0">
                <a:solidFill>
                  <a:srgbClr val="2E7D32"/>
                </a:solidFill>
                <a:latin typeface="Microsoft YaHei" pitchFamily="34" charset="0"/>
                <a:ea typeface="Microsoft YaHei" pitchFamily="34" charset="-122"/>
                <a:cs typeface="Microsoft YaHei" pitchFamily="34" charset="-120"/>
              </a:rPr>
              <a:t>~6,000 辆</a:t>
            </a:r>
            <a:endParaRPr lang="en-US" sz="2000" dirty="0"/>
          </a:p>
        </p:txBody>
      </p:sp>
      <p:sp>
        <p:nvSpPr>
          <p:cNvPr id="38" name="Text 27"/>
          <p:cNvSpPr/>
          <p:nvPr/>
        </p:nvSpPr>
        <p:spPr>
          <a:xfrm>
            <a:off x="9656969" y="4244400"/>
            <a:ext cx="2284180" cy="457200"/>
          </a:xfrm>
          <a:prstGeom prst="rect">
            <a:avLst/>
          </a:prstGeom>
          <a:noFill/>
          <a:ln/>
        </p:spPr>
        <p:txBody>
          <a:bodyPr wrap="square" rtlCol="0" anchor="ctr"/>
          <a:lstStyle/>
          <a:p>
            <a:pPr marL="0" indent="0">
              <a:lnSpc>
                <a:spcPct val="130000"/>
              </a:lnSpc>
              <a:buNone/>
            </a:pPr>
            <a:r>
              <a:rPr lang="en-US" sz="1600" dirty="0">
                <a:solidFill>
                  <a:srgbClr val="9B9B9B"/>
                </a:solidFill>
                <a:latin typeface="Microsoft YaHei" pitchFamily="34" charset="0"/>
                <a:ea typeface="Microsoft YaHei" pitchFamily="34" charset="-122"/>
                <a:cs typeface="Microsoft YaHei" pitchFamily="34" charset="-120"/>
              </a:rPr>
              <a:t>九巴·城巴承诺全替换</a:t>
            </a:r>
            <a:endParaRPr lang="en-US" sz="1600" dirty="0"/>
          </a:p>
          <a:p>
            <a:pPr marL="0" indent="0">
              <a:lnSpc>
                <a:spcPct val="130000"/>
              </a:lnSpc>
              <a:buNone/>
            </a:pPr>
            <a:r>
              <a:rPr lang="en-US" sz="1600" dirty="0">
                <a:solidFill>
                  <a:srgbClr val="9B9B9B"/>
                </a:solidFill>
                <a:latin typeface="Microsoft YaHei" pitchFamily="34" charset="0"/>
                <a:ea typeface="Microsoft YaHei" pitchFamily="34" charset="-122"/>
                <a:cs typeface="Microsoft YaHei" pitchFamily="34" charset="-120"/>
              </a:rPr>
              <a:t>气候行动蓝图零排放</a:t>
            </a:r>
            <a:endParaRPr lang="en-US" sz="1600" dirty="0"/>
          </a:p>
        </p:txBody>
      </p:sp>
      <p:sp>
        <p:nvSpPr>
          <p:cNvPr id="39" name="Shape 28"/>
          <p:cNvSpPr/>
          <p:nvPr/>
        </p:nvSpPr>
        <p:spPr>
          <a:xfrm>
            <a:off x="200025" y="5013471"/>
            <a:ext cx="11734652" cy="1171421"/>
          </a:xfrm>
          <a:prstGeom prst="roundRect">
            <a:avLst>
              <a:gd name="adj" fmla="val 6667"/>
            </a:avLst>
          </a:prstGeom>
          <a:solidFill>
            <a:srgbClr val="F8F5F0"/>
          </a:solidFill>
          <a:ln w="5080">
            <a:solidFill>
              <a:srgbClr val="C4A35A">
                <a:alpha val="30000"/>
              </a:srgbClr>
            </a:solidFill>
            <a:prstDash val="solid"/>
          </a:ln>
        </p:spPr>
      </p:sp>
      <p:sp>
        <p:nvSpPr>
          <p:cNvPr id="40" name="Text 29"/>
          <p:cNvSpPr/>
          <p:nvPr/>
        </p:nvSpPr>
        <p:spPr>
          <a:xfrm>
            <a:off x="457200" y="5081342"/>
            <a:ext cx="11243768" cy="370716"/>
          </a:xfrm>
          <a:prstGeom prst="rect">
            <a:avLst/>
          </a:prstGeom>
          <a:noFill/>
          <a:ln/>
        </p:spPr>
        <p:txBody>
          <a:bodyPr wrap="square" rtlCol="0" anchor="ctr"/>
          <a:lstStyle/>
          <a:p>
            <a:pPr marL="0" indent="0">
              <a:buNone/>
            </a:pPr>
            <a:r>
              <a:rPr lang="en-US" sz="1600" b="1" dirty="0">
                <a:solidFill>
                  <a:srgbClr val="15548D"/>
                </a:solidFill>
                <a:latin typeface="Microsoft YaHei" pitchFamily="34" charset="0"/>
                <a:ea typeface="Microsoft YaHei" pitchFamily="34" charset="-122"/>
                <a:cs typeface="Microsoft YaHei" pitchFamily="34" charset="-120"/>
              </a:rPr>
              <a:t>数据来源：运输署 Fact Sheet 2024/12（~5,870 辆）· ON.CC 2024/06（90 已登记）· abcarhk 2025（~200 运营）</a:t>
            </a:r>
            <a:endParaRPr lang="en-US" sz="1600" dirty="0">
              <a:solidFill>
                <a:srgbClr val="15548D"/>
              </a:solidFill>
            </a:endParaRPr>
          </a:p>
        </p:txBody>
      </p:sp>
      <p:sp>
        <p:nvSpPr>
          <p:cNvPr id="41" name="Text 30"/>
          <p:cNvSpPr/>
          <p:nvPr/>
        </p:nvSpPr>
        <p:spPr>
          <a:xfrm>
            <a:off x="457200" y="5479911"/>
            <a:ext cx="11243768" cy="617860"/>
          </a:xfrm>
          <a:prstGeom prst="rect">
            <a:avLst/>
          </a:prstGeom>
          <a:noFill/>
          <a:ln/>
        </p:spPr>
        <p:txBody>
          <a:bodyPr wrap="square" rtlCol="0" anchor="ctr"/>
          <a:lstStyle/>
          <a:p>
            <a:pPr marL="342900" indent="-342900">
              <a:lnSpc>
                <a:spcPct val="120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香港专利巴士全港约 6,000 辆（5,757 双巴 + 232 单巴，运输署 2025/03），每日载客约 400 万人次</a:t>
            </a:r>
            <a:endParaRPr lang="en-US" sz="1600" dirty="0"/>
          </a:p>
          <a:p>
            <a:pPr marL="342900" indent="-342900">
              <a:lnSpc>
                <a:spcPct val="120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已登记电动专营巴士仅 90 辆（2024.06），实际运营约 200 辆；政府 2027 年底目标投入约 700 </a:t>
            </a:r>
            <a:r>
              <a:rPr lang="en-US" sz="1600" dirty="0" smtClean="0">
                <a:solidFill>
                  <a:srgbClr val="2D2D2D"/>
                </a:solidFill>
                <a:latin typeface="Microsoft YaHei" pitchFamily="34" charset="0"/>
                <a:ea typeface="Microsoft YaHei" pitchFamily="34" charset="-122"/>
                <a:cs typeface="Microsoft YaHei" pitchFamily="34" charset="-120"/>
              </a:rPr>
              <a:t>辆</a:t>
            </a:r>
            <a:endParaRPr lang="en-US" sz="1600" dirty="0"/>
          </a:p>
        </p:txBody>
      </p:sp>
      <p:pic>
        <p:nvPicPr>
          <p:cNvPr id="42" name="Image 2" descr="/mnt/data/ppt_assets/ebus_kmb.jpg"/>
          <p:cNvPicPr>
            <a:picLocks noChangeAspect="1"/>
          </p:cNvPicPr>
          <p:nvPr/>
        </p:nvPicPr>
        <p:blipFill>
          <a:blip r:embed="rId4"/>
          <a:stretch>
            <a:fillRect/>
          </a:stretch>
        </p:blipFill>
        <p:spPr>
          <a:xfrm>
            <a:off x="1383056" y="784097"/>
            <a:ext cx="4666838" cy="3502318"/>
          </a:xfrm>
          <a:prstGeom prst="rect">
            <a:avLst/>
          </a:prstGeom>
        </p:spPr>
      </p:pic>
      <p:sp>
        <p:nvSpPr>
          <p:cNvPr id="4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01  </a:t>
            </a:r>
            <a:r>
              <a:rPr lang="zh-CN" altLang="en-US" sz="1200" dirty="0" smtClean="0">
                <a:solidFill>
                  <a:srgbClr val="C4A35A"/>
                </a:solidFill>
                <a:latin typeface="Microsoft YaHei" pitchFamily="34" charset="0"/>
                <a:ea typeface="Microsoft YaHei" pitchFamily="34" charset="-122"/>
                <a:cs typeface="Microsoft YaHei" pitchFamily="34" charset="-120"/>
              </a:rPr>
              <a:t>项目背景与任务拆解</a:t>
            </a:r>
            <a:endParaRPr lang="en-US" sz="1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ppt_x</p:attrName>
                                        </p:attrNameLst>
                                      </p:cBhvr>
                                      <p:tavLst>
                                        <p:tav tm="0">
                                          <p:val>
                                            <p:strVal val="#ppt_x-#ppt_w*1.125000"/>
                                          </p:val>
                                        </p:tav>
                                        <p:tav tm="100000">
                                          <p:val>
                                            <p:strVal val="#ppt_x"/>
                                          </p:val>
                                        </p:tav>
                                      </p:tavLst>
                                    </p:anim>
                                    <p:animEffect transition="in" filter="wipe(right)">
                                      <p:cBhvr>
                                        <p:cTn id="8" dur="500"/>
                                        <p:tgtEl>
                                          <p:spTgt spid="14"/>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down)">
                                      <p:cBhvr>
                                        <p:cTn id="12" dur="500"/>
                                        <p:tgtEl>
                                          <p:spTgt spid="7"/>
                                        </p:tgtEl>
                                      </p:cBhvr>
                                    </p:animEffect>
                                  </p:childTnLst>
                                </p:cTn>
                              </p:par>
                              <p:par>
                                <p:cTn id="13" presetID="1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p:tgtEl>
                                          <p:spTgt spid="15"/>
                                        </p:tgtEl>
                                        <p:attrNameLst>
                                          <p:attrName>ppt_x</p:attrName>
                                        </p:attrNameLst>
                                      </p:cBhvr>
                                      <p:tavLst>
                                        <p:tav tm="0">
                                          <p:val>
                                            <p:strVal val="#ppt_x+#ppt_w*1.125000"/>
                                          </p:val>
                                        </p:tav>
                                        <p:tav tm="100000">
                                          <p:val>
                                            <p:strVal val="#ppt_x"/>
                                          </p:val>
                                        </p:tav>
                                      </p:tavLst>
                                    </p:anim>
                                    <p:animEffect transition="in" filter="wipe(left)">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11" name="淘宝-想搞设计PPT(倒卖必究)-11"/>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淘宝-想搞设计PPT(倒卖必究)-12"/>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13" name="淘宝-想搞设计PPT(倒卖必究)-13"/>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grpSp>
        <p:nvGrpSpPr>
          <p:cNvPr id="3" name="组合 2"/>
          <p:cNvGrpSpPr/>
          <p:nvPr/>
        </p:nvGrpSpPr>
        <p:grpSpPr>
          <a:xfrm>
            <a:off x="2584397" y="217491"/>
            <a:ext cx="10096500" cy="485258"/>
            <a:chOff x="2584397" y="217491"/>
            <a:chExt cx="10096500" cy="485258"/>
          </a:xfrm>
        </p:grpSpPr>
        <p:sp>
          <p:nvSpPr>
            <p:cNvPr id="10" name="淘宝-想搞设计PPT(倒卖必究)-10"/>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淘宝-想搞设计PPT(倒卖必究)-14"/>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淘宝-想搞设计PPT(倒卖必究)-15"/>
            <p:cNvSpPr/>
            <p:nvPr/>
          </p:nvSpPr>
          <p:spPr>
            <a:xfrm>
              <a:off x="2616893" y="241088"/>
              <a:ext cx="2339094" cy="461661"/>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新</a:t>
              </a:r>
              <a:r>
                <a:rPr lang="zh-CN" altLang="en-US" sz="1200" dirty="0">
                  <a:solidFill>
                    <a:schemeClr val="bg1"/>
                  </a:solidFill>
                  <a:latin typeface="微软雅黑" panose="020B0503020204020204" pitchFamily="34" charset="-122"/>
                  <a:ea typeface="微软雅黑" panose="020B0503020204020204" pitchFamily="34" charset="-122"/>
                </a:rPr>
                <a:t>能源公交调度面临的六重挑战</a:t>
              </a: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35" name="Picture 34"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20" name="Shape 8"/>
          <p:cNvSpPr/>
          <p:nvPr/>
        </p:nvSpPr>
        <p:spPr>
          <a:xfrm>
            <a:off x="609600" y="1036320"/>
            <a:ext cx="3413760" cy="2438400"/>
          </a:xfrm>
          <a:prstGeom prst="roundRect">
            <a:avLst>
              <a:gd name="adj" fmla="val 3000"/>
            </a:avLst>
          </a:prstGeom>
          <a:solidFill>
            <a:srgbClr val="F8F5F0"/>
          </a:solidFill>
          <a:ln w="5080">
            <a:solidFill>
              <a:srgbClr val="C4A35A">
                <a:alpha val="30000"/>
              </a:srgbClr>
            </a:solidFill>
            <a:prstDash val="solid"/>
          </a:ln>
        </p:spPr>
      </p:sp>
      <p:sp>
        <p:nvSpPr>
          <p:cNvPr id="26" name="Shape 9"/>
          <p:cNvSpPr/>
          <p:nvPr/>
        </p:nvSpPr>
        <p:spPr>
          <a:xfrm>
            <a:off x="609600" y="1036320"/>
            <a:ext cx="3413760" cy="60960"/>
          </a:xfrm>
          <a:prstGeom prst="rect">
            <a:avLst/>
          </a:prstGeom>
          <a:solidFill>
            <a:srgbClr val="00B050"/>
          </a:solidFill>
          <a:ln/>
        </p:spPr>
      </p:sp>
      <p:sp>
        <p:nvSpPr>
          <p:cNvPr id="27" name="Shape 10"/>
          <p:cNvSpPr/>
          <p:nvPr/>
        </p:nvSpPr>
        <p:spPr>
          <a:xfrm>
            <a:off x="1767840" y="1280160"/>
            <a:ext cx="1097280" cy="1097280"/>
          </a:xfrm>
          <a:prstGeom prst="ellipse">
            <a:avLst/>
          </a:prstGeom>
          <a:solidFill>
            <a:srgbClr val="00B050"/>
          </a:solidFill>
          <a:ln/>
        </p:spPr>
      </p:sp>
      <p:sp>
        <p:nvSpPr>
          <p:cNvPr id="28" name="Text 11"/>
          <p:cNvSpPr/>
          <p:nvPr/>
        </p:nvSpPr>
        <p:spPr>
          <a:xfrm>
            <a:off x="1767840" y="1280160"/>
            <a:ext cx="1097280" cy="1097280"/>
          </a:xfrm>
          <a:prstGeom prst="rect">
            <a:avLst/>
          </a:prstGeom>
          <a:noFill/>
          <a:ln/>
        </p:spPr>
        <p:txBody>
          <a:bodyPr wrap="square" rtlCol="0" anchor="ctr"/>
          <a:lstStyle/>
          <a:p>
            <a:pPr algn="ctr"/>
            <a:r>
              <a:rPr lang="en-US" sz="4267" dirty="0">
                <a:solidFill>
                  <a:srgbClr val="000000"/>
                </a:solidFill>
                <a:latin typeface="Microsoft YaHei" pitchFamily="34" charset="0"/>
                <a:ea typeface="Microsoft YaHei" pitchFamily="34" charset="-122"/>
                <a:cs typeface="Microsoft YaHei" pitchFamily="34" charset="-120"/>
              </a:rPr>
              <a:t>⬡</a:t>
            </a:r>
            <a:endParaRPr lang="en-US" sz="4267" dirty="0"/>
          </a:p>
        </p:txBody>
      </p:sp>
      <p:sp>
        <p:nvSpPr>
          <p:cNvPr id="29" name="Text 12"/>
          <p:cNvSpPr/>
          <p:nvPr/>
        </p:nvSpPr>
        <p:spPr>
          <a:xfrm>
            <a:off x="731520" y="2438400"/>
            <a:ext cx="3169920" cy="390144"/>
          </a:xfrm>
          <a:prstGeom prst="rect">
            <a:avLst/>
          </a:prstGeom>
          <a:noFill/>
          <a:ln/>
        </p:spPr>
        <p:txBody>
          <a:bodyPr wrap="square" rtlCol="0" anchor="ctr"/>
          <a:lstStyle/>
          <a:p>
            <a:pPr algn="ctr"/>
            <a:r>
              <a:rPr lang="en-US" sz="1867" b="1" dirty="0">
                <a:solidFill>
                  <a:srgbClr val="2D2D2D"/>
                </a:solidFill>
                <a:latin typeface="Microsoft YaHei" pitchFamily="34" charset="0"/>
                <a:ea typeface="Microsoft YaHei" pitchFamily="34" charset="-122"/>
                <a:cs typeface="Microsoft YaHei" pitchFamily="34" charset="-120"/>
              </a:rPr>
              <a:t>电池容量有限</a:t>
            </a:r>
            <a:endParaRPr lang="en-US" sz="1867" dirty="0"/>
          </a:p>
        </p:txBody>
      </p:sp>
      <p:sp>
        <p:nvSpPr>
          <p:cNvPr id="30" name="Text 13"/>
          <p:cNvSpPr/>
          <p:nvPr/>
        </p:nvSpPr>
        <p:spPr>
          <a:xfrm>
            <a:off x="731520" y="2804160"/>
            <a:ext cx="3169920" cy="609600"/>
          </a:xfrm>
          <a:prstGeom prst="rect">
            <a:avLst/>
          </a:prstGeom>
          <a:noFill/>
          <a:ln/>
        </p:spPr>
        <p:txBody>
          <a:bodyPr wrap="square" rtlCol="0" anchor="ctr"/>
          <a:lstStyle/>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典型 300 kWh</a:t>
            </a:r>
            <a:endParaRPr lang="en-US" sz="1467" dirty="0"/>
          </a:p>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SOC 须保持 &gt;20%</a:t>
            </a:r>
            <a:endParaRPr lang="en-US" sz="1467" dirty="0"/>
          </a:p>
        </p:txBody>
      </p:sp>
      <p:sp>
        <p:nvSpPr>
          <p:cNvPr id="31" name="Shape 14"/>
          <p:cNvSpPr/>
          <p:nvPr/>
        </p:nvSpPr>
        <p:spPr>
          <a:xfrm>
            <a:off x="4328160" y="1036320"/>
            <a:ext cx="3413760" cy="2438400"/>
          </a:xfrm>
          <a:prstGeom prst="roundRect">
            <a:avLst>
              <a:gd name="adj" fmla="val 3000"/>
            </a:avLst>
          </a:prstGeom>
          <a:solidFill>
            <a:srgbClr val="F8F5F0"/>
          </a:solidFill>
          <a:ln w="5080">
            <a:solidFill>
              <a:srgbClr val="C4A35A">
                <a:alpha val="30000"/>
              </a:srgbClr>
            </a:solidFill>
            <a:prstDash val="solid"/>
          </a:ln>
        </p:spPr>
      </p:sp>
      <p:sp>
        <p:nvSpPr>
          <p:cNvPr id="32" name="Shape 15"/>
          <p:cNvSpPr/>
          <p:nvPr/>
        </p:nvSpPr>
        <p:spPr>
          <a:xfrm>
            <a:off x="4328160" y="1036320"/>
            <a:ext cx="3413760" cy="60960"/>
          </a:xfrm>
          <a:prstGeom prst="rect">
            <a:avLst/>
          </a:prstGeom>
          <a:solidFill>
            <a:srgbClr val="00B050"/>
          </a:solidFill>
          <a:ln/>
        </p:spPr>
      </p:sp>
      <p:sp>
        <p:nvSpPr>
          <p:cNvPr id="33" name="Shape 16"/>
          <p:cNvSpPr/>
          <p:nvPr/>
        </p:nvSpPr>
        <p:spPr>
          <a:xfrm>
            <a:off x="5486400" y="1280160"/>
            <a:ext cx="1097280" cy="1097280"/>
          </a:xfrm>
          <a:prstGeom prst="ellipse">
            <a:avLst/>
          </a:prstGeom>
          <a:solidFill>
            <a:srgbClr val="00B050"/>
          </a:solidFill>
          <a:ln/>
        </p:spPr>
      </p:sp>
      <p:sp>
        <p:nvSpPr>
          <p:cNvPr id="34" name="Text 17"/>
          <p:cNvSpPr/>
          <p:nvPr/>
        </p:nvSpPr>
        <p:spPr>
          <a:xfrm>
            <a:off x="5486400" y="1280160"/>
            <a:ext cx="1097280" cy="1097280"/>
          </a:xfrm>
          <a:prstGeom prst="rect">
            <a:avLst/>
          </a:prstGeom>
          <a:noFill/>
          <a:ln/>
        </p:spPr>
        <p:txBody>
          <a:bodyPr wrap="square" rtlCol="0" anchor="ctr"/>
          <a:lstStyle/>
          <a:p>
            <a:pPr algn="ctr"/>
            <a:r>
              <a:rPr lang="en-US" sz="4267" dirty="0">
                <a:solidFill>
                  <a:srgbClr val="000000"/>
                </a:solidFill>
                <a:latin typeface="Microsoft YaHei" pitchFamily="34" charset="0"/>
                <a:ea typeface="Microsoft YaHei" pitchFamily="34" charset="-122"/>
                <a:cs typeface="Microsoft YaHei" pitchFamily="34" charset="-120"/>
              </a:rPr>
              <a:t>⌛</a:t>
            </a:r>
            <a:endParaRPr lang="en-US" sz="4267" dirty="0"/>
          </a:p>
        </p:txBody>
      </p:sp>
      <p:sp>
        <p:nvSpPr>
          <p:cNvPr id="37" name="Text 18"/>
          <p:cNvSpPr/>
          <p:nvPr/>
        </p:nvSpPr>
        <p:spPr>
          <a:xfrm>
            <a:off x="4450080" y="2438400"/>
            <a:ext cx="3169920" cy="390144"/>
          </a:xfrm>
          <a:prstGeom prst="rect">
            <a:avLst/>
          </a:prstGeom>
          <a:noFill/>
          <a:ln/>
        </p:spPr>
        <p:txBody>
          <a:bodyPr wrap="square" rtlCol="0" anchor="ctr"/>
          <a:lstStyle/>
          <a:p>
            <a:pPr algn="ctr"/>
            <a:r>
              <a:rPr lang="en-US" sz="1867" b="1" dirty="0">
                <a:solidFill>
                  <a:srgbClr val="2D2D2D"/>
                </a:solidFill>
                <a:latin typeface="Microsoft YaHei" pitchFamily="34" charset="0"/>
                <a:ea typeface="Microsoft YaHei" pitchFamily="34" charset="-122"/>
                <a:cs typeface="Microsoft YaHei" pitchFamily="34" charset="-120"/>
              </a:rPr>
              <a:t>充电时间较长</a:t>
            </a:r>
            <a:endParaRPr lang="en-US" sz="1867" dirty="0"/>
          </a:p>
        </p:txBody>
      </p:sp>
      <p:sp>
        <p:nvSpPr>
          <p:cNvPr id="38" name="Text 19"/>
          <p:cNvSpPr/>
          <p:nvPr/>
        </p:nvSpPr>
        <p:spPr>
          <a:xfrm>
            <a:off x="4450080" y="2804160"/>
            <a:ext cx="3169920" cy="609600"/>
          </a:xfrm>
          <a:prstGeom prst="rect">
            <a:avLst/>
          </a:prstGeom>
          <a:noFill/>
          <a:ln/>
        </p:spPr>
        <p:txBody>
          <a:bodyPr wrap="square" rtlCol="0" anchor="ctr"/>
          <a:lstStyle/>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快充 120 kW</a:t>
            </a:r>
            <a:endParaRPr lang="en-US" sz="1467" dirty="0"/>
          </a:p>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慢充仅 40 kW</a:t>
            </a:r>
            <a:endParaRPr lang="en-US" sz="1467" dirty="0"/>
          </a:p>
        </p:txBody>
      </p:sp>
      <p:sp>
        <p:nvSpPr>
          <p:cNvPr id="39" name="Shape 20"/>
          <p:cNvSpPr/>
          <p:nvPr/>
        </p:nvSpPr>
        <p:spPr>
          <a:xfrm>
            <a:off x="8046720" y="1036320"/>
            <a:ext cx="3413760" cy="2438400"/>
          </a:xfrm>
          <a:prstGeom prst="roundRect">
            <a:avLst>
              <a:gd name="adj" fmla="val 3000"/>
            </a:avLst>
          </a:prstGeom>
          <a:solidFill>
            <a:srgbClr val="F8F5F0"/>
          </a:solidFill>
          <a:ln w="5080">
            <a:solidFill>
              <a:srgbClr val="C4A35A">
                <a:alpha val="30000"/>
              </a:srgbClr>
            </a:solidFill>
            <a:prstDash val="solid"/>
          </a:ln>
        </p:spPr>
      </p:sp>
      <p:sp>
        <p:nvSpPr>
          <p:cNvPr id="40" name="Shape 21"/>
          <p:cNvSpPr/>
          <p:nvPr/>
        </p:nvSpPr>
        <p:spPr>
          <a:xfrm>
            <a:off x="8046720" y="1036320"/>
            <a:ext cx="3413760" cy="60960"/>
          </a:xfrm>
          <a:prstGeom prst="rect">
            <a:avLst/>
          </a:prstGeom>
          <a:solidFill>
            <a:srgbClr val="00B050"/>
          </a:solidFill>
          <a:ln/>
        </p:spPr>
      </p:sp>
      <p:sp>
        <p:nvSpPr>
          <p:cNvPr id="41" name="Shape 22"/>
          <p:cNvSpPr/>
          <p:nvPr/>
        </p:nvSpPr>
        <p:spPr>
          <a:xfrm>
            <a:off x="9204960" y="1280160"/>
            <a:ext cx="1097280" cy="1097280"/>
          </a:xfrm>
          <a:prstGeom prst="ellipse">
            <a:avLst/>
          </a:prstGeom>
          <a:solidFill>
            <a:srgbClr val="00B050"/>
          </a:solidFill>
          <a:ln/>
        </p:spPr>
      </p:sp>
      <p:sp>
        <p:nvSpPr>
          <p:cNvPr id="42" name="Text 23"/>
          <p:cNvSpPr/>
          <p:nvPr/>
        </p:nvSpPr>
        <p:spPr>
          <a:xfrm>
            <a:off x="9204960" y="1280160"/>
            <a:ext cx="1097280" cy="1097280"/>
          </a:xfrm>
          <a:prstGeom prst="rect">
            <a:avLst/>
          </a:prstGeom>
          <a:noFill/>
          <a:ln/>
        </p:spPr>
        <p:txBody>
          <a:bodyPr wrap="square" rtlCol="0" anchor="ctr"/>
          <a:lstStyle/>
          <a:p>
            <a:pPr algn="ctr"/>
            <a:r>
              <a:rPr lang="en-US" sz="4267" dirty="0">
                <a:solidFill>
                  <a:srgbClr val="000000"/>
                </a:solidFill>
                <a:latin typeface="Microsoft YaHei" pitchFamily="34" charset="0"/>
                <a:ea typeface="Microsoft YaHei" pitchFamily="34" charset="-122"/>
                <a:cs typeface="Microsoft YaHei" pitchFamily="34" charset="-120"/>
              </a:rPr>
              <a:t>⚡</a:t>
            </a:r>
            <a:endParaRPr lang="en-US" sz="4267" dirty="0"/>
          </a:p>
        </p:txBody>
      </p:sp>
      <p:sp>
        <p:nvSpPr>
          <p:cNvPr id="43" name="Text 24"/>
          <p:cNvSpPr/>
          <p:nvPr/>
        </p:nvSpPr>
        <p:spPr>
          <a:xfrm>
            <a:off x="8168640" y="2438400"/>
            <a:ext cx="3169920" cy="390144"/>
          </a:xfrm>
          <a:prstGeom prst="rect">
            <a:avLst/>
          </a:prstGeom>
          <a:noFill/>
          <a:ln/>
        </p:spPr>
        <p:txBody>
          <a:bodyPr wrap="square" rtlCol="0" anchor="ctr"/>
          <a:lstStyle/>
          <a:p>
            <a:pPr algn="ctr"/>
            <a:r>
              <a:rPr lang="en-US" sz="1867" b="1" dirty="0">
                <a:solidFill>
                  <a:srgbClr val="2D2D2D"/>
                </a:solidFill>
                <a:latin typeface="Microsoft YaHei" pitchFamily="34" charset="0"/>
                <a:ea typeface="Microsoft YaHei" pitchFamily="34" charset="-122"/>
                <a:cs typeface="Microsoft YaHei" pitchFamily="34" charset="-120"/>
              </a:rPr>
              <a:t>充电桩资源紧张</a:t>
            </a:r>
            <a:endParaRPr lang="en-US" sz="1867" dirty="0"/>
          </a:p>
        </p:txBody>
      </p:sp>
      <p:sp>
        <p:nvSpPr>
          <p:cNvPr id="44" name="Text 25"/>
          <p:cNvSpPr/>
          <p:nvPr/>
        </p:nvSpPr>
        <p:spPr>
          <a:xfrm>
            <a:off x="8168640" y="2804160"/>
            <a:ext cx="3169920" cy="609600"/>
          </a:xfrm>
          <a:prstGeom prst="rect">
            <a:avLst/>
          </a:prstGeom>
          <a:noFill/>
          <a:ln/>
        </p:spPr>
        <p:txBody>
          <a:bodyPr wrap="square" rtlCol="0" anchor="ctr"/>
          <a:lstStyle/>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站点与桩位数量</a:t>
            </a:r>
            <a:endParaRPr lang="en-US" sz="1467" dirty="0"/>
          </a:p>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约束调度自由度</a:t>
            </a:r>
            <a:endParaRPr lang="en-US" sz="1467" dirty="0"/>
          </a:p>
        </p:txBody>
      </p:sp>
      <p:sp>
        <p:nvSpPr>
          <p:cNvPr id="45" name="Shape 26"/>
          <p:cNvSpPr/>
          <p:nvPr/>
        </p:nvSpPr>
        <p:spPr>
          <a:xfrm>
            <a:off x="609600" y="3718560"/>
            <a:ext cx="3413760" cy="2438400"/>
          </a:xfrm>
          <a:prstGeom prst="roundRect">
            <a:avLst>
              <a:gd name="adj" fmla="val 3000"/>
            </a:avLst>
          </a:prstGeom>
          <a:solidFill>
            <a:srgbClr val="F8F5F0"/>
          </a:solidFill>
          <a:ln w="5080">
            <a:solidFill>
              <a:srgbClr val="C4A35A">
                <a:alpha val="30000"/>
              </a:srgbClr>
            </a:solidFill>
            <a:prstDash val="solid"/>
          </a:ln>
        </p:spPr>
      </p:sp>
      <p:sp>
        <p:nvSpPr>
          <p:cNvPr id="46" name="Shape 27"/>
          <p:cNvSpPr/>
          <p:nvPr/>
        </p:nvSpPr>
        <p:spPr>
          <a:xfrm>
            <a:off x="609600" y="3718560"/>
            <a:ext cx="3413760" cy="60960"/>
          </a:xfrm>
          <a:prstGeom prst="rect">
            <a:avLst/>
          </a:prstGeom>
          <a:solidFill>
            <a:srgbClr val="C4A35A"/>
          </a:solidFill>
          <a:ln/>
        </p:spPr>
      </p:sp>
      <p:sp>
        <p:nvSpPr>
          <p:cNvPr id="47" name="Shape 28"/>
          <p:cNvSpPr/>
          <p:nvPr/>
        </p:nvSpPr>
        <p:spPr>
          <a:xfrm>
            <a:off x="1767840" y="3962400"/>
            <a:ext cx="1097280" cy="1097280"/>
          </a:xfrm>
          <a:prstGeom prst="ellipse">
            <a:avLst/>
          </a:prstGeom>
          <a:solidFill>
            <a:srgbClr val="C4A35A"/>
          </a:solidFill>
          <a:ln/>
        </p:spPr>
      </p:sp>
      <p:sp>
        <p:nvSpPr>
          <p:cNvPr id="48" name="Text 29"/>
          <p:cNvSpPr/>
          <p:nvPr/>
        </p:nvSpPr>
        <p:spPr>
          <a:xfrm>
            <a:off x="1767840" y="3962400"/>
            <a:ext cx="1097280" cy="1097280"/>
          </a:xfrm>
          <a:prstGeom prst="rect">
            <a:avLst/>
          </a:prstGeom>
          <a:noFill/>
          <a:ln/>
        </p:spPr>
        <p:txBody>
          <a:bodyPr wrap="square" rtlCol="0" anchor="ctr"/>
          <a:lstStyle/>
          <a:p>
            <a:pPr algn="ctr"/>
            <a:r>
              <a:rPr lang="en-US" sz="4267" dirty="0">
                <a:solidFill>
                  <a:srgbClr val="000000"/>
                </a:solidFill>
                <a:latin typeface="Microsoft YaHei" pitchFamily="34" charset="0"/>
                <a:ea typeface="Microsoft YaHei" pitchFamily="34" charset="-122"/>
                <a:cs typeface="Microsoft YaHei" pitchFamily="34" charset="-120"/>
              </a:rPr>
              <a:t>📊</a:t>
            </a:r>
            <a:endParaRPr lang="en-US" sz="4267" dirty="0"/>
          </a:p>
        </p:txBody>
      </p:sp>
      <p:sp>
        <p:nvSpPr>
          <p:cNvPr id="49" name="Text 30"/>
          <p:cNvSpPr/>
          <p:nvPr/>
        </p:nvSpPr>
        <p:spPr>
          <a:xfrm>
            <a:off x="731520" y="5120640"/>
            <a:ext cx="3169920" cy="390144"/>
          </a:xfrm>
          <a:prstGeom prst="rect">
            <a:avLst/>
          </a:prstGeom>
          <a:noFill/>
          <a:ln/>
        </p:spPr>
        <p:txBody>
          <a:bodyPr wrap="square" rtlCol="0" anchor="ctr"/>
          <a:lstStyle/>
          <a:p>
            <a:pPr algn="ctr"/>
            <a:r>
              <a:rPr lang="en-US" sz="1867" b="1" dirty="0">
                <a:solidFill>
                  <a:srgbClr val="2D2D2D"/>
                </a:solidFill>
                <a:latin typeface="Microsoft YaHei" pitchFamily="34" charset="0"/>
                <a:ea typeface="Microsoft YaHei" pitchFamily="34" charset="-122"/>
                <a:cs typeface="Microsoft YaHei" pitchFamily="34" charset="-120"/>
              </a:rPr>
              <a:t>分时电价波动</a:t>
            </a:r>
            <a:endParaRPr lang="en-US" sz="1867" dirty="0"/>
          </a:p>
        </p:txBody>
      </p:sp>
      <p:sp>
        <p:nvSpPr>
          <p:cNvPr id="50" name="Text 31"/>
          <p:cNvSpPr/>
          <p:nvPr/>
        </p:nvSpPr>
        <p:spPr>
          <a:xfrm>
            <a:off x="731520" y="5486400"/>
            <a:ext cx="3169920" cy="609600"/>
          </a:xfrm>
          <a:prstGeom prst="rect">
            <a:avLst/>
          </a:prstGeom>
          <a:noFill/>
          <a:ln/>
        </p:spPr>
        <p:txBody>
          <a:bodyPr wrap="square" rtlCol="0" anchor="ctr"/>
          <a:lstStyle/>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峰 HKD 1.343</a:t>
            </a:r>
            <a:endParaRPr lang="en-US" sz="1467" dirty="0"/>
          </a:p>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谷 HKD 0.913/kWh</a:t>
            </a:r>
            <a:endParaRPr lang="en-US" sz="1467" dirty="0"/>
          </a:p>
        </p:txBody>
      </p:sp>
      <p:sp>
        <p:nvSpPr>
          <p:cNvPr id="51" name="Shape 32"/>
          <p:cNvSpPr/>
          <p:nvPr/>
        </p:nvSpPr>
        <p:spPr>
          <a:xfrm>
            <a:off x="4328160" y="3718560"/>
            <a:ext cx="3413760" cy="2438400"/>
          </a:xfrm>
          <a:prstGeom prst="roundRect">
            <a:avLst>
              <a:gd name="adj" fmla="val 3000"/>
            </a:avLst>
          </a:prstGeom>
          <a:solidFill>
            <a:srgbClr val="F8F5F0"/>
          </a:solidFill>
          <a:ln w="5080">
            <a:solidFill>
              <a:srgbClr val="C4A35A">
                <a:alpha val="30000"/>
              </a:srgbClr>
            </a:solidFill>
            <a:prstDash val="solid"/>
          </a:ln>
        </p:spPr>
      </p:sp>
      <p:sp>
        <p:nvSpPr>
          <p:cNvPr id="52" name="Shape 33"/>
          <p:cNvSpPr/>
          <p:nvPr/>
        </p:nvSpPr>
        <p:spPr>
          <a:xfrm>
            <a:off x="4328160" y="3718560"/>
            <a:ext cx="3413760" cy="60960"/>
          </a:xfrm>
          <a:prstGeom prst="rect">
            <a:avLst/>
          </a:prstGeom>
          <a:solidFill>
            <a:srgbClr val="C4A35A"/>
          </a:solidFill>
          <a:ln/>
        </p:spPr>
      </p:sp>
      <p:sp>
        <p:nvSpPr>
          <p:cNvPr id="53" name="Shape 34"/>
          <p:cNvSpPr/>
          <p:nvPr/>
        </p:nvSpPr>
        <p:spPr>
          <a:xfrm>
            <a:off x="5486400" y="3962400"/>
            <a:ext cx="1097280" cy="1097280"/>
          </a:xfrm>
          <a:prstGeom prst="ellipse">
            <a:avLst/>
          </a:prstGeom>
          <a:solidFill>
            <a:srgbClr val="C4A35A"/>
          </a:solidFill>
          <a:ln/>
        </p:spPr>
      </p:sp>
      <p:sp>
        <p:nvSpPr>
          <p:cNvPr id="54" name="Text 35"/>
          <p:cNvSpPr/>
          <p:nvPr/>
        </p:nvSpPr>
        <p:spPr>
          <a:xfrm>
            <a:off x="5486400" y="3962400"/>
            <a:ext cx="1097280" cy="1097280"/>
          </a:xfrm>
          <a:prstGeom prst="rect">
            <a:avLst/>
          </a:prstGeom>
          <a:noFill/>
          <a:ln/>
        </p:spPr>
        <p:txBody>
          <a:bodyPr wrap="square" rtlCol="0" anchor="ctr"/>
          <a:lstStyle/>
          <a:p>
            <a:pPr algn="ctr"/>
            <a:r>
              <a:rPr lang="en-US" sz="4267" dirty="0">
                <a:solidFill>
                  <a:srgbClr val="000000"/>
                </a:solidFill>
                <a:latin typeface="Microsoft YaHei" pitchFamily="34" charset="0"/>
                <a:ea typeface="Microsoft YaHei" pitchFamily="34" charset="-122"/>
                <a:cs typeface="Microsoft YaHei" pitchFamily="34" charset="-120"/>
              </a:rPr>
              <a:t>🌡</a:t>
            </a:r>
            <a:endParaRPr lang="en-US" sz="4267" dirty="0"/>
          </a:p>
        </p:txBody>
      </p:sp>
      <p:sp>
        <p:nvSpPr>
          <p:cNvPr id="55" name="Text 36"/>
          <p:cNvSpPr/>
          <p:nvPr/>
        </p:nvSpPr>
        <p:spPr>
          <a:xfrm>
            <a:off x="4450080" y="5120640"/>
            <a:ext cx="3169920" cy="390144"/>
          </a:xfrm>
          <a:prstGeom prst="rect">
            <a:avLst/>
          </a:prstGeom>
          <a:noFill/>
          <a:ln/>
        </p:spPr>
        <p:txBody>
          <a:bodyPr wrap="square" rtlCol="0" anchor="ctr"/>
          <a:lstStyle/>
          <a:p>
            <a:pPr algn="ctr"/>
            <a:r>
              <a:rPr lang="en-US" sz="1867" b="1" dirty="0">
                <a:solidFill>
                  <a:srgbClr val="2D2D2D"/>
                </a:solidFill>
                <a:latin typeface="Microsoft YaHei" pitchFamily="34" charset="0"/>
                <a:ea typeface="Microsoft YaHei" pitchFamily="34" charset="-122"/>
                <a:cs typeface="Microsoft YaHei" pitchFamily="34" charset="-120"/>
              </a:rPr>
              <a:t>单趟能耗不确定</a:t>
            </a:r>
            <a:endParaRPr lang="en-US" sz="1867" dirty="0"/>
          </a:p>
        </p:txBody>
      </p:sp>
      <p:sp>
        <p:nvSpPr>
          <p:cNvPr id="56" name="Text 37"/>
          <p:cNvSpPr/>
          <p:nvPr/>
        </p:nvSpPr>
        <p:spPr>
          <a:xfrm>
            <a:off x="4450080" y="5486400"/>
            <a:ext cx="3169920" cy="609600"/>
          </a:xfrm>
          <a:prstGeom prst="rect">
            <a:avLst/>
          </a:prstGeom>
          <a:noFill/>
          <a:ln/>
        </p:spPr>
        <p:txBody>
          <a:bodyPr wrap="square" rtlCol="0" anchor="ctr"/>
          <a:lstStyle/>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坡度·拥堵·载客</a:t>
            </a:r>
            <a:endParaRPr lang="en-US" sz="1467" dirty="0"/>
          </a:p>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温度共同作用</a:t>
            </a:r>
            <a:endParaRPr lang="en-US" sz="1467" dirty="0"/>
          </a:p>
        </p:txBody>
      </p:sp>
      <p:sp>
        <p:nvSpPr>
          <p:cNvPr id="57" name="Shape 38"/>
          <p:cNvSpPr/>
          <p:nvPr/>
        </p:nvSpPr>
        <p:spPr>
          <a:xfrm>
            <a:off x="8046720" y="3718560"/>
            <a:ext cx="3413760" cy="2438400"/>
          </a:xfrm>
          <a:prstGeom prst="roundRect">
            <a:avLst>
              <a:gd name="adj" fmla="val 3000"/>
            </a:avLst>
          </a:prstGeom>
          <a:solidFill>
            <a:srgbClr val="F8F5F0"/>
          </a:solidFill>
          <a:ln w="5080">
            <a:solidFill>
              <a:srgbClr val="C4A35A">
                <a:alpha val="30000"/>
              </a:srgbClr>
            </a:solidFill>
            <a:prstDash val="solid"/>
          </a:ln>
        </p:spPr>
      </p:sp>
      <p:sp>
        <p:nvSpPr>
          <p:cNvPr id="58" name="Shape 39"/>
          <p:cNvSpPr/>
          <p:nvPr/>
        </p:nvSpPr>
        <p:spPr>
          <a:xfrm>
            <a:off x="8046720" y="3718560"/>
            <a:ext cx="3413760" cy="60960"/>
          </a:xfrm>
          <a:prstGeom prst="rect">
            <a:avLst/>
          </a:prstGeom>
          <a:solidFill>
            <a:srgbClr val="C4A35A"/>
          </a:solidFill>
          <a:ln/>
        </p:spPr>
      </p:sp>
      <p:sp>
        <p:nvSpPr>
          <p:cNvPr id="59" name="Shape 40"/>
          <p:cNvSpPr/>
          <p:nvPr/>
        </p:nvSpPr>
        <p:spPr>
          <a:xfrm>
            <a:off x="9204960" y="3962400"/>
            <a:ext cx="1097280" cy="1097280"/>
          </a:xfrm>
          <a:prstGeom prst="ellipse">
            <a:avLst/>
          </a:prstGeom>
          <a:solidFill>
            <a:srgbClr val="C4A35A"/>
          </a:solidFill>
          <a:ln/>
        </p:spPr>
      </p:sp>
      <p:sp>
        <p:nvSpPr>
          <p:cNvPr id="60" name="Text 41"/>
          <p:cNvSpPr/>
          <p:nvPr/>
        </p:nvSpPr>
        <p:spPr>
          <a:xfrm>
            <a:off x="9204960" y="3962400"/>
            <a:ext cx="1097280" cy="1097280"/>
          </a:xfrm>
          <a:prstGeom prst="rect">
            <a:avLst/>
          </a:prstGeom>
          <a:noFill/>
          <a:ln/>
        </p:spPr>
        <p:txBody>
          <a:bodyPr wrap="square" rtlCol="0" anchor="ctr"/>
          <a:lstStyle/>
          <a:p>
            <a:pPr algn="ctr"/>
            <a:r>
              <a:rPr lang="en-US" sz="4267" dirty="0">
                <a:solidFill>
                  <a:srgbClr val="000000"/>
                </a:solidFill>
                <a:latin typeface="Microsoft YaHei" pitchFamily="34" charset="0"/>
                <a:ea typeface="Microsoft YaHei" pitchFamily="34" charset="-122"/>
                <a:cs typeface="Microsoft YaHei" pitchFamily="34" charset="-120"/>
              </a:rPr>
              <a:t>🚌</a:t>
            </a:r>
            <a:endParaRPr lang="en-US" sz="4267" dirty="0"/>
          </a:p>
        </p:txBody>
      </p:sp>
      <p:sp>
        <p:nvSpPr>
          <p:cNvPr id="61" name="Text 42"/>
          <p:cNvSpPr/>
          <p:nvPr/>
        </p:nvSpPr>
        <p:spPr>
          <a:xfrm>
            <a:off x="8168640" y="5120640"/>
            <a:ext cx="3169920" cy="390144"/>
          </a:xfrm>
          <a:prstGeom prst="rect">
            <a:avLst/>
          </a:prstGeom>
          <a:noFill/>
          <a:ln/>
        </p:spPr>
        <p:txBody>
          <a:bodyPr wrap="square" rtlCol="0" anchor="ctr"/>
          <a:lstStyle/>
          <a:p>
            <a:pPr algn="ctr"/>
            <a:r>
              <a:rPr lang="en-US" sz="1867" b="1" dirty="0">
                <a:solidFill>
                  <a:srgbClr val="2D2D2D"/>
                </a:solidFill>
                <a:latin typeface="Microsoft YaHei" pitchFamily="34" charset="0"/>
                <a:ea typeface="Microsoft YaHei" pitchFamily="34" charset="-122"/>
                <a:cs typeface="Microsoft YaHei" pitchFamily="34" charset="-120"/>
              </a:rPr>
              <a:t>班次充电冲突</a:t>
            </a:r>
            <a:endParaRPr lang="en-US" sz="1867" dirty="0"/>
          </a:p>
        </p:txBody>
      </p:sp>
      <p:sp>
        <p:nvSpPr>
          <p:cNvPr id="62" name="Text 43"/>
          <p:cNvSpPr/>
          <p:nvPr/>
        </p:nvSpPr>
        <p:spPr>
          <a:xfrm>
            <a:off x="8168640" y="5486400"/>
            <a:ext cx="3169920" cy="609600"/>
          </a:xfrm>
          <a:prstGeom prst="rect">
            <a:avLst/>
          </a:prstGeom>
          <a:noFill/>
          <a:ln/>
        </p:spPr>
        <p:txBody>
          <a:bodyPr wrap="square" rtlCol="0" anchor="ctr"/>
          <a:lstStyle/>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车辆无法同时</a:t>
            </a:r>
            <a:endParaRPr lang="en-US" sz="1467" dirty="0"/>
          </a:p>
          <a:p>
            <a:pPr algn="ctr">
              <a:lnSpc>
                <a:spcPct val="120000"/>
              </a:lnSpc>
            </a:pPr>
            <a:r>
              <a:rPr lang="en-US" sz="1467" dirty="0">
                <a:solidFill>
                  <a:srgbClr val="9B9B9B"/>
                </a:solidFill>
                <a:latin typeface="Microsoft YaHei" pitchFamily="34" charset="0"/>
                <a:ea typeface="Microsoft YaHei" pitchFamily="34" charset="-122"/>
                <a:cs typeface="Microsoft YaHei" pitchFamily="34" charset="-120"/>
              </a:rPr>
              <a:t>跑班和充电</a:t>
            </a:r>
            <a:endParaRPr lang="en-US" sz="1467" dirty="0"/>
          </a:p>
        </p:txBody>
      </p:sp>
      <p:sp>
        <p:nvSpPr>
          <p:cNvPr id="63"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01  </a:t>
            </a:r>
            <a:r>
              <a:rPr lang="zh-CN" altLang="en-US" sz="1200" dirty="0">
                <a:solidFill>
                  <a:srgbClr val="C4A35A"/>
                </a:solidFill>
                <a:latin typeface="Microsoft YaHei" pitchFamily="34" charset="0"/>
                <a:ea typeface="Microsoft YaHei" pitchFamily="34" charset="-122"/>
                <a:cs typeface="Microsoft YaHei" pitchFamily="34" charset="-120"/>
              </a:rPr>
              <a:t>项</a:t>
            </a:r>
            <a:r>
              <a:rPr lang="zh-CN" altLang="en-US" sz="1200" dirty="0" smtClean="0">
                <a:solidFill>
                  <a:srgbClr val="C4A35A"/>
                </a:solidFill>
                <a:latin typeface="Microsoft YaHei" pitchFamily="34" charset="0"/>
                <a:ea typeface="Microsoft YaHei" pitchFamily="34" charset="-122"/>
                <a:cs typeface="Microsoft YaHei" pitchFamily="34" charset="-120"/>
              </a:rPr>
              <a:t>目背景与任务拆解</a:t>
            </a:r>
            <a:endParaRPr lang="en-US" sz="1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p:tgtEl>
                                          <p:spTgt spid="13"/>
                                        </p:tgtEl>
                                        <p:attrNameLst>
                                          <p:attrName>ppt_y</p:attrName>
                                        </p:attrNameLst>
                                      </p:cBhvr>
                                      <p:tavLst>
                                        <p:tav tm="0">
                                          <p:val>
                                            <p:strVal val="#ppt_y-#ppt_h*1.125000"/>
                                          </p:val>
                                        </p:tav>
                                        <p:tav tm="100000">
                                          <p:val>
                                            <p:strVal val="#ppt_y"/>
                                          </p:val>
                                        </p:tav>
                                      </p:tavLst>
                                    </p:anim>
                                    <p:animEffect transition="in" filter="wipe(down)">
                                      <p:cBhvr>
                                        <p:cTn id="12" dur="500"/>
                                        <p:tgtEl>
                                          <p:spTgt spid="13"/>
                                        </p:tgtEl>
                                      </p:cBhvr>
                                    </p:animEffect>
                                  </p:childTnLst>
                                </p:cTn>
                              </p:par>
                              <p:par>
                                <p:cTn id="13" presetID="12" presetClass="entr" presetSubtype="2"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ppt_x</p:attrName>
                                        </p:attrNameLst>
                                      </p:cBhvr>
                                      <p:tavLst>
                                        <p:tav tm="0">
                                          <p:val>
                                            <p:strVal val="#ppt_x+#ppt_w*1.125000"/>
                                          </p:val>
                                        </p:tav>
                                        <p:tav tm="100000">
                                          <p:val>
                                            <p:strVal val="#ppt_x"/>
                                          </p:val>
                                        </p:tav>
                                      </p:tavLst>
                                    </p:anim>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5" name="淘宝-想搞设计PPT(倒卖必究)-5"/>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 name="淘宝-想搞设计PPT(倒卖必究)-7"/>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grpSp>
        <p:nvGrpSpPr>
          <p:cNvPr id="3" name="组合 2"/>
          <p:cNvGrpSpPr/>
          <p:nvPr/>
        </p:nvGrpSpPr>
        <p:grpSpPr>
          <a:xfrm>
            <a:off x="2552717" y="217491"/>
            <a:ext cx="10128180" cy="483953"/>
            <a:chOff x="2552717" y="217491"/>
            <a:chExt cx="10128180" cy="483953"/>
          </a:xfrm>
        </p:grpSpPr>
        <p:sp>
          <p:nvSpPr>
            <p:cNvPr id="4" name="淘宝-想搞设计PPT(倒卖必究)-4"/>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想搞设计PPT(倒卖必究)-8"/>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2552717" y="239783"/>
              <a:ext cx="3209525" cy="461661"/>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问</a:t>
              </a:r>
              <a:r>
                <a:rPr lang="zh-CN" altLang="en-US" sz="1200" dirty="0">
                  <a:solidFill>
                    <a:schemeClr val="bg1"/>
                  </a:solidFill>
                  <a:latin typeface="微软雅黑" panose="020B0503020204020204" pitchFamily="34" charset="-122"/>
                  <a:ea typeface="微软雅黑" panose="020B0503020204020204" pitchFamily="34" charset="-122"/>
                </a:rPr>
                <a:t>题定义：输入约束、调度决策与优化目标</a:t>
              </a: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52" name="Picture 51"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43" name="Shape 8"/>
          <p:cNvSpPr/>
          <p:nvPr/>
        </p:nvSpPr>
        <p:spPr>
          <a:xfrm>
            <a:off x="609600" y="1036320"/>
            <a:ext cx="3474720" cy="4389120"/>
          </a:xfrm>
          <a:prstGeom prst="roundRect">
            <a:avLst>
              <a:gd name="adj" fmla="val 2105"/>
            </a:avLst>
          </a:prstGeom>
          <a:solidFill>
            <a:srgbClr val="F8F5F0"/>
          </a:solidFill>
          <a:ln w="5080">
            <a:solidFill>
              <a:srgbClr val="C4A35A">
                <a:alpha val="30000"/>
              </a:srgbClr>
            </a:solidFill>
            <a:prstDash val="solid"/>
          </a:ln>
        </p:spPr>
      </p:sp>
      <p:sp>
        <p:nvSpPr>
          <p:cNvPr id="44" name="Shape 9"/>
          <p:cNvSpPr/>
          <p:nvPr/>
        </p:nvSpPr>
        <p:spPr>
          <a:xfrm>
            <a:off x="609600" y="1036320"/>
            <a:ext cx="3474720" cy="73152"/>
          </a:xfrm>
          <a:prstGeom prst="rect">
            <a:avLst/>
          </a:prstGeom>
          <a:solidFill>
            <a:srgbClr val="8B1A2B"/>
          </a:solidFill>
          <a:ln/>
        </p:spPr>
      </p:sp>
      <p:sp>
        <p:nvSpPr>
          <p:cNvPr id="45" name="Text 10"/>
          <p:cNvSpPr/>
          <p:nvPr/>
        </p:nvSpPr>
        <p:spPr>
          <a:xfrm>
            <a:off x="731520" y="1280160"/>
            <a:ext cx="3230880" cy="487680"/>
          </a:xfrm>
          <a:prstGeom prst="rect">
            <a:avLst/>
          </a:prstGeom>
          <a:noFill/>
          <a:ln/>
        </p:spPr>
        <p:txBody>
          <a:bodyPr wrap="square" rtlCol="0" anchor="ctr"/>
          <a:lstStyle/>
          <a:p>
            <a:pPr algn="ctr"/>
            <a:r>
              <a:rPr lang="en-US" sz="2400" b="1" dirty="0">
                <a:solidFill>
                  <a:srgbClr val="8B1A2B"/>
                </a:solidFill>
                <a:latin typeface="Microsoft YaHei" pitchFamily="34" charset="0"/>
                <a:ea typeface="Microsoft YaHei" pitchFamily="34" charset="-122"/>
                <a:cs typeface="Microsoft YaHei" pitchFamily="34" charset="-120"/>
              </a:rPr>
              <a:t>输入</a:t>
            </a:r>
            <a:endParaRPr lang="en-US" sz="2400" dirty="0"/>
          </a:p>
        </p:txBody>
      </p:sp>
      <p:sp>
        <p:nvSpPr>
          <p:cNvPr id="46" name="Text 11"/>
          <p:cNvSpPr/>
          <p:nvPr/>
        </p:nvSpPr>
        <p:spPr>
          <a:xfrm>
            <a:off x="914400" y="201168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GTFS 班次时刻表</a:t>
            </a:r>
            <a:endParaRPr lang="en-US" sz="1600" dirty="0"/>
          </a:p>
        </p:txBody>
      </p:sp>
      <p:sp>
        <p:nvSpPr>
          <p:cNvPr id="47" name="Text 12"/>
          <p:cNvSpPr/>
          <p:nvPr/>
        </p:nvSpPr>
        <p:spPr>
          <a:xfrm>
            <a:off x="914400" y="243840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车辆电池 / SOC 参数</a:t>
            </a:r>
            <a:endParaRPr lang="en-US" sz="1600" dirty="0"/>
          </a:p>
        </p:txBody>
      </p:sp>
      <p:sp>
        <p:nvSpPr>
          <p:cNvPr id="48" name="Text 13"/>
          <p:cNvSpPr/>
          <p:nvPr/>
        </p:nvSpPr>
        <p:spPr>
          <a:xfrm>
            <a:off x="914400" y="286512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充电站位置与功率</a:t>
            </a:r>
            <a:endParaRPr lang="en-US" sz="1600" dirty="0"/>
          </a:p>
        </p:txBody>
      </p:sp>
      <p:sp>
        <p:nvSpPr>
          <p:cNvPr id="49" name="Text 14"/>
          <p:cNvSpPr/>
          <p:nvPr/>
        </p:nvSpPr>
        <p:spPr>
          <a:xfrm>
            <a:off x="914400" y="329184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分时电价表</a:t>
            </a:r>
            <a:endParaRPr lang="en-US" sz="1600" dirty="0"/>
          </a:p>
        </p:txBody>
      </p:sp>
      <p:sp>
        <p:nvSpPr>
          <p:cNvPr id="50" name="Text 15"/>
          <p:cNvSpPr/>
          <p:nvPr/>
        </p:nvSpPr>
        <p:spPr>
          <a:xfrm>
            <a:off x="914400" y="371856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路径特征（坡度拥堵）</a:t>
            </a:r>
            <a:endParaRPr lang="en-US" sz="1600" dirty="0"/>
          </a:p>
        </p:txBody>
      </p:sp>
      <p:sp>
        <p:nvSpPr>
          <p:cNvPr id="51" name="Text 16"/>
          <p:cNvSpPr/>
          <p:nvPr/>
        </p:nvSpPr>
        <p:spPr>
          <a:xfrm>
            <a:off x="914400" y="414528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天气与交通条件</a:t>
            </a:r>
            <a:endParaRPr lang="en-US" sz="1600" dirty="0"/>
          </a:p>
        </p:txBody>
      </p:sp>
      <p:sp>
        <p:nvSpPr>
          <p:cNvPr id="53" name="Text 17"/>
          <p:cNvSpPr/>
          <p:nvPr/>
        </p:nvSpPr>
        <p:spPr>
          <a:xfrm>
            <a:off x="4084320" y="2438400"/>
            <a:ext cx="304800" cy="609600"/>
          </a:xfrm>
          <a:prstGeom prst="rect">
            <a:avLst/>
          </a:prstGeom>
          <a:noFill/>
          <a:ln/>
        </p:spPr>
        <p:txBody>
          <a:bodyPr wrap="square" rtlCol="0" anchor="ctr"/>
          <a:lstStyle/>
          <a:p>
            <a:pPr algn="ctr"/>
            <a:r>
              <a:rPr lang="en-US" sz="3200" dirty="0">
                <a:solidFill>
                  <a:srgbClr val="C4A35A"/>
                </a:solidFill>
                <a:latin typeface="Microsoft YaHei" pitchFamily="34" charset="0"/>
                <a:ea typeface="Microsoft YaHei" pitchFamily="34" charset="-122"/>
                <a:cs typeface="Microsoft YaHei" pitchFamily="34" charset="-120"/>
              </a:rPr>
              <a:t>→</a:t>
            </a:r>
            <a:endParaRPr lang="en-US" sz="3200" dirty="0"/>
          </a:p>
        </p:txBody>
      </p:sp>
      <p:sp>
        <p:nvSpPr>
          <p:cNvPr id="54" name="Shape 18"/>
          <p:cNvSpPr/>
          <p:nvPr/>
        </p:nvSpPr>
        <p:spPr>
          <a:xfrm>
            <a:off x="4389120" y="1036320"/>
            <a:ext cx="3474720" cy="4389120"/>
          </a:xfrm>
          <a:prstGeom prst="roundRect">
            <a:avLst>
              <a:gd name="adj" fmla="val 2105"/>
            </a:avLst>
          </a:prstGeom>
          <a:solidFill>
            <a:srgbClr val="F8F5F0"/>
          </a:solidFill>
          <a:ln w="5080">
            <a:solidFill>
              <a:srgbClr val="C4A35A">
                <a:alpha val="30000"/>
              </a:srgbClr>
            </a:solidFill>
            <a:prstDash val="solid"/>
          </a:ln>
        </p:spPr>
      </p:sp>
      <p:sp>
        <p:nvSpPr>
          <p:cNvPr id="55" name="Shape 19"/>
          <p:cNvSpPr/>
          <p:nvPr/>
        </p:nvSpPr>
        <p:spPr>
          <a:xfrm>
            <a:off x="4389120" y="1036320"/>
            <a:ext cx="3474720" cy="73152"/>
          </a:xfrm>
          <a:prstGeom prst="rect">
            <a:avLst/>
          </a:prstGeom>
          <a:solidFill>
            <a:srgbClr val="C4A35A"/>
          </a:solidFill>
          <a:ln/>
        </p:spPr>
      </p:sp>
      <p:sp>
        <p:nvSpPr>
          <p:cNvPr id="56" name="Text 20"/>
          <p:cNvSpPr/>
          <p:nvPr/>
        </p:nvSpPr>
        <p:spPr>
          <a:xfrm>
            <a:off x="4511040" y="1280160"/>
            <a:ext cx="3230880" cy="487680"/>
          </a:xfrm>
          <a:prstGeom prst="rect">
            <a:avLst/>
          </a:prstGeom>
          <a:noFill/>
          <a:ln/>
        </p:spPr>
        <p:txBody>
          <a:bodyPr wrap="square" rtlCol="0" anchor="ctr"/>
          <a:lstStyle/>
          <a:p>
            <a:pPr algn="ctr"/>
            <a:r>
              <a:rPr lang="en-US" sz="2400" b="1" dirty="0">
                <a:solidFill>
                  <a:srgbClr val="C4A35A"/>
                </a:solidFill>
                <a:latin typeface="Microsoft YaHei" pitchFamily="34" charset="0"/>
                <a:ea typeface="Microsoft YaHei" pitchFamily="34" charset="-122"/>
                <a:cs typeface="Microsoft YaHei" pitchFamily="34" charset="-120"/>
              </a:rPr>
              <a:t>决策</a:t>
            </a:r>
            <a:endParaRPr lang="en-US" sz="2400" dirty="0"/>
          </a:p>
        </p:txBody>
      </p:sp>
      <p:sp>
        <p:nvSpPr>
          <p:cNvPr id="57" name="Text 21"/>
          <p:cNvSpPr/>
          <p:nvPr/>
        </p:nvSpPr>
        <p:spPr>
          <a:xfrm>
            <a:off x="4693920" y="201168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何时触发充电</a:t>
            </a:r>
            <a:endParaRPr lang="en-US" sz="1600" dirty="0"/>
          </a:p>
        </p:txBody>
      </p:sp>
      <p:sp>
        <p:nvSpPr>
          <p:cNvPr id="58" name="Text 22"/>
          <p:cNvSpPr/>
          <p:nvPr/>
        </p:nvSpPr>
        <p:spPr>
          <a:xfrm>
            <a:off x="4693920" y="243840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去哪座充电站</a:t>
            </a:r>
            <a:endParaRPr lang="en-US" sz="1600" dirty="0"/>
          </a:p>
        </p:txBody>
      </p:sp>
      <p:sp>
        <p:nvSpPr>
          <p:cNvPr id="59" name="Text 23"/>
          <p:cNvSpPr/>
          <p:nvPr/>
        </p:nvSpPr>
        <p:spPr>
          <a:xfrm>
            <a:off x="4693920" y="286512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快充还是慢充</a:t>
            </a:r>
            <a:endParaRPr lang="en-US" sz="1600" dirty="0"/>
          </a:p>
        </p:txBody>
      </p:sp>
      <p:sp>
        <p:nvSpPr>
          <p:cNvPr id="60" name="Text 24"/>
          <p:cNvSpPr/>
          <p:nvPr/>
        </p:nvSpPr>
        <p:spPr>
          <a:xfrm>
            <a:off x="4693920" y="329184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充到多少目标 SOC</a:t>
            </a:r>
            <a:endParaRPr lang="en-US" sz="1600" dirty="0"/>
          </a:p>
        </p:txBody>
      </p:sp>
      <p:sp>
        <p:nvSpPr>
          <p:cNvPr id="61" name="Text 25"/>
          <p:cNvSpPr/>
          <p:nvPr/>
        </p:nvSpPr>
        <p:spPr>
          <a:xfrm>
            <a:off x="4693920" y="371856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排队等待策略</a:t>
            </a:r>
            <a:endParaRPr lang="en-US" sz="1600" dirty="0"/>
          </a:p>
        </p:txBody>
      </p:sp>
      <p:sp>
        <p:nvSpPr>
          <p:cNvPr id="62" name="Text 26"/>
          <p:cNvSpPr/>
          <p:nvPr/>
        </p:nvSpPr>
        <p:spPr>
          <a:xfrm>
            <a:off x="7863840" y="2438400"/>
            <a:ext cx="304800" cy="609600"/>
          </a:xfrm>
          <a:prstGeom prst="rect">
            <a:avLst/>
          </a:prstGeom>
          <a:noFill/>
          <a:ln/>
        </p:spPr>
        <p:txBody>
          <a:bodyPr wrap="square" rtlCol="0" anchor="ctr"/>
          <a:lstStyle/>
          <a:p>
            <a:pPr algn="ctr"/>
            <a:r>
              <a:rPr lang="en-US" sz="3200" dirty="0">
                <a:solidFill>
                  <a:srgbClr val="C4A35A"/>
                </a:solidFill>
                <a:latin typeface="Microsoft YaHei" pitchFamily="34" charset="0"/>
                <a:ea typeface="Microsoft YaHei" pitchFamily="34" charset="-122"/>
                <a:cs typeface="Microsoft YaHei" pitchFamily="34" charset="-120"/>
              </a:rPr>
              <a:t>→</a:t>
            </a:r>
            <a:endParaRPr lang="en-US" sz="3200" dirty="0"/>
          </a:p>
        </p:txBody>
      </p:sp>
      <p:sp>
        <p:nvSpPr>
          <p:cNvPr id="63" name="Shape 27"/>
          <p:cNvSpPr/>
          <p:nvPr/>
        </p:nvSpPr>
        <p:spPr>
          <a:xfrm>
            <a:off x="8168640" y="1036320"/>
            <a:ext cx="3474720" cy="4389120"/>
          </a:xfrm>
          <a:prstGeom prst="roundRect">
            <a:avLst>
              <a:gd name="adj" fmla="val 2105"/>
            </a:avLst>
          </a:prstGeom>
          <a:solidFill>
            <a:srgbClr val="F8F5F0"/>
          </a:solidFill>
          <a:ln w="5080">
            <a:solidFill>
              <a:srgbClr val="C4A35A">
                <a:alpha val="30000"/>
              </a:srgbClr>
            </a:solidFill>
            <a:prstDash val="solid"/>
          </a:ln>
        </p:spPr>
      </p:sp>
      <p:sp>
        <p:nvSpPr>
          <p:cNvPr id="64" name="Shape 28"/>
          <p:cNvSpPr/>
          <p:nvPr/>
        </p:nvSpPr>
        <p:spPr>
          <a:xfrm>
            <a:off x="8168640" y="1036320"/>
            <a:ext cx="3474720" cy="73152"/>
          </a:xfrm>
          <a:prstGeom prst="rect">
            <a:avLst/>
          </a:prstGeom>
          <a:solidFill>
            <a:srgbClr val="2E7D32"/>
          </a:solidFill>
          <a:ln/>
        </p:spPr>
      </p:sp>
      <p:sp>
        <p:nvSpPr>
          <p:cNvPr id="65" name="Text 29"/>
          <p:cNvSpPr/>
          <p:nvPr/>
        </p:nvSpPr>
        <p:spPr>
          <a:xfrm>
            <a:off x="8290560" y="1280160"/>
            <a:ext cx="3230880" cy="487680"/>
          </a:xfrm>
          <a:prstGeom prst="rect">
            <a:avLst/>
          </a:prstGeom>
          <a:noFill/>
          <a:ln/>
        </p:spPr>
        <p:txBody>
          <a:bodyPr wrap="square" rtlCol="0" anchor="ctr"/>
          <a:lstStyle/>
          <a:p>
            <a:pPr algn="ctr"/>
            <a:r>
              <a:rPr lang="en-US" sz="2400" b="1" dirty="0">
                <a:solidFill>
                  <a:srgbClr val="2E7D32"/>
                </a:solidFill>
                <a:latin typeface="Microsoft YaHei" pitchFamily="34" charset="0"/>
                <a:ea typeface="Microsoft YaHei" pitchFamily="34" charset="-122"/>
                <a:cs typeface="Microsoft YaHei" pitchFamily="34" charset="-120"/>
              </a:rPr>
              <a:t>目标</a:t>
            </a:r>
            <a:endParaRPr lang="en-US" sz="2400" dirty="0"/>
          </a:p>
        </p:txBody>
      </p:sp>
      <p:sp>
        <p:nvSpPr>
          <p:cNvPr id="66" name="Text 30"/>
          <p:cNvSpPr/>
          <p:nvPr/>
        </p:nvSpPr>
        <p:spPr>
          <a:xfrm>
            <a:off x="8473440" y="201168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最小化总充电成本</a:t>
            </a:r>
            <a:endParaRPr lang="en-US" sz="1600" dirty="0"/>
          </a:p>
        </p:txBody>
      </p:sp>
      <p:sp>
        <p:nvSpPr>
          <p:cNvPr id="67" name="Text 31"/>
          <p:cNvSpPr/>
          <p:nvPr/>
        </p:nvSpPr>
        <p:spPr>
          <a:xfrm>
            <a:off x="8473440" y="243840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零未完成班次</a:t>
            </a:r>
            <a:endParaRPr lang="en-US" sz="1600" dirty="0"/>
          </a:p>
        </p:txBody>
      </p:sp>
      <p:sp>
        <p:nvSpPr>
          <p:cNvPr id="68" name="Text 32"/>
          <p:cNvSpPr/>
          <p:nvPr/>
        </p:nvSpPr>
        <p:spPr>
          <a:xfrm>
            <a:off x="8473440" y="286512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降低间接碳排放</a:t>
            </a:r>
            <a:endParaRPr lang="en-US" sz="1600" dirty="0"/>
          </a:p>
        </p:txBody>
      </p:sp>
      <p:sp>
        <p:nvSpPr>
          <p:cNvPr id="69" name="Text 33"/>
          <p:cNvSpPr/>
          <p:nvPr/>
        </p:nvSpPr>
        <p:spPr>
          <a:xfrm>
            <a:off x="8473440" y="329184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缩短平均等待时间</a:t>
            </a:r>
            <a:endParaRPr lang="en-US" sz="1600" dirty="0"/>
          </a:p>
        </p:txBody>
      </p:sp>
      <p:sp>
        <p:nvSpPr>
          <p:cNvPr id="70" name="Text 34"/>
          <p:cNvSpPr/>
          <p:nvPr/>
        </p:nvSpPr>
        <p:spPr>
          <a:xfrm>
            <a:off x="8473440" y="3718560"/>
            <a:ext cx="2865120" cy="365760"/>
          </a:xfrm>
          <a:prstGeom prst="rect">
            <a:avLst/>
          </a:prstGeom>
          <a:noFill/>
          <a:ln/>
        </p:spPr>
        <p:txBody>
          <a:bodyPr wrap="square" rtlCol="0" anchor="ctr"/>
          <a:lstStyle/>
          <a:p>
            <a:r>
              <a:rPr lang="en-US" sz="1600" dirty="0">
                <a:solidFill>
                  <a:srgbClr val="2D2D2D"/>
                </a:solidFill>
                <a:latin typeface="Microsoft YaHei" pitchFamily="34" charset="0"/>
                <a:ea typeface="Microsoft YaHei" pitchFamily="34" charset="-122"/>
                <a:cs typeface="Microsoft YaHei" pitchFamily="34" charset="-120"/>
              </a:rPr>
              <a:t>· 保障 SOC ≥ 20%</a:t>
            </a:r>
            <a:endParaRPr lang="en-US" sz="1600" dirty="0"/>
          </a:p>
        </p:txBody>
      </p:sp>
      <p:sp>
        <p:nvSpPr>
          <p:cNvPr id="74" name="Shape 35"/>
          <p:cNvSpPr/>
          <p:nvPr/>
        </p:nvSpPr>
        <p:spPr>
          <a:xfrm>
            <a:off x="533400" y="5486400"/>
            <a:ext cx="11181272" cy="624381"/>
          </a:xfrm>
          <a:prstGeom prst="roundRect">
            <a:avLst>
              <a:gd name="adj" fmla="val 9231"/>
            </a:avLst>
          </a:prstGeom>
          <a:solidFill>
            <a:srgbClr val="15548D"/>
          </a:solidFill>
          <a:ln w="5080">
            <a:solidFill>
              <a:srgbClr val="C4A35A">
                <a:alpha val="30000"/>
              </a:srgbClr>
            </a:solidFill>
            <a:prstDash val="solid"/>
          </a:ln>
        </p:spPr>
      </p:sp>
      <p:sp>
        <p:nvSpPr>
          <p:cNvPr id="75" name="Text 36"/>
          <p:cNvSpPr/>
          <p:nvPr/>
        </p:nvSpPr>
        <p:spPr>
          <a:xfrm>
            <a:off x="656271" y="5606201"/>
            <a:ext cx="10935530" cy="576352"/>
          </a:xfrm>
          <a:prstGeom prst="rect">
            <a:avLst/>
          </a:prstGeom>
          <a:noFill/>
          <a:ln/>
        </p:spPr>
        <p:txBody>
          <a:bodyPr wrap="square" rtlCol="0" anchor="ctr"/>
          <a:lstStyle/>
          <a:p>
            <a:pPr algn="ctr"/>
            <a:r>
              <a:rPr lang="zh-CN" altLang="en-US" sz="1600" dirty="0" smtClean="0">
                <a:solidFill>
                  <a:srgbClr val="FFFFFF"/>
                </a:solidFill>
                <a:latin typeface="Consolas" pitchFamily="34" charset="0"/>
                <a:ea typeface="Consolas" pitchFamily="34" charset="-122"/>
                <a:cs typeface="Consolas" pitchFamily="34" charset="-120"/>
              </a:rPr>
              <a:t>本</a:t>
            </a:r>
            <a:r>
              <a:rPr lang="zh-CN" altLang="en-US" sz="1600" dirty="0">
                <a:solidFill>
                  <a:srgbClr val="FFFFFF"/>
                </a:solidFill>
                <a:latin typeface="Consolas" pitchFamily="34" charset="0"/>
                <a:ea typeface="Consolas" pitchFamily="34" charset="-122"/>
                <a:cs typeface="Consolas" pitchFamily="34" charset="-120"/>
              </a:rPr>
              <a:t>项目</a:t>
            </a:r>
            <a:r>
              <a:rPr lang="zh-CN" altLang="en-US" sz="1600" dirty="0" smtClean="0">
                <a:solidFill>
                  <a:srgbClr val="FFFFFF"/>
                </a:solidFill>
                <a:latin typeface="Consolas" pitchFamily="34" charset="0"/>
                <a:ea typeface="Consolas" pitchFamily="34" charset="-122"/>
                <a:cs typeface="Consolas" pitchFamily="34" charset="-120"/>
              </a:rPr>
              <a:t>将</a:t>
            </a:r>
            <a:r>
              <a:rPr lang="zh-CN" altLang="en-US" sz="1600" dirty="0">
                <a:solidFill>
                  <a:srgbClr val="FFFFFF"/>
                </a:solidFill>
                <a:latin typeface="Consolas" pitchFamily="34" charset="0"/>
                <a:ea typeface="Consolas" pitchFamily="34" charset="-122"/>
                <a:cs typeface="Consolas" pitchFamily="34" charset="-120"/>
              </a:rPr>
              <a:t>挑战</a:t>
            </a:r>
            <a:r>
              <a:rPr lang="zh-CN" altLang="en-US" sz="1600" dirty="0" smtClean="0">
                <a:solidFill>
                  <a:srgbClr val="FFFFFF"/>
                </a:solidFill>
                <a:latin typeface="Consolas" pitchFamily="34" charset="0"/>
                <a:ea typeface="Consolas" pitchFamily="34" charset="-122"/>
                <a:cs typeface="Consolas" pitchFamily="34" charset="-120"/>
              </a:rPr>
              <a:t>转</a:t>
            </a:r>
            <a:r>
              <a:rPr lang="zh-CN" altLang="en-US" sz="1600" dirty="0">
                <a:solidFill>
                  <a:srgbClr val="FFFFFF"/>
                </a:solidFill>
                <a:latin typeface="Consolas" pitchFamily="34" charset="0"/>
                <a:ea typeface="Consolas" pitchFamily="34" charset="-122"/>
                <a:cs typeface="Consolas" pitchFamily="34" charset="-120"/>
              </a:rPr>
              <a:t>化为一个可仿真的组合优化问题：以预测能</a:t>
            </a:r>
            <a:r>
              <a:rPr lang="zh-CN" altLang="en-US" sz="1600" dirty="0" smtClean="0">
                <a:solidFill>
                  <a:srgbClr val="FFFFFF"/>
                </a:solidFill>
                <a:latin typeface="Consolas" pitchFamily="34" charset="0"/>
                <a:ea typeface="Consolas" pitchFamily="34" charset="-122"/>
                <a:cs typeface="Consolas" pitchFamily="34" charset="-120"/>
              </a:rPr>
              <a:t>耗等为</a:t>
            </a:r>
            <a:r>
              <a:rPr lang="zh-CN" altLang="en-US" sz="1600" dirty="0">
                <a:solidFill>
                  <a:srgbClr val="FFFFFF"/>
                </a:solidFill>
                <a:latin typeface="Consolas" pitchFamily="34" charset="0"/>
                <a:ea typeface="Consolas" pitchFamily="34" charset="-122"/>
                <a:cs typeface="Consolas" pitchFamily="34" charset="-120"/>
              </a:rPr>
              <a:t>输入，以调度可行性与成本最</a:t>
            </a:r>
            <a:r>
              <a:rPr lang="zh-CN" altLang="en-US" sz="1600" dirty="0" smtClean="0">
                <a:solidFill>
                  <a:srgbClr val="FFFFFF"/>
                </a:solidFill>
                <a:latin typeface="Consolas" pitchFamily="34" charset="0"/>
                <a:ea typeface="Consolas" pitchFamily="34" charset="-122"/>
                <a:cs typeface="Consolas" pitchFamily="34" charset="-120"/>
              </a:rPr>
              <a:t>优等为</a:t>
            </a:r>
            <a:r>
              <a:rPr lang="zh-CN" altLang="en-US" sz="1600" dirty="0">
                <a:solidFill>
                  <a:srgbClr val="FFFFFF"/>
                </a:solidFill>
                <a:latin typeface="Consolas" pitchFamily="34" charset="0"/>
                <a:ea typeface="Consolas" pitchFamily="34" charset="-122"/>
                <a:cs typeface="Consolas" pitchFamily="34" charset="-120"/>
              </a:rPr>
              <a:t>输出。</a:t>
            </a:r>
          </a:p>
          <a:p>
            <a:pPr algn="ctr"/>
            <a:endParaRPr lang="en-US" sz="1600" dirty="0"/>
          </a:p>
        </p:txBody>
      </p:sp>
      <p:sp>
        <p:nvSpPr>
          <p:cNvPr id="7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01  </a:t>
            </a:r>
            <a:r>
              <a:rPr lang="zh-CN" altLang="en-US" sz="1200" dirty="0" smtClean="0">
                <a:solidFill>
                  <a:srgbClr val="C4A35A"/>
                </a:solidFill>
                <a:latin typeface="Microsoft YaHei" pitchFamily="34" charset="0"/>
                <a:ea typeface="Microsoft YaHei" pitchFamily="34" charset="-122"/>
                <a:cs typeface="Microsoft YaHei" pitchFamily="34" charset="-120"/>
              </a:rPr>
              <a:t>项目背景与任务拆解</a:t>
            </a:r>
            <a:endParaRPr lang="en-US" sz="1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down)">
                                      <p:cBhvr>
                                        <p:cTn id="12" dur="500"/>
                                        <p:tgtEl>
                                          <p:spTgt spid="7"/>
                                        </p:tgtEl>
                                      </p:cBhvr>
                                    </p:animEffect>
                                  </p:childTnLst>
                                </p:cTn>
                              </p:par>
                              <p:par>
                                <p:cTn id="13" presetID="12" presetClass="entr" presetSubtype="2"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ppt_x</p:attrName>
                                        </p:attrNameLst>
                                      </p:cBhvr>
                                      <p:tavLst>
                                        <p:tav tm="0">
                                          <p:val>
                                            <p:strVal val="#ppt_x+#ppt_w*1.125000"/>
                                          </p:val>
                                        </p:tav>
                                        <p:tav tm="100000">
                                          <p:val>
                                            <p:strVal val="#ppt_x"/>
                                          </p:val>
                                        </p:tav>
                                      </p:tavLst>
                                    </p:anim>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淘宝-想搞设计PPT(倒卖必究)-10"/>
          <p:cNvSpPr/>
          <p:nvPr/>
        </p:nvSpPr>
        <p:spPr>
          <a:xfrm>
            <a:off x="2857500" y="2686050"/>
            <a:ext cx="9334500" cy="12954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淘宝-想搞设计PPT(倒卖必究)-11"/>
          <p:cNvSpPr/>
          <p:nvPr/>
        </p:nvSpPr>
        <p:spPr>
          <a:xfrm>
            <a:off x="2857500" y="4133850"/>
            <a:ext cx="8210550" cy="952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p:grpSpPr>
        <p:sp>
          <p:nvSpPr>
            <p:cNvPr id="9" name="淘宝-想搞设计PPT(倒卖必究)-9"/>
            <p:cNvSpPr/>
            <p:nvPr/>
          </p:nvSpPr>
          <p:spPr>
            <a:xfrm>
              <a:off x="1123950" y="2686050"/>
              <a:ext cx="1543050" cy="15430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1407285" y="2903577"/>
              <a:ext cx="976380" cy="1107996"/>
            </a:xfrm>
            <a:prstGeom prst="rect">
              <a:avLst/>
            </a:prstGeom>
            <a:no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2</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2" name="淘宝-想搞设计PPT(倒卖必究)-12"/>
          <p:cNvSpPr txBox="1"/>
          <p:nvPr/>
        </p:nvSpPr>
        <p:spPr>
          <a:xfrm>
            <a:off x="2950335" y="2750022"/>
            <a:ext cx="2646870" cy="830993"/>
          </a:xfrm>
          <a:prstGeom prst="rect">
            <a:avLst/>
          </a:prstGeom>
          <a:noFill/>
        </p:spPr>
        <p:txBody>
          <a:bodyPr wrap="none" lIns="91436" tIns="45718" rIns="91436" bIns="45718" rtlCol="0">
            <a:spAutoFit/>
          </a:bodyPr>
          <a:lstStyle>
            <a:defPPr>
              <a:defRPr lang="zh-CN"/>
            </a:defPPr>
            <a:lvl1pP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solidFill>
                  <a:srgbClr val="FFFFFF"/>
                </a:solidFill>
              </a:rPr>
              <a:t>数</a:t>
            </a:r>
            <a:r>
              <a:rPr lang="zh-CN" altLang="en-US" dirty="0" smtClean="0">
                <a:solidFill>
                  <a:srgbClr val="FFFFFF"/>
                </a:solidFill>
              </a:rPr>
              <a:t>据构建</a:t>
            </a:r>
            <a:endParaRPr lang="zh-CN" altLang="en-US" dirty="0">
              <a:solidFill>
                <a:srgbClr val="FFFFFF"/>
              </a:solidFill>
            </a:endParaRPr>
          </a:p>
        </p:txBody>
      </p:sp>
      <p:sp>
        <p:nvSpPr>
          <p:cNvPr id="13" name="淘宝-想搞设计PPT(倒卖必究)-13"/>
          <p:cNvSpPr/>
          <p:nvPr/>
        </p:nvSpPr>
        <p:spPr>
          <a:xfrm>
            <a:off x="3139286" y="3537678"/>
            <a:ext cx="2262151" cy="369328"/>
          </a:xfrm>
          <a:prstGeom prst="rect">
            <a:avLst/>
          </a:prstGeom>
        </p:spPr>
        <p:txBody>
          <a:bodyPr wrap="none" lIns="91436" tIns="45718" rIns="91436" bIns="45718">
            <a:spAutoFit/>
          </a:bodyPr>
          <a:lstStyle/>
          <a:p>
            <a:r>
              <a:rPr lang="zh-CN" altLang="en-US" dirty="0">
                <a:solidFill>
                  <a:schemeClr val="bg1"/>
                </a:solidFill>
                <a:latin typeface="微软雅黑" panose="020B0503020204020204" pitchFamily="34" charset="-122"/>
                <a:ea typeface="微软雅黑" panose="020B0503020204020204" pitchFamily="34" charset="-122"/>
              </a:rPr>
              <a:t>数</a:t>
            </a:r>
            <a:r>
              <a:rPr lang="zh-CN" altLang="en-US" dirty="0" smtClean="0">
                <a:solidFill>
                  <a:schemeClr val="bg1"/>
                </a:solidFill>
                <a:latin typeface="微软雅黑" panose="020B0503020204020204" pitchFamily="34" charset="-122"/>
                <a:ea typeface="微软雅黑" panose="020B0503020204020204" pitchFamily="34" charset="-122"/>
              </a:rPr>
              <a:t>据来源与假设边界</a:t>
            </a:r>
            <a:endParaRPr lang="en-US" altLang="zh-CN"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12" presetClass="entr" presetSubtype="2"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p:tgtEl>
                                          <p:spTgt spid="10"/>
                                        </p:tgtEl>
                                        <p:attrNameLst>
                                          <p:attrName>ppt_x</p:attrName>
                                        </p:attrNameLst>
                                      </p:cBhvr>
                                      <p:tavLst>
                                        <p:tav tm="0">
                                          <p:val>
                                            <p:strVal val="#ppt_x+#ppt_w*1.125000"/>
                                          </p:val>
                                        </p:tav>
                                        <p:tav tm="100000">
                                          <p:val>
                                            <p:strVal val="#ppt_x"/>
                                          </p:val>
                                        </p:tav>
                                      </p:tavLst>
                                    </p:anim>
                                    <p:animEffect transition="in" filter="wipe(left)">
                                      <p:cBhvr>
                                        <p:cTn id="14" dur="500"/>
                                        <p:tgtEl>
                                          <p:spTgt spid="10"/>
                                        </p:tgtEl>
                                      </p:cBhvr>
                                    </p:animEffect>
                                  </p:childTnLst>
                                </p:cTn>
                              </p:par>
                              <p:par>
                                <p:cTn id="15" presetID="12" presetClass="entr" presetSubtype="8"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p:tgtEl>
                                          <p:spTgt spid="11"/>
                                        </p:tgtEl>
                                        <p:attrNameLst>
                                          <p:attrName>ppt_x</p:attrName>
                                        </p:attrNameLst>
                                      </p:cBhvr>
                                      <p:tavLst>
                                        <p:tav tm="0">
                                          <p:val>
                                            <p:strVal val="#ppt_x-#ppt_w*1.125000"/>
                                          </p:val>
                                        </p:tav>
                                        <p:tav tm="100000">
                                          <p:val>
                                            <p:strVal val="#ppt_x"/>
                                          </p:val>
                                        </p:tav>
                                      </p:tavLst>
                                    </p:anim>
                                    <p:animEffect transition="in" filter="wipe(right)">
                                      <p:cBhvr>
                                        <p:cTn id="18" dur="500"/>
                                        <p:tgtEl>
                                          <p:spTgt spid="11"/>
                                        </p:tgtEl>
                                      </p:cBhvr>
                                    </p:animEffect>
                                  </p:childTnLst>
                                </p:cTn>
                              </p:par>
                              <p:par>
                                <p:cTn id="19" presetID="12" presetClass="entr" presetSubtype="2"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p:tgtEl>
                                          <p:spTgt spid="12"/>
                                        </p:tgtEl>
                                        <p:attrNameLst>
                                          <p:attrName>ppt_x</p:attrName>
                                        </p:attrNameLst>
                                      </p:cBhvr>
                                      <p:tavLst>
                                        <p:tav tm="0">
                                          <p:val>
                                            <p:strVal val="#ppt_x+#ppt_w*1.125000"/>
                                          </p:val>
                                        </p:tav>
                                        <p:tav tm="100000">
                                          <p:val>
                                            <p:strVal val="#ppt_x"/>
                                          </p:val>
                                        </p:tav>
                                      </p:tavLst>
                                    </p:anim>
                                    <p:animEffect transition="in" filter="wipe(left)">
                                      <p:cBhvr>
                                        <p:cTn id="22" dur="500"/>
                                        <p:tgtEl>
                                          <p:spTgt spid="12"/>
                                        </p:tgtEl>
                                      </p:cBhvr>
                                    </p:animEffect>
                                  </p:childTnLst>
                                </p:cTn>
                              </p:par>
                              <p:par>
                                <p:cTn id="23" presetID="12" presetClass="entr" presetSubtype="2" fill="hold" grpId="0" nodeType="withEffect">
                                  <p:stCondLst>
                                    <p:cond delay="90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p:tgtEl>
                                          <p:spTgt spid="13"/>
                                        </p:tgtEl>
                                        <p:attrNameLst>
                                          <p:attrName>ppt_x</p:attrName>
                                        </p:attrNameLst>
                                      </p:cBhvr>
                                      <p:tavLst>
                                        <p:tav tm="0">
                                          <p:val>
                                            <p:strVal val="#ppt_x+#ppt_w*1.125000"/>
                                          </p:val>
                                        </p:tav>
                                        <p:tav tm="100000">
                                          <p:val>
                                            <p:strVal val="#ppt_x"/>
                                          </p:val>
                                        </p:tav>
                                      </p:tavLst>
                                    </p:anim>
                                    <p:animEffect transition="in" filter="wipe(left)">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6"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数</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据构建</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584397" y="217491"/>
            <a:ext cx="10096500" cy="672133"/>
            <a:chOff x="2584397" y="217491"/>
            <a:chExt cx="10096500" cy="672133"/>
          </a:xfrm>
        </p:grpSpPr>
        <p:sp>
          <p:nvSpPr>
            <p:cNvPr id="5"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p:nvPr/>
          </p:nvSpPr>
          <p:spPr>
            <a:xfrm>
              <a:off x="2609347" y="243297"/>
              <a:ext cx="3441960" cy="646327"/>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数</a:t>
              </a:r>
              <a:r>
                <a:rPr lang="zh-CN" altLang="en-US" sz="1200" dirty="0">
                  <a:solidFill>
                    <a:schemeClr val="bg1"/>
                  </a:solidFill>
                  <a:latin typeface="微软雅黑" panose="020B0503020204020204" pitchFamily="34" charset="-122"/>
                  <a:ea typeface="微软雅黑" panose="020B0503020204020204" pitchFamily="34" charset="-122"/>
                </a:rPr>
                <a:t>据真实性三级分层：真实 → 派生 → 假设补齐</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70" name="Picture 6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67" name="Text 7"/>
          <p:cNvSpPr/>
          <p:nvPr/>
        </p:nvSpPr>
        <p:spPr>
          <a:xfrm>
            <a:off x="299553" y="6334436"/>
            <a:ext cx="4876800" cy="341376"/>
          </a:xfrm>
          <a:prstGeom prst="rect">
            <a:avLst/>
          </a:prstGeom>
          <a:noFill/>
          <a:ln/>
        </p:spPr>
        <p:txBody>
          <a:bodyPr wrap="square" rtlCol="0" anchor="ctr"/>
          <a:lstStyle/>
          <a:p>
            <a:r>
              <a:rPr lang="en-US" sz="1200" dirty="0">
                <a:solidFill>
                  <a:srgbClr val="C4A35A"/>
                </a:solidFill>
                <a:latin typeface="Microsoft YaHei" pitchFamily="34" charset="0"/>
                <a:ea typeface="Microsoft YaHei" pitchFamily="34" charset="-122"/>
                <a:cs typeface="Microsoft YaHei" pitchFamily="34" charset="-120"/>
              </a:rPr>
              <a:t>02  数据来源与假设边界</a:t>
            </a:r>
            <a:endParaRPr lang="en-US" sz="1200" dirty="0"/>
          </a:p>
        </p:txBody>
      </p:sp>
      <p:sp>
        <p:nvSpPr>
          <p:cNvPr id="68" name="Shape 8"/>
          <p:cNvSpPr/>
          <p:nvPr/>
        </p:nvSpPr>
        <p:spPr>
          <a:xfrm>
            <a:off x="609600" y="872420"/>
            <a:ext cx="7315200" cy="1584960"/>
          </a:xfrm>
          <a:prstGeom prst="roundRect">
            <a:avLst>
              <a:gd name="adj" fmla="val 4615"/>
            </a:avLst>
          </a:prstGeom>
          <a:solidFill>
            <a:srgbClr val="F8F5F0"/>
          </a:solidFill>
          <a:ln w="5080">
            <a:solidFill>
              <a:srgbClr val="C4A35A">
                <a:alpha val="30000"/>
              </a:srgbClr>
            </a:solidFill>
            <a:prstDash val="solid"/>
          </a:ln>
        </p:spPr>
      </p:sp>
      <p:sp>
        <p:nvSpPr>
          <p:cNvPr id="69" name="Shape 9"/>
          <p:cNvSpPr/>
          <p:nvPr/>
        </p:nvSpPr>
        <p:spPr>
          <a:xfrm>
            <a:off x="609600" y="872420"/>
            <a:ext cx="73152" cy="1584960"/>
          </a:xfrm>
          <a:prstGeom prst="rect">
            <a:avLst/>
          </a:prstGeom>
          <a:solidFill>
            <a:srgbClr val="2E7D32"/>
          </a:solidFill>
          <a:ln/>
        </p:spPr>
      </p:sp>
      <p:sp>
        <p:nvSpPr>
          <p:cNvPr id="71" name="Text 10"/>
          <p:cNvSpPr/>
          <p:nvPr/>
        </p:nvSpPr>
        <p:spPr>
          <a:xfrm>
            <a:off x="853440" y="969956"/>
            <a:ext cx="6096000" cy="365760"/>
          </a:xfrm>
          <a:prstGeom prst="rect">
            <a:avLst/>
          </a:prstGeom>
          <a:noFill/>
          <a:ln/>
        </p:spPr>
        <p:txBody>
          <a:bodyPr wrap="square" rtlCol="0" anchor="ctr"/>
          <a:lstStyle/>
          <a:p>
            <a:r>
              <a:rPr lang="en-US" sz="1867" b="1" dirty="0">
                <a:solidFill>
                  <a:srgbClr val="2E7D32"/>
                </a:solidFill>
                <a:latin typeface="Microsoft YaHei" pitchFamily="34" charset="0"/>
                <a:ea typeface="Microsoft YaHei" pitchFamily="34" charset="-122"/>
                <a:cs typeface="Microsoft YaHei" pitchFamily="34" charset="-120"/>
              </a:rPr>
              <a:t>第一层  真实公开数据</a:t>
            </a:r>
            <a:endParaRPr lang="en-US" sz="1867" dirty="0"/>
          </a:p>
        </p:txBody>
      </p:sp>
      <p:sp>
        <p:nvSpPr>
          <p:cNvPr id="72" name="Text 11"/>
          <p:cNvSpPr/>
          <p:nvPr/>
        </p:nvSpPr>
        <p:spPr>
          <a:xfrm>
            <a:off x="975360" y="1421060"/>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DATA.GOV.HK GTFS 班次 (77,120 trips / 2,385 线路)</a:t>
            </a:r>
            <a:endParaRPr lang="en-US" sz="1467" dirty="0"/>
          </a:p>
        </p:txBody>
      </p:sp>
      <p:sp>
        <p:nvSpPr>
          <p:cNvPr id="73" name="Text 12"/>
          <p:cNvSpPr/>
          <p:nvPr/>
        </p:nvSpPr>
        <p:spPr>
          <a:xfrm>
            <a:off x="975360" y="1713668"/>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香港天文台当前天气 API</a:t>
            </a:r>
            <a:endParaRPr lang="en-US" sz="1467" dirty="0"/>
          </a:p>
        </p:txBody>
      </p:sp>
      <p:sp>
        <p:nvSpPr>
          <p:cNvPr id="74" name="Text 13"/>
          <p:cNvSpPr/>
          <p:nvPr/>
        </p:nvSpPr>
        <p:spPr>
          <a:xfrm>
            <a:off x="975360" y="2006276"/>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CLP 分时电价结构 (EV ToU Tariff)</a:t>
            </a:r>
            <a:endParaRPr lang="en-US" sz="1467" dirty="0"/>
          </a:p>
        </p:txBody>
      </p:sp>
      <p:sp>
        <p:nvSpPr>
          <p:cNvPr id="75" name="Text 14"/>
          <p:cNvSpPr/>
          <p:nvPr/>
        </p:nvSpPr>
        <p:spPr>
          <a:xfrm>
            <a:off x="4389120" y="2195568"/>
            <a:ext cx="6339840" cy="243840"/>
          </a:xfrm>
          <a:prstGeom prst="rect">
            <a:avLst/>
          </a:prstGeom>
          <a:noFill/>
          <a:ln/>
        </p:spPr>
        <p:txBody>
          <a:bodyPr wrap="square" rtlCol="0" anchor="ctr"/>
          <a:lstStyle/>
          <a:p>
            <a:r>
              <a:rPr lang="en-US" sz="1333" i="1" dirty="0">
                <a:solidFill>
                  <a:srgbClr val="9B9B9B"/>
                </a:solidFill>
                <a:latin typeface="Microsoft YaHei" pitchFamily="34" charset="0"/>
                <a:ea typeface="Microsoft YaHei" pitchFamily="34" charset="-122"/>
                <a:cs typeface="Microsoft YaHei" pitchFamily="34" charset="-120"/>
              </a:rPr>
              <a:t>可追溯到公开来源 · 实验的时序与规模底座</a:t>
            </a:r>
            <a:endParaRPr lang="en-US" sz="1333" dirty="0"/>
          </a:p>
        </p:txBody>
      </p:sp>
      <p:sp>
        <p:nvSpPr>
          <p:cNvPr id="76" name="Shape 15"/>
          <p:cNvSpPr/>
          <p:nvPr/>
        </p:nvSpPr>
        <p:spPr>
          <a:xfrm>
            <a:off x="609600" y="2640260"/>
            <a:ext cx="7315200" cy="1584960"/>
          </a:xfrm>
          <a:prstGeom prst="roundRect">
            <a:avLst>
              <a:gd name="adj" fmla="val 4615"/>
            </a:avLst>
          </a:prstGeom>
          <a:solidFill>
            <a:srgbClr val="F8F5F0"/>
          </a:solidFill>
          <a:ln w="5080">
            <a:solidFill>
              <a:srgbClr val="C4A35A">
                <a:alpha val="30000"/>
              </a:srgbClr>
            </a:solidFill>
            <a:prstDash val="solid"/>
          </a:ln>
        </p:spPr>
      </p:sp>
      <p:sp>
        <p:nvSpPr>
          <p:cNvPr id="77" name="Shape 16"/>
          <p:cNvSpPr/>
          <p:nvPr/>
        </p:nvSpPr>
        <p:spPr>
          <a:xfrm>
            <a:off x="609600" y="2640260"/>
            <a:ext cx="73152" cy="1584960"/>
          </a:xfrm>
          <a:prstGeom prst="rect">
            <a:avLst/>
          </a:prstGeom>
          <a:solidFill>
            <a:srgbClr val="C4A35A"/>
          </a:solidFill>
          <a:ln/>
        </p:spPr>
      </p:sp>
      <p:sp>
        <p:nvSpPr>
          <p:cNvPr id="78" name="Text 17"/>
          <p:cNvSpPr/>
          <p:nvPr/>
        </p:nvSpPr>
        <p:spPr>
          <a:xfrm>
            <a:off x="853440" y="2737796"/>
            <a:ext cx="6096000" cy="365760"/>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第二层  派生/半真实数据</a:t>
            </a:r>
            <a:endParaRPr lang="en-US" sz="1867" dirty="0"/>
          </a:p>
        </p:txBody>
      </p:sp>
      <p:sp>
        <p:nvSpPr>
          <p:cNvPr id="79" name="Text 18"/>
          <p:cNvSpPr/>
          <p:nvPr/>
        </p:nvSpPr>
        <p:spPr>
          <a:xfrm>
            <a:off x="975360" y="3188900"/>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高频线路簇抽样 (current ⊂ planned ⊂ full)</a:t>
            </a:r>
            <a:endParaRPr lang="en-US" sz="1467" dirty="0"/>
          </a:p>
        </p:txBody>
      </p:sp>
      <p:sp>
        <p:nvSpPr>
          <p:cNvPr id="80" name="Text 19"/>
          <p:cNvSpPr/>
          <p:nvPr/>
        </p:nvSpPr>
        <p:spPr>
          <a:xfrm>
            <a:off x="975360" y="3481508"/>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GTFS 首末站派生的充电站候选点</a:t>
            </a:r>
            <a:endParaRPr lang="en-US" sz="1467" dirty="0"/>
          </a:p>
        </p:txBody>
      </p:sp>
      <p:sp>
        <p:nvSpPr>
          <p:cNvPr id="81" name="Text 20"/>
          <p:cNvSpPr/>
          <p:nvPr/>
        </p:nvSpPr>
        <p:spPr>
          <a:xfrm>
            <a:off x="975360" y="3774116"/>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高峰时段判定、速度估算、候选路径生成</a:t>
            </a:r>
            <a:endParaRPr lang="en-US" sz="1467" dirty="0"/>
          </a:p>
        </p:txBody>
      </p:sp>
      <p:sp>
        <p:nvSpPr>
          <p:cNvPr id="82" name="Text 21"/>
          <p:cNvSpPr/>
          <p:nvPr/>
        </p:nvSpPr>
        <p:spPr>
          <a:xfrm>
            <a:off x="4529462" y="3960275"/>
            <a:ext cx="6339840" cy="243840"/>
          </a:xfrm>
          <a:prstGeom prst="rect">
            <a:avLst/>
          </a:prstGeom>
          <a:noFill/>
          <a:ln/>
        </p:spPr>
        <p:txBody>
          <a:bodyPr wrap="square" rtlCol="0" anchor="ctr"/>
          <a:lstStyle/>
          <a:p>
            <a:r>
              <a:rPr lang="en-US" sz="1333" i="1" dirty="0">
                <a:solidFill>
                  <a:srgbClr val="9B9B9B"/>
                </a:solidFill>
                <a:latin typeface="Microsoft YaHei" pitchFamily="34" charset="0"/>
                <a:ea typeface="Microsoft YaHei" pitchFamily="34" charset="-122"/>
                <a:cs typeface="Microsoft YaHei" pitchFamily="34" charset="-120"/>
              </a:rPr>
              <a:t>由真实数据计算得出 · 建模规则影响结果</a:t>
            </a:r>
            <a:endParaRPr lang="en-US" sz="1333" dirty="0"/>
          </a:p>
        </p:txBody>
      </p:sp>
      <p:sp>
        <p:nvSpPr>
          <p:cNvPr id="83" name="Shape 22"/>
          <p:cNvSpPr/>
          <p:nvPr/>
        </p:nvSpPr>
        <p:spPr>
          <a:xfrm>
            <a:off x="609600" y="4408100"/>
            <a:ext cx="7315200" cy="1584960"/>
          </a:xfrm>
          <a:prstGeom prst="roundRect">
            <a:avLst>
              <a:gd name="adj" fmla="val 4615"/>
            </a:avLst>
          </a:prstGeom>
          <a:solidFill>
            <a:srgbClr val="F8F5F0"/>
          </a:solidFill>
          <a:ln w="5080">
            <a:solidFill>
              <a:srgbClr val="C4A35A">
                <a:alpha val="30000"/>
              </a:srgbClr>
            </a:solidFill>
            <a:prstDash val="solid"/>
          </a:ln>
        </p:spPr>
      </p:sp>
      <p:sp>
        <p:nvSpPr>
          <p:cNvPr id="84" name="Shape 23"/>
          <p:cNvSpPr/>
          <p:nvPr/>
        </p:nvSpPr>
        <p:spPr>
          <a:xfrm>
            <a:off x="609600" y="4408100"/>
            <a:ext cx="73152" cy="1584960"/>
          </a:xfrm>
          <a:prstGeom prst="rect">
            <a:avLst/>
          </a:prstGeom>
          <a:solidFill>
            <a:srgbClr val="8B1A2B"/>
          </a:solidFill>
          <a:ln/>
        </p:spPr>
      </p:sp>
      <p:sp>
        <p:nvSpPr>
          <p:cNvPr id="85" name="Text 24"/>
          <p:cNvSpPr/>
          <p:nvPr/>
        </p:nvSpPr>
        <p:spPr>
          <a:xfrm>
            <a:off x="853440" y="4505636"/>
            <a:ext cx="6096000" cy="365760"/>
          </a:xfrm>
          <a:prstGeom prst="rect">
            <a:avLst/>
          </a:prstGeom>
          <a:noFill/>
          <a:ln/>
        </p:spPr>
        <p:txBody>
          <a:bodyPr wrap="square" rtlCol="0" anchor="ctr"/>
          <a:lstStyle/>
          <a:p>
            <a:r>
              <a:rPr lang="en-US" sz="1867" b="1" dirty="0">
                <a:solidFill>
                  <a:srgbClr val="8B1A2B"/>
                </a:solidFill>
                <a:latin typeface="Microsoft YaHei" pitchFamily="34" charset="0"/>
                <a:ea typeface="Microsoft YaHei" pitchFamily="34" charset="-122"/>
                <a:cs typeface="Microsoft YaHei" pitchFamily="34" charset="-120"/>
              </a:rPr>
              <a:t>第三层  假设补齐数据</a:t>
            </a:r>
            <a:endParaRPr lang="en-US" sz="1867" dirty="0"/>
          </a:p>
        </p:txBody>
      </p:sp>
      <p:sp>
        <p:nvSpPr>
          <p:cNvPr id="86" name="Text 25"/>
          <p:cNvSpPr/>
          <p:nvPr/>
        </p:nvSpPr>
        <p:spPr>
          <a:xfrm>
            <a:off x="975360" y="4956740"/>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车辆电池容量 300kWh / SOC 阈值范围</a:t>
            </a:r>
            <a:endParaRPr lang="en-US" sz="1467" dirty="0"/>
          </a:p>
        </p:txBody>
      </p:sp>
      <p:sp>
        <p:nvSpPr>
          <p:cNvPr id="87" name="Text 26"/>
          <p:cNvSpPr/>
          <p:nvPr/>
        </p:nvSpPr>
        <p:spPr>
          <a:xfrm>
            <a:off x="975360" y="5249348"/>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充电桩数量与功率 (快充 120kW / 慢充 40kW)</a:t>
            </a:r>
            <a:endParaRPr lang="en-US" sz="1467" dirty="0"/>
          </a:p>
        </p:txBody>
      </p:sp>
      <p:sp>
        <p:nvSpPr>
          <p:cNvPr id="88" name="Text 27"/>
          <p:cNvSpPr/>
          <p:nvPr/>
        </p:nvSpPr>
        <p:spPr>
          <a:xfrm>
            <a:off x="975360" y="5541956"/>
            <a:ext cx="633984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 逐趟能耗标签 (基于真实特征 + 文献公式 + 场景噪声)</a:t>
            </a:r>
            <a:endParaRPr lang="en-US" sz="1467" dirty="0"/>
          </a:p>
        </p:txBody>
      </p:sp>
      <p:sp>
        <p:nvSpPr>
          <p:cNvPr id="89" name="Text 28"/>
          <p:cNvSpPr/>
          <p:nvPr/>
        </p:nvSpPr>
        <p:spPr>
          <a:xfrm>
            <a:off x="4414866" y="5758133"/>
            <a:ext cx="6339840" cy="243840"/>
          </a:xfrm>
          <a:prstGeom prst="rect">
            <a:avLst/>
          </a:prstGeom>
          <a:noFill/>
          <a:ln/>
        </p:spPr>
        <p:txBody>
          <a:bodyPr wrap="square" rtlCol="0" anchor="ctr"/>
          <a:lstStyle/>
          <a:p>
            <a:r>
              <a:rPr lang="en-US" sz="1333" i="1" dirty="0">
                <a:solidFill>
                  <a:srgbClr val="9B9B9B"/>
                </a:solidFill>
                <a:latin typeface="Microsoft YaHei" pitchFamily="34" charset="0"/>
                <a:ea typeface="Microsoft YaHei" pitchFamily="34" charset="-122"/>
                <a:cs typeface="Microsoft YaHei" pitchFamily="34" charset="-120"/>
              </a:rPr>
              <a:t>基于可解释规则构造 · 非企业真实运营日志</a:t>
            </a:r>
            <a:endParaRPr lang="en-US" sz="1333" dirty="0"/>
          </a:p>
        </p:txBody>
      </p:sp>
      <p:pic>
        <p:nvPicPr>
          <p:cNvPr id="90" name="Image 0" descr="C:\Users\Administrator\Desktop\greenlowcarbon\plannin\PPT\images\data_analytics.jpg"/>
          <p:cNvPicPr>
            <a:picLocks noChangeAspect="1"/>
          </p:cNvPicPr>
          <p:nvPr/>
        </p:nvPicPr>
        <p:blipFill>
          <a:blip r:embed="rId4"/>
          <a:srcRect/>
          <a:stretch/>
        </p:blipFill>
        <p:spPr>
          <a:xfrm>
            <a:off x="7802880" y="872420"/>
            <a:ext cx="4023360" cy="51206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down)">
                                      <p:cBhvr>
                                        <p:cTn id="12" dur="500"/>
                                        <p:tgtEl>
                                          <p:spTgt spid="8"/>
                                        </p:tgtEl>
                                      </p:cBhvr>
                                    </p:animEffect>
                                  </p:childTnLst>
                                </p:cTn>
                              </p:par>
                              <p:par>
                                <p:cTn id="13" presetID="1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ppt_x</p:attrName>
                                        </p:attrNameLst>
                                      </p:cBhvr>
                                      <p:tavLst>
                                        <p:tav tm="0">
                                          <p:val>
                                            <p:strVal val="#ppt_x+#ppt_w*1.125000"/>
                                          </p:val>
                                        </p:tav>
                                        <p:tav tm="100000">
                                          <p:val>
                                            <p:strVal val="#ppt_x"/>
                                          </p:val>
                                        </p:tav>
                                      </p:tavLst>
                                    </p:anim>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29"/>
          <p:cNvSpPr/>
          <p:nvPr/>
        </p:nvSpPr>
        <p:spPr>
          <a:xfrm>
            <a:off x="548640" y="922742"/>
            <a:ext cx="11094720" cy="320040"/>
          </a:xfrm>
          <a:prstGeom prst="roundRect">
            <a:avLst>
              <a:gd name="adj" fmla="val 17143"/>
            </a:avLst>
          </a:prstGeom>
          <a:solidFill>
            <a:srgbClr val="15548D"/>
          </a:solidFill>
          <a:ln w="5080">
            <a:solidFill>
              <a:srgbClr val="C4A35A">
                <a:alpha val="30000"/>
              </a:srgbClr>
            </a:solidFill>
            <a:prstDash val="solid"/>
          </a:ln>
        </p:spPr>
      </p:sp>
      <p:grpSp>
        <p:nvGrpSpPr>
          <p:cNvPr id="2" name="组合 1"/>
          <p:cNvGrpSpPr/>
          <p:nvPr/>
        </p:nvGrpSpPr>
        <p:grpSpPr>
          <a:xfrm>
            <a:off x="-254000" y="201683"/>
            <a:ext cx="898070" cy="523220"/>
            <a:chOff x="-254000" y="201683"/>
            <a:chExt cx="898070" cy="523220"/>
          </a:xfrm>
        </p:grpSpPr>
        <p:sp>
          <p:nvSpPr>
            <p:cNvPr id="6"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数</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据构建</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584397" y="217491"/>
            <a:ext cx="10096500" cy="856799"/>
            <a:chOff x="2584397" y="217491"/>
            <a:chExt cx="10096500" cy="856799"/>
          </a:xfrm>
        </p:grpSpPr>
        <p:sp>
          <p:nvSpPr>
            <p:cNvPr id="5"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p:nvPr/>
          </p:nvSpPr>
          <p:spPr>
            <a:xfrm>
              <a:off x="2645216" y="243297"/>
              <a:ext cx="2576595" cy="830993"/>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真</a:t>
              </a:r>
              <a:r>
                <a:rPr lang="zh-CN" altLang="en-US" sz="1200" dirty="0">
                  <a:solidFill>
                    <a:schemeClr val="bg1"/>
                  </a:solidFill>
                  <a:latin typeface="微软雅黑" panose="020B0503020204020204" pitchFamily="34" charset="-122"/>
                  <a:ea typeface="微软雅黑" panose="020B0503020204020204" pitchFamily="34" charset="-122"/>
                </a:rPr>
                <a:t>实 </a:t>
              </a:r>
              <a:r>
                <a:rPr lang="en-US" altLang="zh-CN" sz="1200" dirty="0">
                  <a:solidFill>
                    <a:schemeClr val="bg1"/>
                  </a:solidFill>
                  <a:latin typeface="微软雅黑" panose="020B0503020204020204" pitchFamily="34" charset="-122"/>
                  <a:ea typeface="微软雅黑" panose="020B0503020204020204" pitchFamily="34" charset="-122"/>
                </a:rPr>
                <a:t>GTFS </a:t>
              </a:r>
              <a:r>
                <a:rPr lang="zh-CN" altLang="en-US" sz="1200" dirty="0">
                  <a:solidFill>
                    <a:schemeClr val="bg1"/>
                  </a:solidFill>
                  <a:latin typeface="微软雅黑" panose="020B0503020204020204" pitchFamily="34" charset="-122"/>
                  <a:ea typeface="微软雅黑" panose="020B0503020204020204" pitchFamily="34" charset="-122"/>
                </a:rPr>
                <a:t>字段 → 项目班次表映射</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70" name="Picture 6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67" name="Text 7"/>
          <p:cNvSpPr/>
          <p:nvPr/>
        </p:nvSpPr>
        <p:spPr>
          <a:xfrm>
            <a:off x="299553" y="6334436"/>
            <a:ext cx="4876800" cy="341376"/>
          </a:xfrm>
          <a:prstGeom prst="rect">
            <a:avLst/>
          </a:prstGeom>
          <a:noFill/>
          <a:ln/>
        </p:spPr>
        <p:txBody>
          <a:bodyPr wrap="square" rtlCol="0" anchor="ctr"/>
          <a:lstStyle/>
          <a:p>
            <a:r>
              <a:rPr lang="en-US" sz="1200" dirty="0">
                <a:solidFill>
                  <a:srgbClr val="C4A35A"/>
                </a:solidFill>
                <a:latin typeface="Microsoft YaHei" pitchFamily="34" charset="0"/>
                <a:ea typeface="Microsoft YaHei" pitchFamily="34" charset="-122"/>
                <a:cs typeface="Microsoft YaHei" pitchFamily="34" charset="-120"/>
              </a:rPr>
              <a:t>02  数据来源与假设边界</a:t>
            </a:r>
            <a:endParaRPr lang="en-US" sz="1200" dirty="0"/>
          </a:p>
        </p:txBody>
      </p:sp>
      <p:sp>
        <p:nvSpPr>
          <p:cNvPr id="34" name="Text 8"/>
          <p:cNvSpPr/>
          <p:nvPr/>
        </p:nvSpPr>
        <p:spPr>
          <a:xfrm>
            <a:off x="609600" y="924178"/>
            <a:ext cx="2072640" cy="365760"/>
          </a:xfrm>
          <a:prstGeom prst="rect">
            <a:avLst/>
          </a:prstGeom>
          <a:noFill/>
          <a:ln/>
        </p:spPr>
        <p:txBody>
          <a:bodyPr wrap="square" rtlCol="0" anchor="ctr"/>
          <a:lstStyle/>
          <a:p>
            <a:r>
              <a:rPr lang="en-US" sz="1467" b="1" dirty="0">
                <a:solidFill>
                  <a:srgbClr val="FFFFFF"/>
                </a:solidFill>
                <a:latin typeface="Microsoft YaHei" pitchFamily="34" charset="0"/>
                <a:ea typeface="Microsoft YaHei" pitchFamily="34" charset="-122"/>
                <a:cs typeface="Microsoft YaHei" pitchFamily="34" charset="-120"/>
              </a:rPr>
              <a:t>项目字段</a:t>
            </a:r>
            <a:endParaRPr lang="en-US" sz="1467" dirty="0">
              <a:solidFill>
                <a:srgbClr val="FFFFFF"/>
              </a:solidFill>
            </a:endParaRPr>
          </a:p>
        </p:txBody>
      </p:sp>
      <p:sp>
        <p:nvSpPr>
          <p:cNvPr id="35" name="Text 9"/>
          <p:cNvSpPr/>
          <p:nvPr/>
        </p:nvSpPr>
        <p:spPr>
          <a:xfrm>
            <a:off x="2804160" y="924178"/>
            <a:ext cx="2560320" cy="365760"/>
          </a:xfrm>
          <a:prstGeom prst="rect">
            <a:avLst/>
          </a:prstGeom>
          <a:noFill/>
          <a:ln/>
        </p:spPr>
        <p:txBody>
          <a:bodyPr wrap="square" rtlCol="0" anchor="ctr"/>
          <a:lstStyle/>
          <a:p>
            <a:r>
              <a:rPr lang="en-US" sz="1467" b="1" dirty="0">
                <a:solidFill>
                  <a:srgbClr val="FFFFFF"/>
                </a:solidFill>
                <a:latin typeface="Microsoft YaHei" pitchFamily="34" charset="0"/>
                <a:ea typeface="Microsoft YaHei" pitchFamily="34" charset="-122"/>
                <a:cs typeface="Microsoft YaHei" pitchFamily="34" charset="-120"/>
              </a:rPr>
              <a:t>GTFS 来源</a:t>
            </a:r>
            <a:endParaRPr lang="en-US" sz="1467" dirty="0">
              <a:solidFill>
                <a:srgbClr val="FFFFFF"/>
              </a:solidFill>
            </a:endParaRPr>
          </a:p>
        </p:txBody>
      </p:sp>
      <p:sp>
        <p:nvSpPr>
          <p:cNvPr id="36" name="Text 10"/>
          <p:cNvSpPr/>
          <p:nvPr/>
        </p:nvSpPr>
        <p:spPr>
          <a:xfrm>
            <a:off x="5486400" y="924178"/>
            <a:ext cx="2682240" cy="365760"/>
          </a:xfrm>
          <a:prstGeom prst="rect">
            <a:avLst/>
          </a:prstGeom>
          <a:noFill/>
          <a:ln/>
        </p:spPr>
        <p:txBody>
          <a:bodyPr wrap="square" rtlCol="0" anchor="ctr"/>
          <a:lstStyle/>
          <a:p>
            <a:r>
              <a:rPr lang="en-US" sz="1467" b="1" dirty="0">
                <a:solidFill>
                  <a:srgbClr val="FFFFFF"/>
                </a:solidFill>
                <a:latin typeface="Microsoft YaHei" pitchFamily="34" charset="0"/>
                <a:ea typeface="Microsoft YaHei" pitchFamily="34" charset="-122"/>
                <a:cs typeface="Microsoft YaHei" pitchFamily="34" charset="-120"/>
              </a:rPr>
              <a:t>处理方式</a:t>
            </a:r>
            <a:endParaRPr lang="en-US" sz="1467" dirty="0">
              <a:solidFill>
                <a:srgbClr val="FFFFFF"/>
              </a:solidFill>
            </a:endParaRPr>
          </a:p>
        </p:txBody>
      </p:sp>
      <p:sp>
        <p:nvSpPr>
          <p:cNvPr id="37" name="Text 11"/>
          <p:cNvSpPr/>
          <p:nvPr/>
        </p:nvSpPr>
        <p:spPr>
          <a:xfrm>
            <a:off x="8290560" y="924178"/>
            <a:ext cx="3291840" cy="365760"/>
          </a:xfrm>
          <a:prstGeom prst="rect">
            <a:avLst/>
          </a:prstGeom>
          <a:noFill/>
          <a:ln/>
        </p:spPr>
        <p:txBody>
          <a:bodyPr wrap="square" rtlCol="0" anchor="ctr"/>
          <a:lstStyle/>
          <a:p>
            <a:r>
              <a:rPr lang="en-US" sz="1467" b="1" dirty="0">
                <a:solidFill>
                  <a:srgbClr val="FFFFFF"/>
                </a:solidFill>
                <a:latin typeface="Microsoft YaHei" pitchFamily="34" charset="0"/>
                <a:ea typeface="Microsoft YaHei" pitchFamily="34" charset="-122"/>
                <a:cs typeface="Microsoft YaHei" pitchFamily="34" charset="-120"/>
              </a:rPr>
              <a:t>为什么需要</a:t>
            </a:r>
            <a:endParaRPr lang="en-US" sz="1467" dirty="0">
              <a:solidFill>
                <a:srgbClr val="FFFFFF"/>
              </a:solidFill>
            </a:endParaRPr>
          </a:p>
        </p:txBody>
      </p:sp>
      <p:sp>
        <p:nvSpPr>
          <p:cNvPr id="38" name="Shape 12"/>
          <p:cNvSpPr/>
          <p:nvPr/>
        </p:nvSpPr>
        <p:spPr>
          <a:xfrm>
            <a:off x="609600" y="1289939"/>
            <a:ext cx="10972800" cy="14631"/>
          </a:xfrm>
          <a:prstGeom prst="rect">
            <a:avLst/>
          </a:prstGeom>
          <a:solidFill>
            <a:srgbClr val="C4A35A"/>
          </a:solidFill>
          <a:ln/>
        </p:spPr>
      </p:sp>
      <p:sp>
        <p:nvSpPr>
          <p:cNvPr id="39" name="Shape 13"/>
          <p:cNvSpPr/>
          <p:nvPr/>
        </p:nvSpPr>
        <p:spPr>
          <a:xfrm>
            <a:off x="548640" y="1363090"/>
            <a:ext cx="11094720" cy="707136"/>
          </a:xfrm>
          <a:prstGeom prst="roundRect">
            <a:avLst>
              <a:gd name="adj" fmla="val 10345"/>
            </a:avLst>
          </a:prstGeom>
          <a:solidFill>
            <a:srgbClr val="F8F5F0"/>
          </a:solidFill>
          <a:ln w="5080">
            <a:solidFill>
              <a:srgbClr val="C4A35A">
                <a:alpha val="30000"/>
              </a:srgbClr>
            </a:solidFill>
            <a:prstDash val="solid"/>
          </a:ln>
        </p:spPr>
      </p:sp>
      <p:sp>
        <p:nvSpPr>
          <p:cNvPr id="40" name="Text 14"/>
          <p:cNvSpPr/>
          <p:nvPr/>
        </p:nvSpPr>
        <p:spPr>
          <a:xfrm>
            <a:off x="609600" y="1411858"/>
            <a:ext cx="2072640" cy="609600"/>
          </a:xfrm>
          <a:prstGeom prst="rect">
            <a:avLst/>
          </a:prstGeom>
          <a:noFill/>
          <a:ln/>
        </p:spPr>
        <p:txBody>
          <a:bodyPr wrap="square" rtlCol="0" anchor="ctr"/>
          <a:lstStyle/>
          <a:p>
            <a:r>
              <a:rPr lang="en-US" sz="1467" b="1" dirty="0">
                <a:solidFill>
                  <a:srgbClr val="15548D"/>
                </a:solidFill>
                <a:latin typeface="Consolas" pitchFamily="34" charset="0"/>
                <a:ea typeface="Consolas" pitchFamily="34" charset="-122"/>
                <a:cs typeface="Consolas" pitchFamily="34" charset="-120"/>
              </a:rPr>
              <a:t>trip_id / route_id</a:t>
            </a:r>
            <a:endParaRPr lang="en-US" sz="1467" dirty="0">
              <a:solidFill>
                <a:srgbClr val="15548D"/>
              </a:solidFill>
            </a:endParaRPr>
          </a:p>
        </p:txBody>
      </p:sp>
      <p:sp>
        <p:nvSpPr>
          <p:cNvPr id="41" name="Text 15"/>
          <p:cNvSpPr/>
          <p:nvPr/>
        </p:nvSpPr>
        <p:spPr>
          <a:xfrm>
            <a:off x="2804160" y="1411858"/>
            <a:ext cx="256032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trips.txt</a:t>
            </a:r>
            <a:endParaRPr lang="en-US" sz="1467" dirty="0"/>
          </a:p>
        </p:txBody>
      </p:sp>
      <p:sp>
        <p:nvSpPr>
          <p:cNvPr id="42" name="Text 16"/>
          <p:cNvSpPr/>
          <p:nvPr/>
        </p:nvSpPr>
        <p:spPr>
          <a:xfrm>
            <a:off x="5486400" y="1411858"/>
            <a:ext cx="268224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保留原始 ID 并规范化</a:t>
            </a:r>
            <a:endParaRPr lang="en-US" sz="1467" dirty="0"/>
          </a:p>
        </p:txBody>
      </p:sp>
      <p:sp>
        <p:nvSpPr>
          <p:cNvPr id="43" name="Text 17"/>
          <p:cNvSpPr/>
          <p:nvPr/>
        </p:nvSpPr>
        <p:spPr>
          <a:xfrm>
            <a:off x="8290560" y="1411858"/>
            <a:ext cx="3291840" cy="609600"/>
          </a:xfrm>
          <a:prstGeom prst="rect">
            <a:avLst/>
          </a:prstGeom>
          <a:noFill/>
          <a:ln/>
        </p:spPr>
        <p:txBody>
          <a:bodyPr wrap="square" rtlCol="0" anchor="ctr"/>
          <a:lstStyle/>
          <a:p>
            <a:r>
              <a:rPr lang="en-US" sz="1467" dirty="0">
                <a:solidFill>
                  <a:srgbClr val="9B9B9B"/>
                </a:solidFill>
                <a:latin typeface="Microsoft YaHei" pitchFamily="34" charset="0"/>
                <a:ea typeface="Microsoft YaHei" pitchFamily="34" charset="-122"/>
                <a:cs typeface="Microsoft YaHei" pitchFamily="34" charset="-120"/>
              </a:rPr>
              <a:t>连接班次、线路和预测结果</a:t>
            </a:r>
            <a:endParaRPr lang="en-US" sz="1467" dirty="0"/>
          </a:p>
        </p:txBody>
      </p:sp>
      <p:sp>
        <p:nvSpPr>
          <p:cNvPr id="44" name="Text 18"/>
          <p:cNvSpPr/>
          <p:nvPr/>
        </p:nvSpPr>
        <p:spPr>
          <a:xfrm>
            <a:off x="609600" y="2265298"/>
            <a:ext cx="2072640" cy="609600"/>
          </a:xfrm>
          <a:prstGeom prst="rect">
            <a:avLst/>
          </a:prstGeom>
          <a:noFill/>
          <a:ln/>
        </p:spPr>
        <p:txBody>
          <a:bodyPr wrap="square" rtlCol="0" anchor="ctr"/>
          <a:lstStyle/>
          <a:p>
            <a:r>
              <a:rPr lang="en-US" sz="1467" b="1" dirty="0">
                <a:solidFill>
                  <a:srgbClr val="15548D"/>
                </a:solidFill>
                <a:latin typeface="Consolas" pitchFamily="34" charset="0"/>
                <a:ea typeface="Consolas" pitchFamily="34" charset="-122"/>
                <a:cs typeface="Consolas" pitchFamily="34" charset="-120"/>
              </a:rPr>
              <a:t>start_time / end_time</a:t>
            </a:r>
            <a:endParaRPr lang="en-US" sz="1467" dirty="0">
              <a:solidFill>
                <a:srgbClr val="15548D"/>
              </a:solidFill>
            </a:endParaRPr>
          </a:p>
        </p:txBody>
      </p:sp>
      <p:sp>
        <p:nvSpPr>
          <p:cNvPr id="45" name="Text 19"/>
          <p:cNvSpPr/>
          <p:nvPr/>
        </p:nvSpPr>
        <p:spPr>
          <a:xfrm>
            <a:off x="2804160" y="2265298"/>
            <a:ext cx="256032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stop_times.txt 首末站</a:t>
            </a:r>
            <a:endParaRPr lang="en-US" sz="1467" dirty="0"/>
          </a:p>
        </p:txBody>
      </p:sp>
      <p:sp>
        <p:nvSpPr>
          <p:cNvPr id="46" name="Text 20"/>
          <p:cNvSpPr/>
          <p:nvPr/>
        </p:nvSpPr>
        <p:spPr>
          <a:xfrm>
            <a:off x="5486400" y="2265298"/>
            <a:ext cx="268224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取首站出发和末站到达时刻</a:t>
            </a:r>
            <a:endParaRPr lang="en-US" sz="1467" dirty="0"/>
          </a:p>
        </p:txBody>
      </p:sp>
      <p:sp>
        <p:nvSpPr>
          <p:cNvPr id="47" name="Text 21"/>
          <p:cNvSpPr/>
          <p:nvPr/>
        </p:nvSpPr>
        <p:spPr>
          <a:xfrm>
            <a:off x="8290560" y="2265298"/>
            <a:ext cx="3291840" cy="609600"/>
          </a:xfrm>
          <a:prstGeom prst="rect">
            <a:avLst/>
          </a:prstGeom>
          <a:noFill/>
          <a:ln/>
        </p:spPr>
        <p:txBody>
          <a:bodyPr wrap="square" rtlCol="0" anchor="ctr"/>
          <a:lstStyle/>
          <a:p>
            <a:r>
              <a:rPr lang="en-US" sz="1467" dirty="0">
                <a:solidFill>
                  <a:srgbClr val="9B9B9B"/>
                </a:solidFill>
                <a:latin typeface="Microsoft YaHei" pitchFamily="34" charset="0"/>
                <a:ea typeface="Microsoft YaHei" pitchFamily="34" charset="-122"/>
                <a:cs typeface="Microsoft YaHei" pitchFamily="34" charset="-120"/>
              </a:rPr>
              <a:t>决定车辆时间线与充电窗口</a:t>
            </a:r>
            <a:endParaRPr lang="en-US" sz="1467" dirty="0"/>
          </a:p>
        </p:txBody>
      </p:sp>
      <p:sp>
        <p:nvSpPr>
          <p:cNvPr id="48" name="Shape 22"/>
          <p:cNvSpPr/>
          <p:nvPr/>
        </p:nvSpPr>
        <p:spPr>
          <a:xfrm>
            <a:off x="548640" y="3069970"/>
            <a:ext cx="11094720" cy="707136"/>
          </a:xfrm>
          <a:prstGeom prst="roundRect">
            <a:avLst>
              <a:gd name="adj" fmla="val 10345"/>
            </a:avLst>
          </a:prstGeom>
          <a:solidFill>
            <a:srgbClr val="F8F5F0"/>
          </a:solidFill>
          <a:ln w="5080">
            <a:solidFill>
              <a:srgbClr val="C4A35A">
                <a:alpha val="30000"/>
              </a:srgbClr>
            </a:solidFill>
            <a:prstDash val="solid"/>
          </a:ln>
        </p:spPr>
      </p:sp>
      <p:sp>
        <p:nvSpPr>
          <p:cNvPr id="49" name="Text 23"/>
          <p:cNvSpPr/>
          <p:nvPr/>
        </p:nvSpPr>
        <p:spPr>
          <a:xfrm>
            <a:off x="609600" y="3118738"/>
            <a:ext cx="2072640" cy="609600"/>
          </a:xfrm>
          <a:prstGeom prst="rect">
            <a:avLst/>
          </a:prstGeom>
          <a:noFill/>
          <a:ln/>
        </p:spPr>
        <p:txBody>
          <a:bodyPr wrap="square" rtlCol="0" anchor="ctr"/>
          <a:lstStyle/>
          <a:p>
            <a:r>
              <a:rPr lang="en-US" sz="1467" b="1" dirty="0">
                <a:solidFill>
                  <a:srgbClr val="15548D"/>
                </a:solidFill>
                <a:latin typeface="Consolas" pitchFamily="34" charset="0"/>
                <a:ea typeface="Consolas" pitchFamily="34" charset="-122"/>
                <a:cs typeface="Consolas" pitchFamily="34" charset="-120"/>
              </a:rPr>
              <a:t>origin / destination</a:t>
            </a:r>
            <a:endParaRPr lang="en-US" sz="1467" dirty="0">
              <a:solidFill>
                <a:srgbClr val="15548D"/>
              </a:solidFill>
            </a:endParaRPr>
          </a:p>
        </p:txBody>
      </p:sp>
      <p:sp>
        <p:nvSpPr>
          <p:cNvPr id="50" name="Text 24"/>
          <p:cNvSpPr/>
          <p:nvPr/>
        </p:nvSpPr>
        <p:spPr>
          <a:xfrm>
            <a:off x="2804160" y="3118738"/>
            <a:ext cx="256032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stops.txt 站点名称</a:t>
            </a:r>
            <a:endParaRPr lang="en-US" sz="1467" dirty="0"/>
          </a:p>
        </p:txBody>
      </p:sp>
      <p:sp>
        <p:nvSpPr>
          <p:cNvPr id="51" name="Text 25"/>
          <p:cNvSpPr/>
          <p:nvPr/>
        </p:nvSpPr>
        <p:spPr>
          <a:xfrm>
            <a:off x="5486400" y="3118738"/>
            <a:ext cx="268224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关联首末站 stop_name</a:t>
            </a:r>
            <a:endParaRPr lang="en-US" sz="1467" dirty="0"/>
          </a:p>
        </p:txBody>
      </p:sp>
      <p:sp>
        <p:nvSpPr>
          <p:cNvPr id="52" name="Text 26"/>
          <p:cNvSpPr/>
          <p:nvPr/>
        </p:nvSpPr>
        <p:spPr>
          <a:xfrm>
            <a:off x="8290560" y="3118738"/>
            <a:ext cx="3291840" cy="609600"/>
          </a:xfrm>
          <a:prstGeom prst="rect">
            <a:avLst/>
          </a:prstGeom>
          <a:noFill/>
          <a:ln/>
        </p:spPr>
        <p:txBody>
          <a:bodyPr wrap="square" rtlCol="0" anchor="ctr"/>
          <a:lstStyle/>
          <a:p>
            <a:r>
              <a:rPr lang="en-US" sz="1467" dirty="0">
                <a:solidFill>
                  <a:srgbClr val="9B9B9B"/>
                </a:solidFill>
                <a:latin typeface="Microsoft YaHei" pitchFamily="34" charset="0"/>
                <a:ea typeface="Microsoft YaHei" pitchFamily="34" charset="-122"/>
                <a:cs typeface="Microsoft YaHei" pitchFamily="34" charset="-120"/>
              </a:rPr>
              <a:t>派生充电站候选和路径端点</a:t>
            </a:r>
            <a:endParaRPr lang="en-US" sz="1467" dirty="0"/>
          </a:p>
        </p:txBody>
      </p:sp>
      <p:sp>
        <p:nvSpPr>
          <p:cNvPr id="53" name="Text 27"/>
          <p:cNvSpPr/>
          <p:nvPr/>
        </p:nvSpPr>
        <p:spPr>
          <a:xfrm>
            <a:off x="609600" y="3972178"/>
            <a:ext cx="2072640" cy="609600"/>
          </a:xfrm>
          <a:prstGeom prst="rect">
            <a:avLst/>
          </a:prstGeom>
          <a:noFill/>
          <a:ln/>
        </p:spPr>
        <p:txBody>
          <a:bodyPr wrap="square" rtlCol="0" anchor="ctr"/>
          <a:lstStyle/>
          <a:p>
            <a:r>
              <a:rPr lang="en-US" sz="1467" b="1" dirty="0">
                <a:solidFill>
                  <a:srgbClr val="15548D"/>
                </a:solidFill>
                <a:latin typeface="Consolas" pitchFamily="34" charset="0"/>
                <a:ea typeface="Consolas" pitchFamily="34" charset="-122"/>
                <a:cs typeface="Consolas" pitchFamily="34" charset="-120"/>
              </a:rPr>
              <a:t>distance_km</a:t>
            </a:r>
            <a:endParaRPr lang="en-US" sz="1467" dirty="0">
              <a:solidFill>
                <a:srgbClr val="15548D"/>
              </a:solidFill>
            </a:endParaRPr>
          </a:p>
        </p:txBody>
      </p:sp>
      <p:sp>
        <p:nvSpPr>
          <p:cNvPr id="54" name="Text 28"/>
          <p:cNvSpPr/>
          <p:nvPr/>
        </p:nvSpPr>
        <p:spPr>
          <a:xfrm>
            <a:off x="2804160" y="3972178"/>
            <a:ext cx="256032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shape_dist_traveled</a:t>
            </a:r>
            <a:endParaRPr lang="en-US" sz="1467" dirty="0"/>
          </a:p>
        </p:txBody>
      </p:sp>
      <p:sp>
        <p:nvSpPr>
          <p:cNvPr id="55" name="Text 29"/>
          <p:cNvSpPr/>
          <p:nvPr/>
        </p:nvSpPr>
        <p:spPr>
          <a:xfrm>
            <a:off x="5486400" y="3972178"/>
            <a:ext cx="268224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优先用里程字段；否则经纬度估算</a:t>
            </a:r>
            <a:endParaRPr lang="en-US" sz="1467" dirty="0"/>
          </a:p>
        </p:txBody>
      </p:sp>
      <p:sp>
        <p:nvSpPr>
          <p:cNvPr id="56" name="Text 30"/>
          <p:cNvSpPr/>
          <p:nvPr/>
        </p:nvSpPr>
        <p:spPr>
          <a:xfrm>
            <a:off x="8290560" y="3972178"/>
            <a:ext cx="3291840" cy="609600"/>
          </a:xfrm>
          <a:prstGeom prst="rect">
            <a:avLst/>
          </a:prstGeom>
          <a:noFill/>
          <a:ln/>
        </p:spPr>
        <p:txBody>
          <a:bodyPr wrap="square" rtlCol="0" anchor="ctr"/>
          <a:lstStyle/>
          <a:p>
            <a:r>
              <a:rPr lang="en-US" sz="1467" dirty="0">
                <a:solidFill>
                  <a:srgbClr val="9B9B9B"/>
                </a:solidFill>
                <a:latin typeface="Microsoft YaHei" pitchFamily="34" charset="0"/>
                <a:ea typeface="Microsoft YaHei" pitchFamily="34" charset="-122"/>
                <a:cs typeface="Microsoft YaHei" pitchFamily="34" charset="-120"/>
              </a:rPr>
              <a:t>能耗预测的核心特征</a:t>
            </a:r>
            <a:endParaRPr lang="en-US" sz="1467" dirty="0"/>
          </a:p>
        </p:txBody>
      </p:sp>
      <p:sp>
        <p:nvSpPr>
          <p:cNvPr id="57" name="Shape 31"/>
          <p:cNvSpPr/>
          <p:nvPr/>
        </p:nvSpPr>
        <p:spPr>
          <a:xfrm>
            <a:off x="548640" y="4776850"/>
            <a:ext cx="11094720" cy="707136"/>
          </a:xfrm>
          <a:prstGeom prst="roundRect">
            <a:avLst>
              <a:gd name="adj" fmla="val 10345"/>
            </a:avLst>
          </a:prstGeom>
          <a:solidFill>
            <a:srgbClr val="F8F5F0"/>
          </a:solidFill>
          <a:ln w="5080">
            <a:solidFill>
              <a:srgbClr val="C4A35A">
                <a:alpha val="30000"/>
              </a:srgbClr>
            </a:solidFill>
            <a:prstDash val="solid"/>
          </a:ln>
        </p:spPr>
      </p:sp>
      <p:sp>
        <p:nvSpPr>
          <p:cNvPr id="58" name="Text 32"/>
          <p:cNvSpPr/>
          <p:nvPr/>
        </p:nvSpPr>
        <p:spPr>
          <a:xfrm>
            <a:off x="609600" y="4825618"/>
            <a:ext cx="2072640" cy="609600"/>
          </a:xfrm>
          <a:prstGeom prst="rect">
            <a:avLst/>
          </a:prstGeom>
          <a:noFill/>
          <a:ln/>
        </p:spPr>
        <p:txBody>
          <a:bodyPr wrap="square" rtlCol="0" anchor="ctr"/>
          <a:lstStyle/>
          <a:p>
            <a:r>
              <a:rPr lang="en-US" sz="1467" b="1" dirty="0">
                <a:solidFill>
                  <a:srgbClr val="15548D"/>
                </a:solidFill>
                <a:latin typeface="Consolas" pitchFamily="34" charset="0"/>
                <a:ea typeface="Consolas" pitchFamily="34" charset="-122"/>
                <a:cs typeface="Consolas" pitchFamily="34" charset="-120"/>
              </a:rPr>
              <a:t>candidate_path</a:t>
            </a:r>
            <a:endParaRPr lang="en-US" sz="1467" dirty="0">
              <a:solidFill>
                <a:srgbClr val="15548D"/>
              </a:solidFill>
            </a:endParaRPr>
          </a:p>
        </p:txBody>
      </p:sp>
      <p:sp>
        <p:nvSpPr>
          <p:cNvPr id="59" name="Text 33"/>
          <p:cNvSpPr/>
          <p:nvPr/>
        </p:nvSpPr>
        <p:spPr>
          <a:xfrm>
            <a:off x="2804160" y="4825618"/>
            <a:ext cx="256032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route_id + 生成规则</a:t>
            </a:r>
            <a:endParaRPr lang="en-US" sz="1467" dirty="0"/>
          </a:p>
        </p:txBody>
      </p:sp>
      <p:sp>
        <p:nvSpPr>
          <p:cNvPr id="60" name="Text 34"/>
          <p:cNvSpPr/>
          <p:nvPr/>
        </p:nvSpPr>
        <p:spPr>
          <a:xfrm>
            <a:off x="5486400" y="4825618"/>
            <a:ext cx="2682240" cy="609600"/>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每趟构造 3 条候选路径</a:t>
            </a:r>
            <a:endParaRPr lang="en-US" sz="1467" dirty="0"/>
          </a:p>
        </p:txBody>
      </p:sp>
      <p:sp>
        <p:nvSpPr>
          <p:cNvPr id="61" name="Text 35"/>
          <p:cNvSpPr/>
          <p:nvPr/>
        </p:nvSpPr>
        <p:spPr>
          <a:xfrm>
            <a:off x="8290560" y="4825618"/>
            <a:ext cx="3291840" cy="609600"/>
          </a:xfrm>
          <a:prstGeom prst="rect">
            <a:avLst/>
          </a:prstGeom>
          <a:noFill/>
          <a:ln/>
        </p:spPr>
        <p:txBody>
          <a:bodyPr wrap="square" rtlCol="0" anchor="ctr"/>
          <a:lstStyle/>
          <a:p>
            <a:r>
              <a:rPr lang="en-US" sz="1467" dirty="0">
                <a:solidFill>
                  <a:srgbClr val="9B9B9B"/>
                </a:solidFill>
                <a:latin typeface="Microsoft YaHei" pitchFamily="34" charset="0"/>
                <a:ea typeface="Microsoft YaHei" pitchFamily="34" charset="-122"/>
                <a:cs typeface="Microsoft YaHei" pitchFamily="34" charset="-120"/>
              </a:rPr>
              <a:t>比较最短 vs 最低能耗路径</a:t>
            </a:r>
            <a:endParaRPr lang="en-US" sz="1467" dirty="0"/>
          </a:p>
        </p:txBody>
      </p:sp>
      <p:sp>
        <p:nvSpPr>
          <p:cNvPr id="63" name="Shape 36"/>
          <p:cNvSpPr/>
          <p:nvPr/>
        </p:nvSpPr>
        <p:spPr>
          <a:xfrm>
            <a:off x="549218" y="5619827"/>
            <a:ext cx="11094720" cy="548640"/>
          </a:xfrm>
          <a:prstGeom prst="roundRect">
            <a:avLst>
              <a:gd name="adj" fmla="val 13333"/>
            </a:avLst>
          </a:prstGeom>
          <a:solidFill>
            <a:srgbClr val="F8F5F0"/>
          </a:solidFill>
          <a:ln w="5080">
            <a:solidFill>
              <a:srgbClr val="C4A35A">
                <a:alpha val="30000"/>
              </a:srgbClr>
            </a:solidFill>
            <a:prstDash val="solid"/>
          </a:ln>
        </p:spPr>
      </p:sp>
      <p:sp>
        <p:nvSpPr>
          <p:cNvPr id="64" name="Text 37"/>
          <p:cNvSpPr/>
          <p:nvPr/>
        </p:nvSpPr>
        <p:spPr>
          <a:xfrm>
            <a:off x="671138" y="5619827"/>
            <a:ext cx="10850880" cy="548640"/>
          </a:xfrm>
          <a:prstGeom prst="rect">
            <a:avLst/>
          </a:prstGeom>
          <a:noFill/>
          <a:ln/>
        </p:spPr>
        <p:txBody>
          <a:bodyPr wrap="square" rtlCol="0" anchor="ctr"/>
          <a:lstStyle/>
          <a:p>
            <a:pPr algn="ctr"/>
            <a:r>
              <a:rPr lang="en-US" sz="1467" dirty="0">
                <a:latin typeface="Consolas" pitchFamily="34" charset="0"/>
                <a:ea typeface="Consolas" pitchFamily="34" charset="-122"/>
                <a:cs typeface="Consolas" pitchFamily="34" charset="-120"/>
              </a:rPr>
              <a:t>collect_hk_gtfs.py  下载/解压/规范化  →  build_project_datasets.py  补齐车辆/站点/电价/天气/能耗样本</a:t>
            </a:r>
            <a:endParaRPr lang="en-US" sz="1467" dirty="0"/>
          </a:p>
        </p:txBody>
      </p:sp>
    </p:spTree>
    <p:extLst>
      <p:ext uri="{BB962C8B-B14F-4D97-AF65-F5344CB8AC3E}">
        <p14:creationId xmlns:p14="http://schemas.microsoft.com/office/powerpoint/2010/main" val="19166064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down)">
                                      <p:cBhvr>
                                        <p:cTn id="12" dur="500"/>
                                        <p:tgtEl>
                                          <p:spTgt spid="8"/>
                                        </p:tgtEl>
                                      </p:cBhvr>
                                    </p:animEffect>
                                  </p:childTnLst>
                                </p:cTn>
                              </p:par>
                              <p:par>
                                <p:cTn id="13" presetID="1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ppt_x</p:attrName>
                                        </p:attrNameLst>
                                      </p:cBhvr>
                                      <p:tavLst>
                                        <p:tav tm="0">
                                          <p:val>
                                            <p:strVal val="#ppt_x+#ppt_w*1.125000"/>
                                          </p:val>
                                        </p:tav>
                                        <p:tav tm="100000">
                                          <p:val>
                                            <p:strVal val="#ppt_x"/>
                                          </p:val>
                                        </p:tav>
                                      </p:tavLst>
                                    </p:anim>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6"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数</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据构建</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584397" y="217491"/>
            <a:ext cx="10096500" cy="1041465"/>
            <a:chOff x="2584397" y="217491"/>
            <a:chExt cx="10096500" cy="1041465"/>
          </a:xfrm>
        </p:grpSpPr>
        <p:sp>
          <p:nvSpPr>
            <p:cNvPr id="5"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p:nvPr/>
          </p:nvSpPr>
          <p:spPr>
            <a:xfrm>
              <a:off x="2604911" y="243297"/>
              <a:ext cx="3416312" cy="1015659"/>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三</a:t>
              </a:r>
              <a:r>
                <a:rPr lang="zh-CN" altLang="en-US" sz="1200" dirty="0">
                  <a:solidFill>
                    <a:schemeClr val="bg1"/>
                  </a:solidFill>
                  <a:latin typeface="微软雅黑" panose="020B0503020204020204" pitchFamily="34" charset="-122"/>
                  <a:ea typeface="微软雅黑" panose="020B0503020204020204" pitchFamily="34" charset="-122"/>
                </a:rPr>
                <a:t>种电动化渗透率：数据视角下的嵌套抽样设计</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70" name="Picture 6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67" name="Text 7"/>
          <p:cNvSpPr/>
          <p:nvPr/>
        </p:nvSpPr>
        <p:spPr>
          <a:xfrm>
            <a:off x="299553" y="6334436"/>
            <a:ext cx="4876800" cy="341376"/>
          </a:xfrm>
          <a:prstGeom prst="rect">
            <a:avLst/>
          </a:prstGeom>
          <a:noFill/>
          <a:ln/>
        </p:spPr>
        <p:txBody>
          <a:bodyPr wrap="square" rtlCol="0" anchor="ctr"/>
          <a:lstStyle/>
          <a:p>
            <a:r>
              <a:rPr lang="en-US" sz="1200" dirty="0">
                <a:solidFill>
                  <a:srgbClr val="C4A35A"/>
                </a:solidFill>
                <a:latin typeface="Microsoft YaHei" pitchFamily="34" charset="0"/>
                <a:ea typeface="Microsoft YaHei" pitchFamily="34" charset="-122"/>
                <a:cs typeface="Microsoft YaHei" pitchFamily="34" charset="-120"/>
              </a:rPr>
              <a:t>02  数据来源与假设边界</a:t>
            </a:r>
            <a:endParaRPr lang="en-US" sz="1200" dirty="0"/>
          </a:p>
        </p:txBody>
      </p:sp>
      <p:sp>
        <p:nvSpPr>
          <p:cNvPr id="89" name="Shape 8"/>
          <p:cNvSpPr/>
          <p:nvPr/>
        </p:nvSpPr>
        <p:spPr>
          <a:xfrm>
            <a:off x="756245" y="861722"/>
            <a:ext cx="3413760" cy="2926080"/>
          </a:xfrm>
          <a:prstGeom prst="roundRect">
            <a:avLst>
              <a:gd name="adj" fmla="val 2500"/>
            </a:avLst>
          </a:prstGeom>
          <a:solidFill>
            <a:srgbClr val="F8F5F0"/>
          </a:solidFill>
          <a:ln w="5080">
            <a:solidFill>
              <a:srgbClr val="C4A35A">
                <a:alpha val="30000"/>
              </a:srgbClr>
            </a:solidFill>
            <a:prstDash val="solid"/>
          </a:ln>
        </p:spPr>
      </p:sp>
      <p:sp>
        <p:nvSpPr>
          <p:cNvPr id="90" name="Shape 9"/>
          <p:cNvSpPr/>
          <p:nvPr/>
        </p:nvSpPr>
        <p:spPr>
          <a:xfrm>
            <a:off x="756245" y="861722"/>
            <a:ext cx="3413760" cy="60960"/>
          </a:xfrm>
          <a:prstGeom prst="rect">
            <a:avLst/>
          </a:prstGeom>
          <a:solidFill>
            <a:srgbClr val="8B1A2B"/>
          </a:solidFill>
          <a:ln/>
        </p:spPr>
      </p:sp>
      <p:sp>
        <p:nvSpPr>
          <p:cNvPr id="91" name="Text 10"/>
          <p:cNvSpPr/>
          <p:nvPr/>
        </p:nvSpPr>
        <p:spPr>
          <a:xfrm>
            <a:off x="756245" y="1081178"/>
            <a:ext cx="3413760" cy="670560"/>
          </a:xfrm>
          <a:prstGeom prst="rect">
            <a:avLst/>
          </a:prstGeom>
          <a:noFill/>
          <a:ln/>
        </p:spPr>
        <p:txBody>
          <a:bodyPr wrap="square" rtlCol="0" anchor="ctr"/>
          <a:lstStyle/>
          <a:p>
            <a:pPr algn="ctr">
              <a:lnSpc>
                <a:spcPct val="120000"/>
              </a:lnSpc>
            </a:pPr>
            <a:r>
              <a:rPr lang="en-US" sz="1867" b="1" dirty="0">
                <a:solidFill>
                  <a:srgbClr val="8B1A2B"/>
                </a:solidFill>
                <a:latin typeface="Microsoft YaHei" pitchFamily="34" charset="0"/>
                <a:ea typeface="Microsoft YaHei" pitchFamily="34" charset="-122"/>
                <a:cs typeface="Microsoft YaHei" pitchFamily="34" charset="-120"/>
              </a:rPr>
              <a:t>Current  现状试点</a:t>
            </a:r>
            <a:endParaRPr lang="en-US" sz="1867" dirty="0"/>
          </a:p>
        </p:txBody>
      </p:sp>
      <p:sp>
        <p:nvSpPr>
          <p:cNvPr id="92" name="Text 11"/>
          <p:cNvSpPr/>
          <p:nvPr/>
        </p:nvSpPr>
        <p:spPr>
          <a:xfrm>
            <a:off x="878165" y="1751738"/>
            <a:ext cx="3169920" cy="243840"/>
          </a:xfrm>
          <a:prstGeom prst="rect">
            <a:avLst/>
          </a:prstGeom>
          <a:noFill/>
          <a:ln/>
        </p:spPr>
        <p:txBody>
          <a:bodyPr wrap="square" rtlCol="0" anchor="ctr"/>
          <a:lstStyle/>
          <a:p>
            <a:pPr algn="ctr"/>
            <a:r>
              <a:rPr lang="en-US" sz="1467" b="1" dirty="0">
                <a:solidFill>
                  <a:srgbClr val="2D2D2D"/>
                </a:solidFill>
                <a:latin typeface="Microsoft YaHei" pitchFamily="34" charset="0"/>
                <a:ea typeface="Microsoft YaHei" pitchFamily="34" charset="-122"/>
                <a:cs typeface="Microsoft YaHei" pitchFamily="34" charset="-120"/>
              </a:rPr>
              <a:t>150 辆 / 1,713 trips</a:t>
            </a:r>
            <a:endParaRPr lang="en-US" sz="1467" dirty="0"/>
          </a:p>
        </p:txBody>
      </p:sp>
      <p:sp>
        <p:nvSpPr>
          <p:cNvPr id="93" name="Text 12"/>
          <p:cNvSpPr/>
          <p:nvPr/>
        </p:nvSpPr>
        <p:spPr>
          <a:xfrm>
            <a:off x="878165" y="2056538"/>
            <a:ext cx="3169920" cy="853440"/>
          </a:xfrm>
          <a:prstGeom prst="rect">
            <a:avLst/>
          </a:prstGeom>
          <a:noFill/>
          <a:ln/>
        </p:spPr>
        <p:txBody>
          <a:bodyPr wrap="square" rtlCol="0" anchor="ctr"/>
          <a:lstStyle/>
          <a:p>
            <a:pPr algn="ctr">
              <a:lnSpc>
                <a:spcPct val="130000"/>
              </a:lnSpc>
            </a:pPr>
            <a:r>
              <a:rPr lang="en-US" sz="1200" dirty="0">
                <a:solidFill>
                  <a:srgbClr val="9B9B9B"/>
                </a:solidFill>
                <a:latin typeface="Consolas" pitchFamily="34" charset="0"/>
                <a:ea typeface="Consolas" pitchFamily="34" charset="-122"/>
                <a:cs typeface="Consolas" pitchFamily="34" charset="-120"/>
              </a:rPr>
              <a:t>trips_current.csv</a:t>
            </a:r>
            <a:endParaRPr lang="en-US" sz="1200" dirty="0"/>
          </a:p>
          <a:p>
            <a:pPr algn="ctr">
              <a:lnSpc>
                <a:spcPct val="130000"/>
              </a:lnSpc>
            </a:pPr>
            <a:r>
              <a:rPr lang="en-US" sz="1200" dirty="0">
                <a:solidFill>
                  <a:srgbClr val="9B9B9B"/>
                </a:solidFill>
                <a:latin typeface="Consolas" pitchFamily="34" charset="0"/>
                <a:ea typeface="Consolas" pitchFamily="34" charset="-122"/>
                <a:cs typeface="Consolas" pitchFamily="34" charset="-120"/>
              </a:rPr>
              <a:t>vehicles_current_150.csv</a:t>
            </a:r>
            <a:endParaRPr lang="en-US" sz="1200" dirty="0"/>
          </a:p>
          <a:p>
            <a:pPr algn="ctr">
              <a:lnSpc>
                <a:spcPct val="130000"/>
              </a:lnSpc>
            </a:pPr>
            <a:r>
              <a:rPr lang="en-US" sz="1200" dirty="0">
                <a:solidFill>
                  <a:srgbClr val="9B9B9B"/>
                </a:solidFill>
                <a:latin typeface="Consolas" pitchFamily="34" charset="0"/>
                <a:ea typeface="Consolas" pitchFamily="34" charset="-122"/>
                <a:cs typeface="Consolas" pitchFamily="34" charset="-120"/>
              </a:rPr>
              <a:t>stations_current.csv</a:t>
            </a:r>
            <a:endParaRPr lang="en-US" sz="1200" dirty="0"/>
          </a:p>
        </p:txBody>
      </p:sp>
      <p:sp>
        <p:nvSpPr>
          <p:cNvPr id="94" name="Text 13"/>
          <p:cNvSpPr/>
          <p:nvPr/>
        </p:nvSpPr>
        <p:spPr>
          <a:xfrm>
            <a:off x="878165" y="3092858"/>
            <a:ext cx="3169920" cy="487680"/>
          </a:xfrm>
          <a:prstGeom prst="rect">
            <a:avLst/>
          </a:prstGeom>
          <a:noFill/>
          <a:ln/>
        </p:spPr>
        <p:txBody>
          <a:bodyPr wrap="square" rtlCol="0" anchor="ctr"/>
          <a:lstStyle/>
          <a:p>
            <a:pPr algn="ctr">
              <a:lnSpc>
                <a:spcPct val="120000"/>
              </a:lnSpc>
            </a:pPr>
            <a:r>
              <a:rPr lang="en-US" sz="1467" dirty="0">
                <a:solidFill>
                  <a:srgbClr val="2D2D2D"/>
                </a:solidFill>
                <a:latin typeface="Microsoft YaHei" pitchFamily="34" charset="0"/>
                <a:ea typeface="Microsoft YaHei" pitchFamily="34" charset="-122"/>
                <a:cs typeface="Microsoft YaHei" pitchFamily="34" charset="-120"/>
              </a:rPr>
              <a:t>约 2.5% 全量班次</a:t>
            </a:r>
            <a:endParaRPr lang="en-US" sz="1467" dirty="0"/>
          </a:p>
          <a:p>
            <a:pPr algn="ctr">
              <a:lnSpc>
                <a:spcPct val="120000"/>
              </a:lnSpc>
            </a:pPr>
            <a:r>
              <a:rPr lang="en-US" sz="1467" dirty="0">
                <a:solidFill>
                  <a:srgbClr val="2D2D2D"/>
                </a:solidFill>
                <a:latin typeface="Microsoft YaHei" pitchFamily="34" charset="0"/>
                <a:ea typeface="Microsoft YaHei" pitchFamily="34" charset="-122"/>
                <a:cs typeface="Microsoft YaHei" pitchFamily="34" charset="-120"/>
              </a:rPr>
              <a:t>初始 SOC 高，充电余量大</a:t>
            </a:r>
            <a:endParaRPr lang="en-US" sz="1467" dirty="0"/>
          </a:p>
        </p:txBody>
      </p:sp>
      <p:sp>
        <p:nvSpPr>
          <p:cNvPr id="95" name="Shape 14"/>
          <p:cNvSpPr/>
          <p:nvPr/>
        </p:nvSpPr>
        <p:spPr>
          <a:xfrm>
            <a:off x="4474805" y="861722"/>
            <a:ext cx="3413760" cy="2926080"/>
          </a:xfrm>
          <a:prstGeom prst="roundRect">
            <a:avLst>
              <a:gd name="adj" fmla="val 2500"/>
            </a:avLst>
          </a:prstGeom>
          <a:solidFill>
            <a:srgbClr val="F8F5F0"/>
          </a:solidFill>
          <a:ln w="5080">
            <a:solidFill>
              <a:srgbClr val="C4A35A">
                <a:alpha val="30000"/>
              </a:srgbClr>
            </a:solidFill>
            <a:prstDash val="solid"/>
          </a:ln>
        </p:spPr>
      </p:sp>
      <p:sp>
        <p:nvSpPr>
          <p:cNvPr id="96" name="Shape 15"/>
          <p:cNvSpPr/>
          <p:nvPr/>
        </p:nvSpPr>
        <p:spPr>
          <a:xfrm>
            <a:off x="4474805" y="861722"/>
            <a:ext cx="3413760" cy="60960"/>
          </a:xfrm>
          <a:prstGeom prst="rect">
            <a:avLst/>
          </a:prstGeom>
          <a:solidFill>
            <a:srgbClr val="C4A35A"/>
          </a:solidFill>
          <a:ln/>
        </p:spPr>
      </p:sp>
      <p:sp>
        <p:nvSpPr>
          <p:cNvPr id="97" name="Text 16"/>
          <p:cNvSpPr/>
          <p:nvPr/>
        </p:nvSpPr>
        <p:spPr>
          <a:xfrm>
            <a:off x="4474805" y="1081178"/>
            <a:ext cx="3413760" cy="670560"/>
          </a:xfrm>
          <a:prstGeom prst="rect">
            <a:avLst/>
          </a:prstGeom>
          <a:noFill/>
          <a:ln/>
        </p:spPr>
        <p:txBody>
          <a:bodyPr wrap="square" rtlCol="0" anchor="ctr"/>
          <a:lstStyle/>
          <a:p>
            <a:pPr algn="ctr">
              <a:lnSpc>
                <a:spcPct val="120000"/>
              </a:lnSpc>
            </a:pPr>
            <a:r>
              <a:rPr lang="en-US" sz="1867" b="1" dirty="0">
                <a:solidFill>
                  <a:srgbClr val="C4A35A"/>
                </a:solidFill>
                <a:latin typeface="Microsoft YaHei" pitchFamily="34" charset="0"/>
                <a:ea typeface="Microsoft YaHei" pitchFamily="34" charset="-122"/>
                <a:cs typeface="Microsoft YaHei" pitchFamily="34" charset="-120"/>
              </a:rPr>
              <a:t>Planned  近期拓展</a:t>
            </a:r>
            <a:endParaRPr lang="en-US" sz="1867" dirty="0"/>
          </a:p>
        </p:txBody>
      </p:sp>
      <p:sp>
        <p:nvSpPr>
          <p:cNvPr id="98" name="Text 17"/>
          <p:cNvSpPr/>
          <p:nvPr/>
        </p:nvSpPr>
        <p:spPr>
          <a:xfrm>
            <a:off x="4596725" y="1751738"/>
            <a:ext cx="3169920" cy="243840"/>
          </a:xfrm>
          <a:prstGeom prst="rect">
            <a:avLst/>
          </a:prstGeom>
          <a:noFill/>
          <a:ln/>
        </p:spPr>
        <p:txBody>
          <a:bodyPr wrap="square" rtlCol="0" anchor="ctr"/>
          <a:lstStyle/>
          <a:p>
            <a:pPr algn="ctr"/>
            <a:r>
              <a:rPr lang="en-US" sz="1467" b="1" dirty="0">
                <a:solidFill>
                  <a:srgbClr val="2D2D2D"/>
                </a:solidFill>
                <a:latin typeface="Microsoft YaHei" pitchFamily="34" charset="0"/>
                <a:ea typeface="Microsoft YaHei" pitchFamily="34" charset="-122"/>
                <a:cs typeface="Microsoft YaHei" pitchFamily="34" charset="-120"/>
              </a:rPr>
              <a:t>750 辆 / 9,717 trips</a:t>
            </a:r>
            <a:endParaRPr lang="en-US" sz="1467" dirty="0"/>
          </a:p>
        </p:txBody>
      </p:sp>
      <p:sp>
        <p:nvSpPr>
          <p:cNvPr id="99" name="Text 18"/>
          <p:cNvSpPr/>
          <p:nvPr/>
        </p:nvSpPr>
        <p:spPr>
          <a:xfrm>
            <a:off x="4596725" y="2056538"/>
            <a:ext cx="3169920" cy="853440"/>
          </a:xfrm>
          <a:prstGeom prst="rect">
            <a:avLst/>
          </a:prstGeom>
          <a:noFill/>
          <a:ln/>
        </p:spPr>
        <p:txBody>
          <a:bodyPr wrap="square" rtlCol="0" anchor="ctr"/>
          <a:lstStyle/>
          <a:p>
            <a:pPr algn="ctr">
              <a:lnSpc>
                <a:spcPct val="130000"/>
              </a:lnSpc>
            </a:pPr>
            <a:r>
              <a:rPr lang="en-US" sz="1200" dirty="0">
                <a:solidFill>
                  <a:srgbClr val="9B9B9B"/>
                </a:solidFill>
                <a:latin typeface="Consolas" pitchFamily="34" charset="0"/>
                <a:ea typeface="Consolas" pitchFamily="34" charset="-122"/>
                <a:cs typeface="Consolas" pitchFamily="34" charset="-120"/>
              </a:rPr>
              <a:t>trips_planned.csv</a:t>
            </a:r>
            <a:endParaRPr lang="en-US" sz="1200" dirty="0"/>
          </a:p>
          <a:p>
            <a:pPr algn="ctr">
              <a:lnSpc>
                <a:spcPct val="130000"/>
              </a:lnSpc>
            </a:pPr>
            <a:r>
              <a:rPr lang="en-US" sz="1200" dirty="0">
                <a:solidFill>
                  <a:srgbClr val="9B9B9B"/>
                </a:solidFill>
                <a:latin typeface="Consolas" pitchFamily="34" charset="0"/>
                <a:ea typeface="Consolas" pitchFamily="34" charset="-122"/>
                <a:cs typeface="Consolas" pitchFamily="34" charset="-120"/>
              </a:rPr>
              <a:t>vehicles_planned_750.csv</a:t>
            </a:r>
            <a:endParaRPr lang="en-US" sz="1200" dirty="0"/>
          </a:p>
          <a:p>
            <a:pPr algn="ctr">
              <a:lnSpc>
                <a:spcPct val="130000"/>
              </a:lnSpc>
            </a:pPr>
            <a:r>
              <a:rPr lang="en-US" sz="1200" dirty="0">
                <a:solidFill>
                  <a:srgbClr val="9B9B9B"/>
                </a:solidFill>
                <a:latin typeface="Consolas" pitchFamily="34" charset="0"/>
                <a:ea typeface="Consolas" pitchFamily="34" charset="-122"/>
                <a:cs typeface="Consolas" pitchFamily="34" charset="-120"/>
              </a:rPr>
              <a:t>stations_planned.csv</a:t>
            </a:r>
            <a:endParaRPr lang="en-US" sz="1200" dirty="0"/>
          </a:p>
        </p:txBody>
      </p:sp>
      <p:sp>
        <p:nvSpPr>
          <p:cNvPr id="100" name="Text 19"/>
          <p:cNvSpPr/>
          <p:nvPr/>
        </p:nvSpPr>
        <p:spPr>
          <a:xfrm>
            <a:off x="4596725" y="3092858"/>
            <a:ext cx="3169920" cy="487680"/>
          </a:xfrm>
          <a:prstGeom prst="rect">
            <a:avLst/>
          </a:prstGeom>
          <a:noFill/>
          <a:ln/>
        </p:spPr>
        <p:txBody>
          <a:bodyPr wrap="square" rtlCol="0" anchor="ctr"/>
          <a:lstStyle/>
          <a:p>
            <a:pPr algn="ctr">
              <a:lnSpc>
                <a:spcPct val="120000"/>
              </a:lnSpc>
            </a:pPr>
            <a:r>
              <a:rPr lang="en-US" sz="1467" dirty="0">
                <a:solidFill>
                  <a:srgbClr val="2D2D2D"/>
                </a:solidFill>
                <a:latin typeface="Microsoft YaHei" pitchFamily="34" charset="0"/>
                <a:ea typeface="Microsoft YaHei" pitchFamily="34" charset="-122"/>
                <a:cs typeface="Microsoft YaHei" pitchFamily="34" charset="-120"/>
              </a:rPr>
              <a:t>约 12-13% 全量班次</a:t>
            </a:r>
            <a:endParaRPr lang="en-US" sz="1467" dirty="0"/>
          </a:p>
          <a:p>
            <a:pPr algn="ctr">
              <a:lnSpc>
                <a:spcPct val="120000"/>
              </a:lnSpc>
            </a:pPr>
            <a:r>
              <a:rPr lang="en-US" sz="1467" dirty="0">
                <a:solidFill>
                  <a:srgbClr val="2D2D2D"/>
                </a:solidFill>
                <a:latin typeface="Microsoft YaHei" pitchFamily="34" charset="0"/>
                <a:ea typeface="Microsoft YaHei" pitchFamily="34" charset="-122"/>
                <a:cs typeface="Microsoft YaHei" pitchFamily="34" charset="-120"/>
              </a:rPr>
              <a:t>充电需求开始出现</a:t>
            </a:r>
            <a:endParaRPr lang="en-US" sz="1467" dirty="0"/>
          </a:p>
        </p:txBody>
      </p:sp>
      <p:sp>
        <p:nvSpPr>
          <p:cNvPr id="101" name="Shape 20"/>
          <p:cNvSpPr/>
          <p:nvPr/>
        </p:nvSpPr>
        <p:spPr>
          <a:xfrm>
            <a:off x="8193365" y="861722"/>
            <a:ext cx="3413760" cy="2926080"/>
          </a:xfrm>
          <a:prstGeom prst="roundRect">
            <a:avLst>
              <a:gd name="adj" fmla="val 2500"/>
            </a:avLst>
          </a:prstGeom>
          <a:solidFill>
            <a:srgbClr val="F8F5F0"/>
          </a:solidFill>
          <a:ln w="5080">
            <a:solidFill>
              <a:srgbClr val="C4A35A">
                <a:alpha val="30000"/>
              </a:srgbClr>
            </a:solidFill>
            <a:prstDash val="solid"/>
          </a:ln>
        </p:spPr>
      </p:sp>
      <p:sp>
        <p:nvSpPr>
          <p:cNvPr id="102" name="Shape 21"/>
          <p:cNvSpPr/>
          <p:nvPr/>
        </p:nvSpPr>
        <p:spPr>
          <a:xfrm>
            <a:off x="8193365" y="861722"/>
            <a:ext cx="3413760" cy="60960"/>
          </a:xfrm>
          <a:prstGeom prst="rect">
            <a:avLst/>
          </a:prstGeom>
          <a:solidFill>
            <a:srgbClr val="2E7D32"/>
          </a:solidFill>
          <a:ln/>
        </p:spPr>
      </p:sp>
      <p:sp>
        <p:nvSpPr>
          <p:cNvPr id="103" name="Text 22"/>
          <p:cNvSpPr/>
          <p:nvPr/>
        </p:nvSpPr>
        <p:spPr>
          <a:xfrm>
            <a:off x="8193365" y="1081178"/>
            <a:ext cx="3413760" cy="670560"/>
          </a:xfrm>
          <a:prstGeom prst="rect">
            <a:avLst/>
          </a:prstGeom>
          <a:noFill/>
          <a:ln/>
        </p:spPr>
        <p:txBody>
          <a:bodyPr wrap="square" rtlCol="0" anchor="ctr"/>
          <a:lstStyle/>
          <a:p>
            <a:pPr algn="ctr">
              <a:lnSpc>
                <a:spcPct val="120000"/>
              </a:lnSpc>
            </a:pPr>
            <a:r>
              <a:rPr lang="en-US" sz="1867" b="1" dirty="0">
                <a:solidFill>
                  <a:srgbClr val="2E7D32"/>
                </a:solidFill>
                <a:latin typeface="Microsoft YaHei" pitchFamily="34" charset="0"/>
                <a:ea typeface="Microsoft YaHei" pitchFamily="34" charset="-122"/>
                <a:cs typeface="Microsoft YaHei" pitchFamily="34" charset="-120"/>
              </a:rPr>
              <a:t>Full  全面覆盖</a:t>
            </a:r>
            <a:endParaRPr lang="en-US" sz="1867" dirty="0"/>
          </a:p>
        </p:txBody>
      </p:sp>
      <p:sp>
        <p:nvSpPr>
          <p:cNvPr id="104" name="Text 23"/>
          <p:cNvSpPr/>
          <p:nvPr/>
        </p:nvSpPr>
        <p:spPr>
          <a:xfrm>
            <a:off x="8315285" y="1751738"/>
            <a:ext cx="3169920" cy="243840"/>
          </a:xfrm>
          <a:prstGeom prst="rect">
            <a:avLst/>
          </a:prstGeom>
          <a:noFill/>
          <a:ln/>
        </p:spPr>
        <p:txBody>
          <a:bodyPr wrap="square" rtlCol="0" anchor="ctr"/>
          <a:lstStyle/>
          <a:p>
            <a:pPr algn="ctr"/>
            <a:r>
              <a:rPr lang="en-US" sz="1467" b="1" dirty="0">
                <a:solidFill>
                  <a:srgbClr val="2D2D2D"/>
                </a:solidFill>
                <a:latin typeface="Microsoft YaHei" pitchFamily="34" charset="0"/>
                <a:ea typeface="Microsoft YaHei" pitchFamily="34" charset="-122"/>
                <a:cs typeface="Microsoft YaHei" pitchFamily="34" charset="-120"/>
              </a:rPr>
              <a:t>5,870 辆 / 77,120 trips</a:t>
            </a:r>
            <a:endParaRPr lang="en-US" sz="1467" dirty="0"/>
          </a:p>
        </p:txBody>
      </p:sp>
      <p:sp>
        <p:nvSpPr>
          <p:cNvPr id="105" name="Text 24"/>
          <p:cNvSpPr/>
          <p:nvPr/>
        </p:nvSpPr>
        <p:spPr>
          <a:xfrm>
            <a:off x="8315285" y="2056538"/>
            <a:ext cx="3169920" cy="853440"/>
          </a:xfrm>
          <a:prstGeom prst="rect">
            <a:avLst/>
          </a:prstGeom>
          <a:noFill/>
          <a:ln/>
        </p:spPr>
        <p:txBody>
          <a:bodyPr wrap="square" rtlCol="0" anchor="ctr"/>
          <a:lstStyle/>
          <a:p>
            <a:pPr algn="ctr">
              <a:lnSpc>
                <a:spcPct val="130000"/>
              </a:lnSpc>
            </a:pPr>
            <a:r>
              <a:rPr lang="en-US" sz="1200" dirty="0">
                <a:solidFill>
                  <a:srgbClr val="9B9B9B"/>
                </a:solidFill>
                <a:latin typeface="Consolas" pitchFamily="34" charset="0"/>
                <a:ea typeface="Consolas" pitchFamily="34" charset="-122"/>
                <a:cs typeface="Consolas" pitchFamily="34" charset="-120"/>
              </a:rPr>
              <a:t>trips_full_coverage.csv</a:t>
            </a:r>
            <a:endParaRPr lang="en-US" sz="1200" dirty="0"/>
          </a:p>
          <a:p>
            <a:pPr algn="ctr">
              <a:lnSpc>
                <a:spcPct val="130000"/>
              </a:lnSpc>
            </a:pPr>
            <a:r>
              <a:rPr lang="en-US" sz="1200" dirty="0">
                <a:solidFill>
                  <a:srgbClr val="9B9B9B"/>
                </a:solidFill>
                <a:latin typeface="Consolas" pitchFamily="34" charset="0"/>
                <a:ea typeface="Consolas" pitchFamily="34" charset="-122"/>
                <a:cs typeface="Consolas" pitchFamily="34" charset="-120"/>
              </a:rPr>
              <a:t>vehicles_full_5870.csv</a:t>
            </a:r>
            <a:endParaRPr lang="en-US" sz="1200" dirty="0"/>
          </a:p>
          <a:p>
            <a:pPr algn="ctr">
              <a:lnSpc>
                <a:spcPct val="130000"/>
              </a:lnSpc>
            </a:pPr>
            <a:r>
              <a:rPr lang="en-US" sz="1200" dirty="0">
                <a:solidFill>
                  <a:srgbClr val="9B9B9B"/>
                </a:solidFill>
                <a:latin typeface="Consolas" pitchFamily="34" charset="0"/>
                <a:ea typeface="Consolas" pitchFamily="34" charset="-122"/>
                <a:cs typeface="Consolas" pitchFamily="34" charset="-120"/>
              </a:rPr>
              <a:t>stations_full_80hubs.csv</a:t>
            </a:r>
            <a:endParaRPr lang="en-US" sz="1200" dirty="0"/>
          </a:p>
        </p:txBody>
      </p:sp>
      <p:sp>
        <p:nvSpPr>
          <p:cNvPr id="106" name="Text 25"/>
          <p:cNvSpPr/>
          <p:nvPr/>
        </p:nvSpPr>
        <p:spPr>
          <a:xfrm>
            <a:off x="8315285" y="3092858"/>
            <a:ext cx="3169920" cy="487680"/>
          </a:xfrm>
          <a:prstGeom prst="rect">
            <a:avLst/>
          </a:prstGeom>
          <a:noFill/>
          <a:ln/>
        </p:spPr>
        <p:txBody>
          <a:bodyPr wrap="square" rtlCol="0" anchor="ctr"/>
          <a:lstStyle/>
          <a:p>
            <a:pPr algn="ctr">
              <a:lnSpc>
                <a:spcPct val="120000"/>
              </a:lnSpc>
            </a:pPr>
            <a:r>
              <a:rPr lang="en-US" sz="1467" dirty="0">
                <a:solidFill>
                  <a:srgbClr val="2D2D2D"/>
                </a:solidFill>
                <a:latin typeface="Microsoft YaHei" pitchFamily="34" charset="0"/>
                <a:ea typeface="Microsoft YaHei" pitchFamily="34" charset="-122"/>
                <a:cs typeface="Microsoft YaHei" pitchFamily="34" charset="-120"/>
              </a:rPr>
              <a:t>100% GTFS 全量</a:t>
            </a:r>
            <a:endParaRPr lang="en-US" sz="1467" dirty="0"/>
          </a:p>
          <a:p>
            <a:pPr algn="ctr">
              <a:lnSpc>
                <a:spcPct val="120000"/>
              </a:lnSpc>
            </a:pPr>
            <a:r>
              <a:rPr lang="en-US" sz="1467" dirty="0">
                <a:solidFill>
                  <a:srgbClr val="2D2D2D"/>
                </a:solidFill>
                <a:latin typeface="Microsoft YaHei" pitchFamily="34" charset="0"/>
                <a:ea typeface="Microsoft YaHei" pitchFamily="34" charset="-122"/>
                <a:cs typeface="Microsoft YaHei" pitchFamily="34" charset="-120"/>
              </a:rPr>
              <a:t>充电压力达到峰值</a:t>
            </a:r>
            <a:endParaRPr lang="en-US" sz="1467" dirty="0"/>
          </a:p>
        </p:txBody>
      </p:sp>
      <p:sp>
        <p:nvSpPr>
          <p:cNvPr id="107" name="Shape 26"/>
          <p:cNvSpPr/>
          <p:nvPr/>
        </p:nvSpPr>
        <p:spPr>
          <a:xfrm>
            <a:off x="609600" y="3982536"/>
            <a:ext cx="7071360" cy="2194560"/>
          </a:xfrm>
          <a:prstGeom prst="roundRect">
            <a:avLst>
              <a:gd name="adj" fmla="val 3333"/>
            </a:avLst>
          </a:prstGeom>
          <a:solidFill>
            <a:srgbClr val="F8F5F0"/>
          </a:solidFill>
          <a:ln w="5080">
            <a:solidFill>
              <a:srgbClr val="C4A35A">
                <a:alpha val="30000"/>
              </a:srgbClr>
            </a:solidFill>
            <a:prstDash val="solid"/>
          </a:ln>
        </p:spPr>
      </p:sp>
      <p:sp>
        <p:nvSpPr>
          <p:cNvPr id="108" name="Text 27"/>
          <p:cNvSpPr/>
          <p:nvPr/>
        </p:nvSpPr>
        <p:spPr>
          <a:xfrm>
            <a:off x="792480" y="4080072"/>
            <a:ext cx="2438400" cy="304800"/>
          </a:xfrm>
          <a:prstGeom prst="rect">
            <a:avLst/>
          </a:prstGeom>
          <a:noFill/>
          <a:ln/>
        </p:spPr>
        <p:txBody>
          <a:bodyPr wrap="square" rtlCol="0" anchor="ctr"/>
          <a:lstStyle/>
          <a:p>
            <a:r>
              <a:rPr lang="en-US" sz="1867" b="1" dirty="0">
                <a:solidFill>
                  <a:srgbClr val="15548D"/>
                </a:solidFill>
                <a:latin typeface="Microsoft YaHei" pitchFamily="34" charset="0"/>
                <a:ea typeface="Microsoft YaHei" pitchFamily="34" charset="-122"/>
                <a:cs typeface="Microsoft YaHei" pitchFamily="34" charset="-120"/>
              </a:rPr>
              <a:t>关键设计</a:t>
            </a:r>
            <a:endParaRPr lang="en-US" sz="1867" dirty="0">
              <a:solidFill>
                <a:srgbClr val="15548D"/>
              </a:solidFill>
            </a:endParaRPr>
          </a:p>
        </p:txBody>
      </p:sp>
      <p:sp>
        <p:nvSpPr>
          <p:cNvPr id="109" name="Text 28"/>
          <p:cNvSpPr/>
          <p:nvPr/>
        </p:nvSpPr>
        <p:spPr>
          <a:xfrm>
            <a:off x="792480" y="4470216"/>
            <a:ext cx="6461760" cy="1463040"/>
          </a:xfrm>
          <a:prstGeom prst="rect">
            <a:avLst/>
          </a:prstGeom>
          <a:noFill/>
          <a:ln/>
        </p:spPr>
        <p:txBody>
          <a:bodyPr wrap="square" rtlCol="0" anchor="t"/>
          <a:lstStyle/>
          <a:p>
            <a:pPr marL="457189" indent="-457189">
              <a:lnSpc>
                <a:spcPct val="125000"/>
              </a:lnSpc>
              <a:buSzPct val="100000"/>
              <a:buChar char="•"/>
            </a:pPr>
            <a:r>
              <a:rPr lang="en-US" sz="1600" b="1" dirty="0">
                <a:solidFill>
                  <a:srgbClr val="2D2D2D"/>
                </a:solidFill>
                <a:latin typeface="Microsoft YaHei" pitchFamily="34" charset="0"/>
                <a:ea typeface="Microsoft YaHei" pitchFamily="34" charset="-122"/>
                <a:cs typeface="Microsoft YaHei" pitchFamily="34" charset="-120"/>
              </a:rPr>
              <a:t>current ⊂ planned ⊂ full：嵌套抽样，非独立随机选取</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按 GTFS 高频线路簇递增选取：避免小样本时线路结构失真</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每个场景有独立的 trips / vehicles / stations 输入文件</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同一场景的 JSQ 和 GA 使用完全相同的输入数据，确保指标可直接比较</a:t>
            </a:r>
            <a:endParaRPr lang="en-US" sz="1600" dirty="0"/>
          </a:p>
        </p:txBody>
      </p:sp>
      <p:pic>
        <p:nvPicPr>
          <p:cNvPr id="110" name="Image 0" descr="C:\Users\Administrator\Desktop\greenlowcarbon\plannin\PPT\images\hk_futuristic.jpg"/>
          <p:cNvPicPr>
            <a:picLocks noChangeAspect="1"/>
          </p:cNvPicPr>
          <p:nvPr/>
        </p:nvPicPr>
        <p:blipFill>
          <a:blip r:embed="rId4"/>
          <a:srcRect/>
          <a:stretch/>
        </p:blipFill>
        <p:spPr>
          <a:xfrm>
            <a:off x="7680960" y="3982536"/>
            <a:ext cx="4145280" cy="2194560"/>
          </a:xfrm>
          <a:prstGeom prst="rect">
            <a:avLst/>
          </a:prstGeom>
        </p:spPr>
      </p:pic>
    </p:spTree>
    <p:extLst>
      <p:ext uri="{BB962C8B-B14F-4D97-AF65-F5344CB8AC3E}">
        <p14:creationId xmlns:p14="http://schemas.microsoft.com/office/powerpoint/2010/main" val="28687754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down)">
                                      <p:cBhvr>
                                        <p:cTn id="12" dur="500"/>
                                        <p:tgtEl>
                                          <p:spTgt spid="8"/>
                                        </p:tgtEl>
                                      </p:cBhvr>
                                    </p:animEffect>
                                  </p:childTnLst>
                                </p:cTn>
                              </p:par>
                              <p:par>
                                <p:cTn id="13" presetID="1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ppt_x</p:attrName>
                                        </p:attrNameLst>
                                      </p:cBhvr>
                                      <p:tavLst>
                                        <p:tav tm="0">
                                          <p:val>
                                            <p:strVal val="#ppt_x+#ppt_w*1.125000"/>
                                          </p:val>
                                        </p:tav>
                                        <p:tav tm="100000">
                                          <p:val>
                                            <p:strVal val="#ppt_x"/>
                                          </p:val>
                                        </p:tav>
                                      </p:tavLst>
                                    </p:anim>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6"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数</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据构建</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584397" y="217491"/>
            <a:ext cx="10096500" cy="1410796"/>
            <a:chOff x="2584397" y="217491"/>
            <a:chExt cx="10096500" cy="1410796"/>
          </a:xfrm>
        </p:grpSpPr>
        <p:sp>
          <p:nvSpPr>
            <p:cNvPr id="5"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p:nvPr/>
          </p:nvSpPr>
          <p:spPr>
            <a:xfrm>
              <a:off x="2628711" y="243297"/>
              <a:ext cx="2954647" cy="1384990"/>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假</a:t>
              </a:r>
              <a:r>
                <a:rPr lang="zh-CN" altLang="en-US" sz="1200" dirty="0">
                  <a:solidFill>
                    <a:schemeClr val="bg1"/>
                  </a:solidFill>
                  <a:latin typeface="微软雅黑" panose="020B0503020204020204" pitchFamily="34" charset="-122"/>
                  <a:ea typeface="微软雅黑" panose="020B0503020204020204" pitchFamily="34" charset="-122"/>
                </a:rPr>
                <a:t>设补齐细节：哪些假设会影响调度结果</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70" name="Picture 6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67" name="Text 7"/>
          <p:cNvSpPr/>
          <p:nvPr/>
        </p:nvSpPr>
        <p:spPr>
          <a:xfrm>
            <a:off x="299553" y="6334436"/>
            <a:ext cx="4876800" cy="341376"/>
          </a:xfrm>
          <a:prstGeom prst="rect">
            <a:avLst/>
          </a:prstGeom>
          <a:noFill/>
          <a:ln/>
        </p:spPr>
        <p:txBody>
          <a:bodyPr wrap="square" rtlCol="0" anchor="ctr"/>
          <a:lstStyle/>
          <a:p>
            <a:r>
              <a:rPr lang="en-US" sz="1200" dirty="0">
                <a:solidFill>
                  <a:srgbClr val="C4A35A"/>
                </a:solidFill>
                <a:latin typeface="Microsoft YaHei" pitchFamily="34" charset="0"/>
                <a:ea typeface="Microsoft YaHei" pitchFamily="34" charset="-122"/>
                <a:cs typeface="Microsoft YaHei" pitchFamily="34" charset="-120"/>
              </a:rPr>
              <a:t>02  数据来源与假设边界</a:t>
            </a:r>
            <a:endParaRPr lang="en-US" sz="1200" dirty="0"/>
          </a:p>
        </p:txBody>
      </p:sp>
      <p:sp>
        <p:nvSpPr>
          <p:cNvPr id="84" name="Shape 8"/>
          <p:cNvSpPr/>
          <p:nvPr/>
        </p:nvSpPr>
        <p:spPr>
          <a:xfrm>
            <a:off x="609600" y="932805"/>
            <a:ext cx="7924800" cy="1158240"/>
          </a:xfrm>
          <a:prstGeom prst="roundRect">
            <a:avLst>
              <a:gd name="adj" fmla="val 6316"/>
            </a:avLst>
          </a:prstGeom>
          <a:solidFill>
            <a:srgbClr val="F8F5F0"/>
          </a:solidFill>
          <a:ln w="5080">
            <a:solidFill>
              <a:srgbClr val="C4A35A">
                <a:alpha val="30000"/>
              </a:srgbClr>
            </a:solidFill>
            <a:prstDash val="solid"/>
          </a:ln>
        </p:spPr>
      </p:sp>
      <p:sp>
        <p:nvSpPr>
          <p:cNvPr id="85" name="Shape 9"/>
          <p:cNvSpPr/>
          <p:nvPr/>
        </p:nvSpPr>
        <p:spPr>
          <a:xfrm>
            <a:off x="609600" y="932805"/>
            <a:ext cx="73152" cy="1158240"/>
          </a:xfrm>
          <a:prstGeom prst="rect">
            <a:avLst/>
          </a:prstGeom>
          <a:solidFill>
            <a:srgbClr val="8B1A2B"/>
          </a:solidFill>
          <a:ln/>
        </p:spPr>
      </p:sp>
      <p:sp>
        <p:nvSpPr>
          <p:cNvPr id="86" name="Text 10"/>
          <p:cNvSpPr/>
          <p:nvPr/>
        </p:nvSpPr>
        <p:spPr>
          <a:xfrm>
            <a:off x="853440" y="1005957"/>
            <a:ext cx="3413760" cy="316992"/>
          </a:xfrm>
          <a:prstGeom prst="rect">
            <a:avLst/>
          </a:prstGeom>
          <a:noFill/>
          <a:ln/>
        </p:spPr>
        <p:txBody>
          <a:bodyPr wrap="square" rtlCol="0" anchor="ctr"/>
          <a:lstStyle/>
          <a:p>
            <a:r>
              <a:rPr lang="en-US" sz="1867" b="1" dirty="0">
                <a:solidFill>
                  <a:srgbClr val="8B1A2B"/>
                </a:solidFill>
                <a:latin typeface="Microsoft YaHei" pitchFamily="34" charset="0"/>
                <a:ea typeface="Microsoft YaHei" pitchFamily="34" charset="-122"/>
                <a:cs typeface="Microsoft YaHei" pitchFamily="34" charset="-120"/>
              </a:rPr>
              <a:t>车辆电池与 SOC 参数</a:t>
            </a:r>
            <a:endParaRPr lang="en-US" sz="1867" dirty="0"/>
          </a:p>
        </p:txBody>
      </p:sp>
      <p:sp>
        <p:nvSpPr>
          <p:cNvPr id="87" name="Text 11"/>
          <p:cNvSpPr/>
          <p:nvPr/>
        </p:nvSpPr>
        <p:spPr>
          <a:xfrm>
            <a:off x="853440" y="1371717"/>
            <a:ext cx="731520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假设原因：公开 GTFS 不含逐车电池容量和实时 SOC</a:t>
            </a:r>
            <a:endParaRPr lang="en-US" sz="1467" dirty="0"/>
          </a:p>
        </p:txBody>
      </p:sp>
      <p:sp>
        <p:nvSpPr>
          <p:cNvPr id="88" name="Text 12"/>
          <p:cNvSpPr/>
          <p:nvPr/>
        </p:nvSpPr>
        <p:spPr>
          <a:xfrm>
            <a:off x="862066" y="1698829"/>
            <a:ext cx="7315200" cy="268224"/>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调度影响：决定触发充电阈值、目标 SOC、低 SOC 风险判定    |    边界说明：企业真实 SOC 日志可替换这些参数</a:t>
            </a:r>
            <a:endParaRPr lang="en-US" sz="1333" dirty="0"/>
          </a:p>
        </p:txBody>
      </p:sp>
      <p:sp>
        <p:nvSpPr>
          <p:cNvPr id="89" name="Shape 13"/>
          <p:cNvSpPr/>
          <p:nvPr/>
        </p:nvSpPr>
        <p:spPr>
          <a:xfrm>
            <a:off x="609600" y="2249541"/>
            <a:ext cx="7924800" cy="1158240"/>
          </a:xfrm>
          <a:prstGeom prst="roundRect">
            <a:avLst>
              <a:gd name="adj" fmla="val 6316"/>
            </a:avLst>
          </a:prstGeom>
          <a:solidFill>
            <a:srgbClr val="F8F5F0"/>
          </a:solidFill>
          <a:ln w="5080">
            <a:solidFill>
              <a:srgbClr val="C4A35A">
                <a:alpha val="30000"/>
              </a:srgbClr>
            </a:solidFill>
            <a:prstDash val="solid"/>
          </a:ln>
        </p:spPr>
      </p:sp>
      <p:sp>
        <p:nvSpPr>
          <p:cNvPr id="90" name="Shape 14"/>
          <p:cNvSpPr/>
          <p:nvPr/>
        </p:nvSpPr>
        <p:spPr>
          <a:xfrm>
            <a:off x="609600" y="2249541"/>
            <a:ext cx="73152" cy="1158240"/>
          </a:xfrm>
          <a:prstGeom prst="rect">
            <a:avLst/>
          </a:prstGeom>
          <a:solidFill>
            <a:srgbClr val="C4A35A"/>
          </a:solidFill>
          <a:ln/>
        </p:spPr>
      </p:sp>
      <p:sp>
        <p:nvSpPr>
          <p:cNvPr id="91" name="Text 15"/>
          <p:cNvSpPr/>
          <p:nvPr/>
        </p:nvSpPr>
        <p:spPr>
          <a:xfrm>
            <a:off x="853440" y="2322693"/>
            <a:ext cx="3413760" cy="316992"/>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充电桩数量与功率</a:t>
            </a:r>
            <a:endParaRPr lang="en-US" sz="1867" dirty="0"/>
          </a:p>
        </p:txBody>
      </p:sp>
      <p:sp>
        <p:nvSpPr>
          <p:cNvPr id="92" name="Text 16"/>
          <p:cNvSpPr/>
          <p:nvPr/>
        </p:nvSpPr>
        <p:spPr>
          <a:xfrm>
            <a:off x="853440" y="2688453"/>
            <a:ext cx="731520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假设原因：公开公交时刻表不含充电设施容量信息</a:t>
            </a:r>
            <a:endParaRPr lang="en-US" sz="1467" dirty="0"/>
          </a:p>
        </p:txBody>
      </p:sp>
      <p:sp>
        <p:nvSpPr>
          <p:cNvPr id="93" name="Text 17"/>
          <p:cNvSpPr/>
          <p:nvPr/>
        </p:nvSpPr>
        <p:spPr>
          <a:xfrm>
            <a:off x="862066" y="3015565"/>
            <a:ext cx="7315200" cy="268224"/>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调度影响：决定排队等待时间、快慢充选择    |    边界说明：当前为场景容量假设，非真实站点容量</a:t>
            </a:r>
            <a:endParaRPr lang="en-US" sz="1333" dirty="0"/>
          </a:p>
        </p:txBody>
      </p:sp>
      <p:sp>
        <p:nvSpPr>
          <p:cNvPr id="94" name="Shape 18"/>
          <p:cNvSpPr/>
          <p:nvPr/>
        </p:nvSpPr>
        <p:spPr>
          <a:xfrm>
            <a:off x="609600" y="3566277"/>
            <a:ext cx="7924800" cy="1158240"/>
          </a:xfrm>
          <a:prstGeom prst="roundRect">
            <a:avLst>
              <a:gd name="adj" fmla="val 6316"/>
            </a:avLst>
          </a:prstGeom>
          <a:solidFill>
            <a:srgbClr val="F8F5F0"/>
          </a:solidFill>
          <a:ln w="5080">
            <a:solidFill>
              <a:srgbClr val="C4A35A">
                <a:alpha val="30000"/>
              </a:srgbClr>
            </a:solidFill>
            <a:prstDash val="solid"/>
          </a:ln>
        </p:spPr>
      </p:sp>
      <p:sp>
        <p:nvSpPr>
          <p:cNvPr id="95" name="Shape 19"/>
          <p:cNvSpPr/>
          <p:nvPr/>
        </p:nvSpPr>
        <p:spPr>
          <a:xfrm>
            <a:off x="609600" y="3566277"/>
            <a:ext cx="73152" cy="1158240"/>
          </a:xfrm>
          <a:prstGeom prst="rect">
            <a:avLst/>
          </a:prstGeom>
          <a:solidFill>
            <a:srgbClr val="2E7D32"/>
          </a:solidFill>
          <a:ln/>
        </p:spPr>
      </p:sp>
      <p:sp>
        <p:nvSpPr>
          <p:cNvPr id="96" name="Text 20"/>
          <p:cNvSpPr/>
          <p:nvPr/>
        </p:nvSpPr>
        <p:spPr>
          <a:xfrm>
            <a:off x="853440" y="3639429"/>
            <a:ext cx="3413760" cy="316992"/>
          </a:xfrm>
          <a:prstGeom prst="rect">
            <a:avLst/>
          </a:prstGeom>
          <a:noFill/>
          <a:ln/>
        </p:spPr>
        <p:txBody>
          <a:bodyPr wrap="square" rtlCol="0" anchor="ctr"/>
          <a:lstStyle/>
          <a:p>
            <a:r>
              <a:rPr lang="en-US" sz="1867" b="1" dirty="0">
                <a:solidFill>
                  <a:srgbClr val="2E7D32"/>
                </a:solidFill>
                <a:latin typeface="Microsoft YaHei" pitchFamily="34" charset="0"/>
                <a:ea typeface="Microsoft YaHei" pitchFamily="34" charset="-122"/>
                <a:cs typeface="Microsoft YaHei" pitchFamily="34" charset="-120"/>
              </a:rPr>
              <a:t>逐趟能耗标签</a:t>
            </a:r>
            <a:endParaRPr lang="en-US" sz="1867" dirty="0"/>
          </a:p>
        </p:txBody>
      </p:sp>
      <p:sp>
        <p:nvSpPr>
          <p:cNvPr id="97" name="Text 21"/>
          <p:cNvSpPr/>
          <p:nvPr/>
        </p:nvSpPr>
        <p:spPr>
          <a:xfrm>
            <a:off x="853440" y="4005189"/>
            <a:ext cx="731520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假设原因：真实能耗数据通常属于企业内部运营日志</a:t>
            </a:r>
            <a:endParaRPr lang="en-US" sz="1467" dirty="0"/>
          </a:p>
        </p:txBody>
      </p:sp>
      <p:sp>
        <p:nvSpPr>
          <p:cNvPr id="98" name="Text 22"/>
          <p:cNvSpPr/>
          <p:nvPr/>
        </p:nvSpPr>
        <p:spPr>
          <a:xfrm>
            <a:off x="862066" y="4332301"/>
            <a:ext cx="7315200" cy="268224"/>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调度影响：训练 MLP 并生成 energy_predictions    |    边界说明：由真实班次特征 + 文献公式 + 噪声生成</a:t>
            </a:r>
            <a:endParaRPr lang="en-US" sz="1333" dirty="0"/>
          </a:p>
        </p:txBody>
      </p:sp>
      <p:sp>
        <p:nvSpPr>
          <p:cNvPr id="99" name="Shape 23"/>
          <p:cNvSpPr/>
          <p:nvPr/>
        </p:nvSpPr>
        <p:spPr>
          <a:xfrm>
            <a:off x="609600" y="4883013"/>
            <a:ext cx="7924800" cy="1158240"/>
          </a:xfrm>
          <a:prstGeom prst="roundRect">
            <a:avLst>
              <a:gd name="adj" fmla="val 6316"/>
            </a:avLst>
          </a:prstGeom>
          <a:solidFill>
            <a:srgbClr val="F8F5F0"/>
          </a:solidFill>
          <a:ln w="5080">
            <a:solidFill>
              <a:srgbClr val="C4A35A">
                <a:alpha val="30000"/>
              </a:srgbClr>
            </a:solidFill>
            <a:prstDash val="solid"/>
          </a:ln>
        </p:spPr>
      </p:sp>
      <p:sp>
        <p:nvSpPr>
          <p:cNvPr id="100" name="Shape 24"/>
          <p:cNvSpPr/>
          <p:nvPr/>
        </p:nvSpPr>
        <p:spPr>
          <a:xfrm>
            <a:off x="609600" y="4883013"/>
            <a:ext cx="73152" cy="1158240"/>
          </a:xfrm>
          <a:prstGeom prst="rect">
            <a:avLst/>
          </a:prstGeom>
          <a:solidFill>
            <a:srgbClr val="1565C0"/>
          </a:solidFill>
          <a:ln/>
        </p:spPr>
      </p:sp>
      <p:sp>
        <p:nvSpPr>
          <p:cNvPr id="101" name="Text 25"/>
          <p:cNvSpPr/>
          <p:nvPr/>
        </p:nvSpPr>
        <p:spPr>
          <a:xfrm>
            <a:off x="853440" y="4956165"/>
            <a:ext cx="3413760" cy="316992"/>
          </a:xfrm>
          <a:prstGeom prst="rect">
            <a:avLst/>
          </a:prstGeom>
          <a:noFill/>
          <a:ln/>
        </p:spPr>
        <p:txBody>
          <a:bodyPr wrap="square" rtlCol="0" anchor="ctr"/>
          <a:lstStyle/>
          <a:p>
            <a:r>
              <a:rPr lang="en-US" sz="1867" b="1" dirty="0">
                <a:solidFill>
                  <a:srgbClr val="1565C0"/>
                </a:solidFill>
                <a:latin typeface="Microsoft YaHei" pitchFamily="34" charset="0"/>
                <a:ea typeface="Microsoft YaHei" pitchFamily="34" charset="-122"/>
                <a:cs typeface="Microsoft YaHei" pitchFamily="34" charset="-120"/>
              </a:rPr>
              <a:t>坡度/拥堵/载客率</a:t>
            </a:r>
            <a:endParaRPr lang="en-US" sz="1867" dirty="0"/>
          </a:p>
        </p:txBody>
      </p:sp>
      <p:sp>
        <p:nvSpPr>
          <p:cNvPr id="102" name="Text 26"/>
          <p:cNvSpPr/>
          <p:nvPr/>
        </p:nvSpPr>
        <p:spPr>
          <a:xfrm>
            <a:off x="853440" y="5321925"/>
            <a:ext cx="7315200" cy="268224"/>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假设原因：公开 GTFS 不含地形、交通和客流信息</a:t>
            </a:r>
            <a:endParaRPr lang="en-US" sz="1467" dirty="0"/>
          </a:p>
        </p:txBody>
      </p:sp>
      <p:sp>
        <p:nvSpPr>
          <p:cNvPr id="103" name="Text 27"/>
          <p:cNvSpPr/>
          <p:nvPr/>
        </p:nvSpPr>
        <p:spPr>
          <a:xfrm>
            <a:off x="862066" y="5649037"/>
            <a:ext cx="7315200" cy="268224"/>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调度影响：解释距离之外的能耗差异    |    边界说明：后续可接入 OSM/DEM/AFC 日志</a:t>
            </a:r>
            <a:endParaRPr lang="en-US" sz="1333" dirty="0"/>
          </a:p>
        </p:txBody>
      </p:sp>
      <p:pic>
        <p:nvPicPr>
          <p:cNvPr id="104" name="Image 0" descr="C:\Users\Administrator\Desktop\greenlowcarbon\plannin\PPT\images\hk_skyline_day.jpg"/>
          <p:cNvPicPr>
            <a:picLocks noChangeAspect="1"/>
          </p:cNvPicPr>
          <p:nvPr/>
        </p:nvPicPr>
        <p:blipFill>
          <a:blip r:embed="rId4"/>
          <a:srcRect/>
          <a:stretch/>
        </p:blipFill>
        <p:spPr>
          <a:xfrm>
            <a:off x="8290560" y="932805"/>
            <a:ext cx="3535680" cy="5242560"/>
          </a:xfrm>
          <a:prstGeom prst="rect">
            <a:avLst/>
          </a:prstGeom>
        </p:spPr>
      </p:pic>
    </p:spTree>
    <p:extLst>
      <p:ext uri="{BB962C8B-B14F-4D97-AF65-F5344CB8AC3E}">
        <p14:creationId xmlns:p14="http://schemas.microsoft.com/office/powerpoint/2010/main" val="15612412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down)">
                                      <p:cBhvr>
                                        <p:cTn id="12" dur="500"/>
                                        <p:tgtEl>
                                          <p:spTgt spid="8"/>
                                        </p:tgtEl>
                                      </p:cBhvr>
                                    </p:animEffect>
                                  </p:childTnLst>
                                </p:cTn>
                              </p:par>
                              <p:par>
                                <p:cTn id="13" presetID="1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ppt_x</p:attrName>
                                        </p:attrNameLst>
                                      </p:cBhvr>
                                      <p:tavLst>
                                        <p:tav tm="0">
                                          <p:val>
                                            <p:strVal val="#ppt_x+#ppt_w*1.125000"/>
                                          </p:val>
                                        </p:tav>
                                        <p:tav tm="100000">
                                          <p:val>
                                            <p:strVal val="#ppt_x"/>
                                          </p:val>
                                        </p:tav>
                                      </p:tavLst>
                                    </p:anim>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6"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8"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数</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据构建</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584397" y="217491"/>
            <a:ext cx="10096500" cy="1595462"/>
            <a:chOff x="2584397" y="217491"/>
            <a:chExt cx="10096500" cy="1595462"/>
          </a:xfrm>
        </p:grpSpPr>
        <p:sp>
          <p:nvSpPr>
            <p:cNvPr id="5"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p:nvPr/>
          </p:nvSpPr>
          <p:spPr>
            <a:xfrm>
              <a:off x="2615956" y="243297"/>
              <a:ext cx="3773782" cy="1569656"/>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能</a:t>
              </a:r>
              <a:r>
                <a:rPr lang="zh-CN" altLang="en-US" sz="1200" dirty="0">
                  <a:solidFill>
                    <a:schemeClr val="bg1"/>
                  </a:solidFill>
                  <a:latin typeface="微软雅黑" panose="020B0503020204020204" pitchFamily="34" charset="-122"/>
                  <a:ea typeface="微软雅黑" panose="020B0503020204020204" pitchFamily="34" charset="-122"/>
                </a:rPr>
                <a:t>耗标签生成（数据构造层）：公式模拟 </a:t>
              </a: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场景噪声</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70" name="Picture 6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67" name="Text 7"/>
          <p:cNvSpPr/>
          <p:nvPr/>
        </p:nvSpPr>
        <p:spPr>
          <a:xfrm>
            <a:off x="299553" y="6334436"/>
            <a:ext cx="4876800" cy="341376"/>
          </a:xfrm>
          <a:prstGeom prst="rect">
            <a:avLst/>
          </a:prstGeom>
          <a:noFill/>
          <a:ln/>
        </p:spPr>
        <p:txBody>
          <a:bodyPr wrap="square" rtlCol="0" anchor="ctr"/>
          <a:lstStyle/>
          <a:p>
            <a:r>
              <a:rPr lang="en-US" sz="1200" dirty="0">
                <a:solidFill>
                  <a:srgbClr val="C4A35A"/>
                </a:solidFill>
                <a:latin typeface="Microsoft YaHei" pitchFamily="34" charset="0"/>
                <a:ea typeface="Microsoft YaHei" pitchFamily="34" charset="-122"/>
                <a:cs typeface="Microsoft YaHei" pitchFamily="34" charset="-120"/>
              </a:rPr>
              <a:t>02  数据来源与假设边界</a:t>
            </a:r>
            <a:endParaRPr lang="en-US" sz="1200" dirty="0"/>
          </a:p>
        </p:txBody>
      </p:sp>
      <p:sp>
        <p:nvSpPr>
          <p:cNvPr id="76" name="Shape 8"/>
          <p:cNvSpPr/>
          <p:nvPr/>
        </p:nvSpPr>
        <p:spPr>
          <a:xfrm>
            <a:off x="609600" y="950060"/>
            <a:ext cx="5730240" cy="3048000"/>
          </a:xfrm>
          <a:prstGeom prst="roundRect">
            <a:avLst>
              <a:gd name="adj" fmla="val 2400"/>
            </a:avLst>
          </a:prstGeom>
          <a:solidFill>
            <a:srgbClr val="F8F5F0"/>
          </a:solidFill>
          <a:ln w="5080">
            <a:solidFill>
              <a:srgbClr val="C4A35A">
                <a:alpha val="30000"/>
              </a:srgbClr>
            </a:solidFill>
            <a:prstDash val="solid"/>
          </a:ln>
        </p:spPr>
      </p:sp>
      <p:sp>
        <p:nvSpPr>
          <p:cNvPr id="77" name="Text 9"/>
          <p:cNvSpPr/>
          <p:nvPr/>
        </p:nvSpPr>
        <p:spPr>
          <a:xfrm>
            <a:off x="792480" y="1035404"/>
            <a:ext cx="5486400" cy="365760"/>
          </a:xfrm>
          <a:prstGeom prst="rect">
            <a:avLst/>
          </a:prstGeom>
          <a:noFill/>
          <a:ln/>
        </p:spPr>
        <p:txBody>
          <a:bodyPr wrap="square" rtlCol="0" anchor="ctr"/>
          <a:lstStyle/>
          <a:p>
            <a:r>
              <a:rPr lang="en-US" sz="1867" b="1" dirty="0" smtClean="0">
                <a:solidFill>
                  <a:srgbClr val="15548D"/>
                </a:solidFill>
                <a:latin typeface="Microsoft YaHei" pitchFamily="34" charset="0"/>
                <a:ea typeface="Microsoft YaHei" pitchFamily="34" charset="-122"/>
                <a:cs typeface="Microsoft YaHei" pitchFamily="34" charset="-120"/>
              </a:rPr>
              <a:t>干净能耗公式</a:t>
            </a:r>
            <a:endParaRPr lang="en-US" sz="1867" dirty="0">
              <a:solidFill>
                <a:srgbClr val="15548D"/>
              </a:solidFill>
            </a:endParaRPr>
          </a:p>
        </p:txBody>
      </p:sp>
      <p:sp>
        <p:nvSpPr>
          <p:cNvPr id="79" name="Shape 12"/>
          <p:cNvSpPr/>
          <p:nvPr/>
        </p:nvSpPr>
        <p:spPr>
          <a:xfrm>
            <a:off x="6461760" y="950060"/>
            <a:ext cx="5364480" cy="3048000"/>
          </a:xfrm>
          <a:prstGeom prst="roundRect">
            <a:avLst>
              <a:gd name="adj" fmla="val 2400"/>
            </a:avLst>
          </a:prstGeom>
          <a:solidFill>
            <a:srgbClr val="F8F5F0"/>
          </a:solidFill>
          <a:ln w="5080">
            <a:solidFill>
              <a:srgbClr val="C4A35A">
                <a:alpha val="30000"/>
              </a:srgbClr>
            </a:solidFill>
            <a:prstDash val="solid"/>
          </a:ln>
        </p:spPr>
      </p:sp>
      <p:sp>
        <p:nvSpPr>
          <p:cNvPr id="80" name="Text 13"/>
          <p:cNvSpPr/>
          <p:nvPr/>
        </p:nvSpPr>
        <p:spPr>
          <a:xfrm>
            <a:off x="6644640" y="1035404"/>
            <a:ext cx="4876800" cy="365760"/>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叠加噪声 + 碳排转换</a:t>
            </a:r>
            <a:endParaRPr lang="en-US" sz="1867" dirty="0"/>
          </a:p>
        </p:txBody>
      </p:sp>
      <p:sp>
        <p:nvSpPr>
          <p:cNvPr id="81" name="Text 14"/>
          <p:cNvSpPr/>
          <p:nvPr/>
        </p:nvSpPr>
        <p:spPr>
          <a:xfrm>
            <a:off x="6644640" y="1559660"/>
            <a:ext cx="4998720" cy="2194560"/>
          </a:xfrm>
          <a:prstGeom prst="rect">
            <a:avLst/>
          </a:prstGeom>
          <a:noFill/>
          <a:ln/>
        </p:spPr>
        <p:txBody>
          <a:bodyPr wrap="square" rtlCol="0" anchor="t"/>
          <a:lstStyle/>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基础高斯噪声 σ = 1.5 kWh</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场景噪声增量：高峰 +5% · 拥堵 +6%</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高载客 +3% · 温度偏离 +4% · 低速 +3%</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3% 概率叠加极端异常扰动</a:t>
            </a:r>
            <a:endParaRPr lang="en-US" sz="1600" dirty="0"/>
          </a:p>
          <a:p>
            <a:pPr marL="457189" indent="-457189">
              <a:lnSpc>
                <a:spcPct val="125000"/>
              </a:lnSpc>
              <a:buSzPct val="100000"/>
              <a:buChar char="•"/>
            </a:pPr>
            <a:r>
              <a:rPr lang="en-US" sz="1600" b="1" dirty="0">
                <a:solidFill>
                  <a:srgbClr val="2D2D2D"/>
                </a:solidFill>
                <a:latin typeface="Microsoft YaHei" pitchFamily="34" charset="0"/>
                <a:ea typeface="Microsoft YaHei" pitchFamily="34" charset="-122"/>
                <a:cs typeface="Microsoft YaHei" pitchFamily="34" charset="-120"/>
              </a:rPr>
              <a:t>按 trip_id 固定随机种子 → </a:t>
            </a:r>
            <a:r>
              <a:rPr lang="en-US" sz="1600" b="1" dirty="0" smtClean="0">
                <a:solidFill>
                  <a:srgbClr val="2D2D2D"/>
                </a:solidFill>
                <a:latin typeface="Microsoft YaHei" pitchFamily="34" charset="0"/>
                <a:ea typeface="Microsoft YaHei" pitchFamily="34" charset="-122"/>
                <a:cs typeface="Microsoft YaHei" pitchFamily="34" charset="-120"/>
              </a:rPr>
              <a:t>可重复生成</a:t>
            </a:r>
            <a:endParaRPr lang="en-US" sz="1600" dirty="0"/>
          </a:p>
          <a:p>
            <a:pPr marL="457189" indent="-457189">
              <a:lnSpc>
                <a:spcPct val="125000"/>
              </a:lnSpc>
              <a:buSzPct val="100000"/>
              <a:buChar char="•"/>
            </a:pPr>
            <a:r>
              <a:rPr lang="en-US" sz="1600" b="1" dirty="0">
                <a:solidFill>
                  <a:srgbClr val="8B1A2B"/>
                </a:solidFill>
                <a:latin typeface="Consolas" pitchFamily="34" charset="0"/>
                <a:ea typeface="Consolas" pitchFamily="34" charset="-122"/>
                <a:cs typeface="Consolas" pitchFamily="34" charset="-120"/>
              </a:rPr>
              <a:t>carbon = predicted_energy × 0.55 kgCO₂/</a:t>
            </a:r>
            <a:r>
              <a:rPr lang="en-US" sz="1600" b="1" dirty="0" smtClean="0">
                <a:solidFill>
                  <a:srgbClr val="8B1A2B"/>
                </a:solidFill>
                <a:latin typeface="Consolas" pitchFamily="34" charset="0"/>
                <a:ea typeface="Consolas" pitchFamily="34" charset="-122"/>
                <a:cs typeface="Consolas" pitchFamily="34" charset="-120"/>
              </a:rPr>
              <a:t>kWh</a:t>
            </a:r>
            <a:r>
              <a:rPr lang="en-US" sz="1333" dirty="0" smtClean="0">
                <a:solidFill>
                  <a:srgbClr val="9B9B9B"/>
                </a:solidFill>
                <a:latin typeface="Microsoft YaHei" pitchFamily="34" charset="0"/>
                <a:ea typeface="Microsoft YaHei" pitchFamily="34" charset="-122"/>
                <a:cs typeface="Microsoft YaHei" pitchFamily="34" charset="-120"/>
              </a:rPr>
              <a:t>（</a:t>
            </a:r>
            <a:r>
              <a:rPr lang="en-US" sz="1333" dirty="0">
                <a:solidFill>
                  <a:srgbClr val="9B9B9B"/>
                </a:solidFill>
                <a:latin typeface="Microsoft YaHei" pitchFamily="34" charset="0"/>
                <a:ea typeface="Microsoft YaHei" pitchFamily="34" charset="-122"/>
                <a:cs typeface="Microsoft YaHei" pitchFamily="34" charset="-120"/>
              </a:rPr>
              <a:t>香港电网碳排放因子）</a:t>
            </a:r>
            <a:endParaRPr lang="en-US" sz="1600" dirty="0"/>
          </a:p>
        </p:txBody>
      </p:sp>
      <p:sp>
        <p:nvSpPr>
          <p:cNvPr id="82" name="Shape 15"/>
          <p:cNvSpPr/>
          <p:nvPr/>
        </p:nvSpPr>
        <p:spPr>
          <a:xfrm>
            <a:off x="609600" y="4302860"/>
            <a:ext cx="11094720" cy="1828800"/>
          </a:xfrm>
          <a:prstGeom prst="roundRect">
            <a:avLst>
              <a:gd name="adj" fmla="val 4000"/>
            </a:avLst>
          </a:prstGeom>
          <a:solidFill>
            <a:srgbClr val="F8F5F0"/>
          </a:solidFill>
          <a:ln w="5080">
            <a:solidFill>
              <a:srgbClr val="C4A35A">
                <a:alpha val="30000"/>
              </a:srgbClr>
            </a:solidFill>
            <a:prstDash val="solid"/>
          </a:ln>
        </p:spPr>
      </p:sp>
      <p:sp>
        <p:nvSpPr>
          <p:cNvPr id="83" name="Text 16"/>
          <p:cNvSpPr/>
          <p:nvPr/>
        </p:nvSpPr>
        <p:spPr>
          <a:xfrm>
            <a:off x="792480" y="4400396"/>
            <a:ext cx="3657600" cy="304800"/>
          </a:xfrm>
          <a:prstGeom prst="rect">
            <a:avLst/>
          </a:prstGeom>
          <a:noFill/>
          <a:ln/>
        </p:spPr>
        <p:txBody>
          <a:bodyPr wrap="square" rtlCol="0" anchor="ctr"/>
          <a:lstStyle/>
          <a:p>
            <a:r>
              <a:rPr lang="en-US" sz="1867" b="1" dirty="0">
                <a:solidFill>
                  <a:srgbClr val="15548D"/>
                </a:solidFill>
                <a:latin typeface="Microsoft YaHei" pitchFamily="34" charset="0"/>
                <a:ea typeface="Microsoft YaHei" pitchFamily="34" charset="-122"/>
                <a:cs typeface="Microsoft YaHei" pitchFamily="34" charset="-120"/>
              </a:rPr>
              <a:t>为什么加噪声？</a:t>
            </a:r>
            <a:endParaRPr lang="en-US" sz="1867" dirty="0">
              <a:solidFill>
                <a:srgbClr val="15548D"/>
              </a:solidFill>
            </a:endParaRPr>
          </a:p>
        </p:txBody>
      </p:sp>
      <p:sp>
        <p:nvSpPr>
          <p:cNvPr id="105" name="Text 17"/>
          <p:cNvSpPr/>
          <p:nvPr/>
        </p:nvSpPr>
        <p:spPr>
          <a:xfrm>
            <a:off x="792480" y="4790540"/>
            <a:ext cx="10728960" cy="1219200"/>
          </a:xfrm>
          <a:prstGeom prst="rect">
            <a:avLst/>
          </a:prstGeom>
          <a:noFill/>
          <a:ln/>
        </p:spPr>
        <p:txBody>
          <a:bodyPr wrap="square" rtlCol="0" anchor="ctr"/>
          <a:lstStyle/>
          <a:p>
            <a:pPr>
              <a:lnSpc>
                <a:spcPct val="120000"/>
              </a:lnSpc>
            </a:pPr>
            <a:r>
              <a:rPr lang="en-US" sz="1600" dirty="0">
                <a:solidFill>
                  <a:srgbClr val="2D2D2D"/>
                </a:solidFill>
                <a:latin typeface="Microsoft YaHei" pitchFamily="34" charset="0"/>
                <a:ea typeface="Microsoft YaHei" pitchFamily="34" charset="-122"/>
                <a:cs typeface="Microsoft YaHei" pitchFamily="34" charset="-120"/>
              </a:rPr>
              <a:t>不加噪声 → MLP 拟合过于干净的公式标签 → R² 虚高 → 无法反映真实运营的不确定性。叠加场景噪声后，</a:t>
            </a:r>
            <a:r>
              <a:rPr lang="en-US" sz="1600" dirty="0" smtClean="0">
                <a:solidFill>
                  <a:srgbClr val="2D2D2D"/>
                </a:solidFill>
                <a:latin typeface="Microsoft YaHei" pitchFamily="34" charset="0"/>
                <a:ea typeface="Microsoft YaHei" pitchFamily="34" charset="-122"/>
                <a:cs typeface="Microsoft YaHei" pitchFamily="34" charset="-120"/>
              </a:rPr>
              <a:t>模型需要从</a:t>
            </a:r>
            <a:r>
              <a:rPr lang="zh-CN" altLang="en-US" sz="1600" dirty="0" smtClean="0">
                <a:solidFill>
                  <a:srgbClr val="2D2D2D"/>
                </a:solidFill>
                <a:latin typeface="Microsoft YaHei" pitchFamily="34" charset="0"/>
                <a:ea typeface="Microsoft YaHei" pitchFamily="34" charset="-122"/>
                <a:cs typeface="Microsoft YaHei" pitchFamily="34" charset="-120"/>
              </a:rPr>
              <a:t>被</a:t>
            </a:r>
            <a:r>
              <a:rPr lang="en-US" sz="1600" dirty="0" smtClean="0">
                <a:solidFill>
                  <a:srgbClr val="2D2D2D"/>
                </a:solidFill>
                <a:latin typeface="Microsoft YaHei" pitchFamily="34" charset="0"/>
                <a:ea typeface="Microsoft YaHei" pitchFamily="34" charset="-122"/>
                <a:cs typeface="Microsoft YaHei" pitchFamily="34" charset="-120"/>
              </a:rPr>
              <a:t>噪声</a:t>
            </a:r>
            <a:r>
              <a:rPr lang="zh-CN" altLang="en-US" sz="1600" dirty="0" smtClean="0">
                <a:solidFill>
                  <a:srgbClr val="2D2D2D"/>
                </a:solidFill>
                <a:latin typeface="Microsoft YaHei" pitchFamily="34" charset="0"/>
                <a:ea typeface="Microsoft YaHei" pitchFamily="34" charset="-122"/>
                <a:cs typeface="Microsoft YaHei" pitchFamily="34" charset="-120"/>
              </a:rPr>
              <a:t>污染的数据</a:t>
            </a:r>
            <a:r>
              <a:rPr lang="en-US" sz="1600" dirty="0" smtClean="0">
                <a:solidFill>
                  <a:srgbClr val="2D2D2D"/>
                </a:solidFill>
                <a:latin typeface="Microsoft YaHei" pitchFamily="34" charset="0"/>
                <a:ea typeface="Microsoft YaHei" pitchFamily="34" charset="-122"/>
                <a:cs typeface="Microsoft YaHei" pitchFamily="34" charset="-120"/>
              </a:rPr>
              <a:t>中学习信号 </a:t>
            </a:r>
            <a:r>
              <a:rPr lang="en-US" sz="1600" dirty="0">
                <a:solidFill>
                  <a:srgbClr val="2D2D2D"/>
                </a:solidFill>
                <a:latin typeface="Microsoft YaHei" pitchFamily="34" charset="0"/>
                <a:ea typeface="Microsoft YaHei" pitchFamily="34" charset="-122"/>
                <a:cs typeface="Microsoft YaHei" pitchFamily="34" charset="-120"/>
              </a:rPr>
              <a:t>→ 更接近真实运营数据特性。基础高斯噪声模拟测量误差；高峰/拥堵/载客/温度噪声模拟工况波动；3% 异常值模拟极端事件。所有噪声按 trip_id 固定种子生成 → 同一 trip_id 每次得到相同标签 → 实验可完全复现。</a:t>
            </a:r>
            <a:endParaRPr lang="en-US" sz="1600" dirty="0"/>
          </a:p>
        </p:txBody>
      </p:sp>
      <p:pic>
        <p:nvPicPr>
          <p:cNvPr id="4" name="图片 3"/>
          <p:cNvPicPr>
            <a:picLocks noChangeAspect="1"/>
          </p:cNvPicPr>
          <p:nvPr/>
        </p:nvPicPr>
        <p:blipFill>
          <a:blip r:embed="rId4"/>
          <a:stretch>
            <a:fillRect/>
          </a:stretch>
        </p:blipFill>
        <p:spPr>
          <a:xfrm>
            <a:off x="901357" y="1454387"/>
            <a:ext cx="5146726" cy="973705"/>
          </a:xfrm>
          <a:prstGeom prst="rect">
            <a:avLst/>
          </a:prstGeom>
        </p:spPr>
      </p:pic>
      <p:pic>
        <p:nvPicPr>
          <p:cNvPr id="11" name="图片 10"/>
          <p:cNvPicPr>
            <a:picLocks noChangeAspect="1"/>
          </p:cNvPicPr>
          <p:nvPr/>
        </p:nvPicPr>
        <p:blipFill>
          <a:blip r:embed="rId5"/>
          <a:stretch>
            <a:fillRect/>
          </a:stretch>
        </p:blipFill>
        <p:spPr>
          <a:xfrm>
            <a:off x="901357" y="2428102"/>
            <a:ext cx="5146726" cy="369780"/>
          </a:xfrm>
          <a:prstGeom prst="rect">
            <a:avLst/>
          </a:prstGeom>
        </p:spPr>
      </p:pic>
      <p:sp>
        <p:nvSpPr>
          <p:cNvPr id="17" name="文本框 16"/>
          <p:cNvSpPr txBox="1"/>
          <p:nvPr/>
        </p:nvSpPr>
        <p:spPr>
          <a:xfrm>
            <a:off x="792480" y="2859362"/>
            <a:ext cx="5401481" cy="1077218"/>
          </a:xfrm>
          <a:prstGeom prst="rect">
            <a:avLst/>
          </a:prstGeom>
          <a:noFill/>
        </p:spPr>
        <p:txBody>
          <a:bodyPr wrap="square" rtlCol="0">
            <a:spAutoFit/>
          </a:bodyPr>
          <a:lstStyle/>
          <a:p>
            <a:r>
              <a:rPr lang="zh-CN" altLang="en-US" sz="1600" dirty="0">
                <a:solidFill>
                  <a:srgbClr val="2D2D2D"/>
                </a:solidFill>
                <a:latin typeface="Microsoft YaHei" pitchFamily="34" charset="0"/>
                <a:ea typeface="Microsoft YaHei" pitchFamily="34" charset="-122"/>
                <a:cs typeface="Microsoft YaHei" pitchFamily="34" charset="-120"/>
              </a:rPr>
              <a:t>该式用于生成模型训练中的规则化能耗标签，其中行驶距离提供基础能耗，正坡度、拥堵程度和载客率分别刻画道路条件、交通状态与车辆负载对能耗的影响；温度惩罚项用于模拟环境温度偏离舒适区后空调等辅助能耗的增加。</a:t>
            </a:r>
          </a:p>
        </p:txBody>
      </p:sp>
    </p:spTree>
    <p:extLst>
      <p:ext uri="{BB962C8B-B14F-4D97-AF65-F5344CB8AC3E}">
        <p14:creationId xmlns:p14="http://schemas.microsoft.com/office/powerpoint/2010/main" val="4143878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down)">
                                      <p:cBhvr>
                                        <p:cTn id="12" dur="500"/>
                                        <p:tgtEl>
                                          <p:spTgt spid="8"/>
                                        </p:tgtEl>
                                      </p:cBhvr>
                                    </p:animEffect>
                                  </p:childTnLst>
                                </p:cTn>
                              </p:par>
                              <p:par>
                                <p:cTn id="13" presetID="1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ppt_x</p:attrName>
                                        </p:attrNameLst>
                                      </p:cBhvr>
                                      <p:tavLst>
                                        <p:tav tm="0">
                                          <p:val>
                                            <p:strVal val="#ppt_x+#ppt_w*1.125000"/>
                                          </p:val>
                                        </p:tav>
                                        <p:tav tm="100000">
                                          <p:val>
                                            <p:strVal val="#ppt_x"/>
                                          </p:val>
                                        </p:tav>
                                      </p:tavLst>
                                    </p:anim>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淘宝-想搞设计PPT(倒卖必究)-9"/>
          <p:cNvSpPr/>
          <p:nvPr/>
        </p:nvSpPr>
        <p:spPr>
          <a:xfrm>
            <a:off x="2857500" y="4133850"/>
            <a:ext cx="8210550" cy="952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p:grpSpPr>
        <p:sp>
          <p:nvSpPr>
            <p:cNvPr id="7" name="淘宝-想搞设计PPT(倒卖必究)-7"/>
            <p:cNvSpPr/>
            <p:nvPr/>
          </p:nvSpPr>
          <p:spPr>
            <a:xfrm>
              <a:off x="1123950" y="2686050"/>
              <a:ext cx="1543050" cy="15430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1407285" y="2903577"/>
              <a:ext cx="976380" cy="1107996"/>
            </a:xfrm>
            <a:prstGeom prst="rect">
              <a:avLst/>
            </a:prstGeom>
            <a:no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3</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8" name="淘宝-想搞设计PPT(倒卖必究)-8"/>
          <p:cNvSpPr/>
          <p:nvPr/>
        </p:nvSpPr>
        <p:spPr>
          <a:xfrm>
            <a:off x="2857500" y="2686050"/>
            <a:ext cx="9334500" cy="12954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淘宝-想搞设计PPT(倒卖必究)-10"/>
          <p:cNvSpPr txBox="1"/>
          <p:nvPr/>
        </p:nvSpPr>
        <p:spPr>
          <a:xfrm>
            <a:off x="2950335" y="2750022"/>
            <a:ext cx="2646870" cy="830993"/>
          </a:xfrm>
          <a:prstGeom prst="rect">
            <a:avLst/>
          </a:prstGeom>
          <a:noFill/>
        </p:spPr>
        <p:txBody>
          <a:bodyPr wrap="none" lIns="91436" tIns="45718" rIns="91436" bIns="45718" rtlCol="0">
            <a:spAutoFit/>
          </a:bodyPr>
          <a:lstStyle>
            <a:defPPr>
              <a:defRPr lang="zh-CN"/>
            </a:defPPr>
            <a:lvl1pP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solidFill>
                  <a:srgbClr val="FFFFFF"/>
                </a:solidFill>
              </a:rPr>
              <a:t>代</a:t>
            </a:r>
            <a:r>
              <a:rPr lang="zh-CN" altLang="en-US" dirty="0" smtClean="0">
                <a:solidFill>
                  <a:srgbClr val="FFFFFF"/>
                </a:solidFill>
              </a:rPr>
              <a:t>码算法</a:t>
            </a:r>
            <a:endParaRPr lang="zh-CN" altLang="en-US" dirty="0">
              <a:solidFill>
                <a:srgbClr val="FFFFFF"/>
              </a:solidFill>
            </a:endParaRPr>
          </a:p>
        </p:txBody>
      </p:sp>
      <p:sp>
        <p:nvSpPr>
          <p:cNvPr id="12" name="淘宝-想搞设计PPT(倒卖必究)-12"/>
          <p:cNvSpPr/>
          <p:nvPr/>
        </p:nvSpPr>
        <p:spPr>
          <a:xfrm>
            <a:off x="3116147" y="3530685"/>
            <a:ext cx="2262150" cy="646327"/>
          </a:xfrm>
          <a:prstGeom prst="rect">
            <a:avLst/>
          </a:prstGeom>
        </p:spPr>
        <p:txBody>
          <a:bodyPr wrap="none" lIns="91436" tIns="45718" rIns="91436" bIns="45718">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代</a:t>
            </a:r>
            <a:r>
              <a:rPr lang="zh-CN" altLang="en-US" dirty="0">
                <a:solidFill>
                  <a:schemeClr val="bg1"/>
                </a:solidFill>
                <a:latin typeface="微软雅黑" panose="020B0503020204020204" pitchFamily="34" charset="-122"/>
                <a:ea typeface="微软雅黑" panose="020B0503020204020204" pitchFamily="34" charset="-122"/>
              </a:rPr>
              <a:t>码结构与核心算法</a:t>
            </a:r>
          </a:p>
          <a:p>
            <a:pPr algn="ctr"/>
            <a:endParaRPr lang="en-US" altLang="zh-CN" dirty="0">
              <a:solidFill>
                <a:schemeClr val="bg1"/>
              </a:solidFill>
              <a:latin typeface="微软雅黑" panose="020B0503020204020204" pitchFamily="34" charset="-122"/>
              <a:ea typeface="微软雅黑" panose="020B0503020204020204" pitchFamily="34" charset="-122"/>
            </a:endParaRPr>
          </a:p>
        </p:txBody>
      </p:sp>
      <p:pic>
        <p:nvPicPr>
          <p:cNvPr id="27" name="Picture 26" descr="华中科技大学.png"/>
          <p:cNvPicPr>
            <a:picLocks noChangeAspect="1"/>
          </p:cNvPicPr>
          <p:nvPr/>
        </p:nvPicPr>
        <p:blipFill>
          <a:blip r:embed="rId3"/>
          <a:stretch>
            <a:fillRect/>
          </a:stretch>
        </p:blipFill>
        <p:spPr>
          <a:xfrm>
            <a:off x="10257851" y="6221713"/>
            <a:ext cx="1835216" cy="40309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12" presetClass="entr" presetSubtype="2"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ppt_x</p:attrName>
                                        </p:attrNameLst>
                                      </p:cBhvr>
                                      <p:tavLst>
                                        <p:tav tm="0">
                                          <p:val>
                                            <p:strVal val="#ppt_x+#ppt_w*1.125000"/>
                                          </p:val>
                                        </p:tav>
                                        <p:tav tm="100000">
                                          <p:val>
                                            <p:strVal val="#ppt_x"/>
                                          </p:val>
                                        </p:tav>
                                      </p:tavLst>
                                    </p:anim>
                                    <p:animEffect transition="in" filter="wipe(left)">
                                      <p:cBhvr>
                                        <p:cTn id="14" dur="500"/>
                                        <p:tgtEl>
                                          <p:spTgt spid="8"/>
                                        </p:tgtEl>
                                      </p:cBhvr>
                                    </p:animEffect>
                                  </p:childTnLst>
                                </p:cTn>
                              </p:par>
                              <p:par>
                                <p:cTn id="15" presetID="12"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p:tgtEl>
                                          <p:spTgt spid="9"/>
                                        </p:tgtEl>
                                        <p:attrNameLst>
                                          <p:attrName>ppt_x</p:attrName>
                                        </p:attrNameLst>
                                      </p:cBhvr>
                                      <p:tavLst>
                                        <p:tav tm="0">
                                          <p:val>
                                            <p:strVal val="#ppt_x-#ppt_w*1.125000"/>
                                          </p:val>
                                        </p:tav>
                                        <p:tav tm="100000">
                                          <p:val>
                                            <p:strVal val="#ppt_x"/>
                                          </p:val>
                                        </p:tav>
                                      </p:tavLst>
                                    </p:anim>
                                    <p:animEffect transition="in" filter="wipe(right)">
                                      <p:cBhvr>
                                        <p:cTn id="18" dur="500"/>
                                        <p:tgtEl>
                                          <p:spTgt spid="9"/>
                                        </p:tgtEl>
                                      </p:cBhvr>
                                    </p:animEffect>
                                  </p:childTnLst>
                                </p:cTn>
                              </p:par>
                              <p:par>
                                <p:cTn id="19" presetID="12" presetClass="entr" presetSubtype="2" fill="hold" grpId="0" nodeType="withEffect">
                                  <p:stCondLst>
                                    <p:cond delay="5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p:tgtEl>
                                          <p:spTgt spid="10"/>
                                        </p:tgtEl>
                                        <p:attrNameLst>
                                          <p:attrName>ppt_x</p:attrName>
                                        </p:attrNameLst>
                                      </p:cBhvr>
                                      <p:tavLst>
                                        <p:tav tm="0">
                                          <p:val>
                                            <p:strVal val="#ppt_x+#ppt_w*1.125000"/>
                                          </p:val>
                                        </p:tav>
                                        <p:tav tm="100000">
                                          <p:val>
                                            <p:strVal val="#ppt_x"/>
                                          </p:val>
                                        </p:tav>
                                      </p:tavLst>
                                    </p:anim>
                                    <p:animEffect transition="in" filter="wipe(left)">
                                      <p:cBhvr>
                                        <p:cTn id="22" dur="500"/>
                                        <p:tgtEl>
                                          <p:spTgt spid="10"/>
                                        </p:tgtEl>
                                      </p:cBhvr>
                                    </p:animEffect>
                                  </p:childTnLst>
                                </p:cTn>
                              </p:par>
                              <p:par>
                                <p:cTn id="23" presetID="12" presetClass="entr" presetSubtype="2" fill="hold" grpId="0" nodeType="withEffect">
                                  <p:stCondLst>
                                    <p:cond delay="9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p:tgtEl>
                                          <p:spTgt spid="12"/>
                                        </p:tgtEl>
                                        <p:attrNameLst>
                                          <p:attrName>ppt_x</p:attrName>
                                        </p:attrNameLst>
                                      </p:cBhvr>
                                      <p:tavLst>
                                        <p:tav tm="0">
                                          <p:val>
                                            <p:strVal val="#ppt_x+#ppt_w*1.125000"/>
                                          </p:val>
                                        </p:tav>
                                        <p:tav tm="100000">
                                          <p:val>
                                            <p:strVal val="#ppt_x"/>
                                          </p:val>
                                        </p:tav>
                                      </p:tavLst>
                                    </p:anim>
                                    <p:animEffect transition="in" filter="wipe(left)">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0"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3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03  </a:t>
            </a:r>
            <a:r>
              <a:rPr lang="zh-CN" altLang="en-US" sz="1200" dirty="0">
                <a:solidFill>
                  <a:srgbClr val="C4A35A"/>
                </a:solidFill>
                <a:latin typeface="Microsoft YaHei" pitchFamily="34" charset="0"/>
                <a:ea typeface="Microsoft YaHei" pitchFamily="34" charset="-122"/>
                <a:cs typeface="Microsoft YaHei" pitchFamily="34" charset="-120"/>
              </a:rPr>
              <a:t>代</a:t>
            </a:r>
            <a:r>
              <a:rPr lang="zh-CN" altLang="en-US" sz="1200" dirty="0" smtClean="0">
                <a:solidFill>
                  <a:srgbClr val="C4A35A"/>
                </a:solidFill>
                <a:latin typeface="Microsoft YaHei" pitchFamily="34" charset="0"/>
                <a:ea typeface="Microsoft YaHei" pitchFamily="34" charset="-122"/>
                <a:cs typeface="Microsoft YaHei" pitchFamily="34" charset="-120"/>
              </a:rPr>
              <a:t>码结构与核心算法</a:t>
            </a:r>
            <a:endParaRPr lang="en-US" sz="1200" dirty="0"/>
          </a:p>
        </p:txBody>
      </p:sp>
      <p:grpSp>
        <p:nvGrpSpPr>
          <p:cNvPr id="38" name="组合 37"/>
          <p:cNvGrpSpPr/>
          <p:nvPr/>
        </p:nvGrpSpPr>
        <p:grpSpPr>
          <a:xfrm>
            <a:off x="-254000" y="201683"/>
            <a:ext cx="898070" cy="523220"/>
            <a:chOff x="-254000" y="201683"/>
            <a:chExt cx="898070" cy="523220"/>
          </a:xfrm>
        </p:grpSpPr>
        <p:sp>
          <p:nvSpPr>
            <p:cNvPr id="39"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41"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代</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码算法</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2584397" y="217491"/>
            <a:ext cx="10096500" cy="1780128"/>
            <a:chOff x="2584397" y="217491"/>
            <a:chExt cx="10096500" cy="1780128"/>
          </a:xfrm>
        </p:grpSpPr>
        <p:sp>
          <p:nvSpPr>
            <p:cNvPr id="43"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淘宝-想搞设计PPT(倒卖必究)-30"/>
            <p:cNvSpPr/>
            <p:nvPr/>
          </p:nvSpPr>
          <p:spPr>
            <a:xfrm>
              <a:off x="2612147" y="243297"/>
              <a:ext cx="3108535" cy="1754322"/>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代</a:t>
              </a:r>
              <a:r>
                <a:rPr lang="zh-CN" altLang="en-US" sz="1200" dirty="0">
                  <a:solidFill>
                    <a:schemeClr val="bg1"/>
                  </a:solidFill>
                  <a:latin typeface="微软雅黑" panose="020B0503020204020204" pitchFamily="34" charset="-122"/>
                  <a:ea typeface="微软雅黑" panose="020B0503020204020204" pitchFamily="34" charset="-122"/>
                </a:rPr>
                <a:t>码模块架构：六层分离，输入输出可追溯</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78" name="Shape 8"/>
          <p:cNvSpPr/>
          <p:nvPr/>
        </p:nvSpPr>
        <p:spPr>
          <a:xfrm>
            <a:off x="609600" y="881968"/>
            <a:ext cx="8290560" cy="768096"/>
          </a:xfrm>
          <a:prstGeom prst="roundRect">
            <a:avLst>
              <a:gd name="adj" fmla="val 9524"/>
            </a:avLst>
          </a:prstGeom>
          <a:solidFill>
            <a:srgbClr val="FFFFFF"/>
          </a:solidFill>
          <a:ln w="5080">
            <a:solidFill>
              <a:srgbClr val="C4A35A">
                <a:alpha val="30000"/>
              </a:srgbClr>
            </a:solidFill>
            <a:prstDash val="solid"/>
          </a:ln>
        </p:spPr>
      </p:sp>
      <p:sp>
        <p:nvSpPr>
          <p:cNvPr id="79" name="Shape 9"/>
          <p:cNvSpPr/>
          <p:nvPr/>
        </p:nvSpPr>
        <p:spPr>
          <a:xfrm>
            <a:off x="609600" y="881968"/>
            <a:ext cx="73152" cy="768096"/>
          </a:xfrm>
          <a:prstGeom prst="rect">
            <a:avLst/>
          </a:prstGeom>
          <a:solidFill>
            <a:srgbClr val="15548D"/>
          </a:solidFill>
          <a:ln/>
        </p:spPr>
      </p:sp>
      <p:sp>
        <p:nvSpPr>
          <p:cNvPr id="80" name="Text 10"/>
          <p:cNvSpPr/>
          <p:nvPr/>
        </p:nvSpPr>
        <p:spPr>
          <a:xfrm>
            <a:off x="853440" y="918544"/>
            <a:ext cx="3169920" cy="292608"/>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scripts/collect_hk_gtfs.py</a:t>
            </a:r>
            <a:endParaRPr lang="en-US" sz="1333" dirty="0"/>
          </a:p>
        </p:txBody>
      </p:sp>
      <p:sp>
        <p:nvSpPr>
          <p:cNvPr id="81" name="Text 11"/>
          <p:cNvSpPr/>
          <p:nvPr/>
        </p:nvSpPr>
        <p:spPr>
          <a:xfrm>
            <a:off x="4267200" y="918544"/>
            <a:ext cx="4267200" cy="292608"/>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采集并规范化 GTFS 班次</a:t>
            </a:r>
            <a:endParaRPr lang="en-US" sz="1467" dirty="0"/>
          </a:p>
        </p:txBody>
      </p:sp>
      <p:sp>
        <p:nvSpPr>
          <p:cNvPr id="82" name="Text 12"/>
          <p:cNvSpPr/>
          <p:nvPr/>
        </p:nvSpPr>
        <p:spPr>
          <a:xfrm>
            <a:off x="853440" y="1272112"/>
            <a:ext cx="7680960" cy="268224"/>
          </a:xfrm>
          <a:prstGeom prst="rect">
            <a:avLst/>
          </a:prstGeom>
          <a:noFill/>
          <a:ln/>
        </p:spPr>
        <p:txBody>
          <a:bodyPr wrap="square" rtlCol="0" anchor="ctr"/>
          <a:lstStyle/>
          <a:p>
            <a:r>
              <a:rPr lang="en-US" sz="1200" dirty="0">
                <a:solidFill>
                  <a:srgbClr val="9B9B9B"/>
                </a:solidFill>
                <a:latin typeface="Consolas" pitchFamily="34" charset="0"/>
                <a:ea typeface="Consolas" pitchFamily="34" charset="-122"/>
                <a:cs typeface="Consolas" pitchFamily="34" charset="-120"/>
              </a:rPr>
              <a:t>data.gov.hk GTFS  →  trips_hk_gtfs*.csv</a:t>
            </a:r>
            <a:endParaRPr lang="en-US" sz="1200" dirty="0"/>
          </a:p>
        </p:txBody>
      </p:sp>
      <p:sp>
        <p:nvSpPr>
          <p:cNvPr id="83" name="Shape 13"/>
          <p:cNvSpPr/>
          <p:nvPr/>
        </p:nvSpPr>
        <p:spPr>
          <a:xfrm>
            <a:off x="609600" y="1759792"/>
            <a:ext cx="8290560" cy="768096"/>
          </a:xfrm>
          <a:prstGeom prst="roundRect">
            <a:avLst>
              <a:gd name="adj" fmla="val 9524"/>
            </a:avLst>
          </a:prstGeom>
          <a:solidFill>
            <a:srgbClr val="F8F5F0"/>
          </a:solidFill>
          <a:ln w="5080">
            <a:solidFill>
              <a:srgbClr val="C4A35A">
                <a:alpha val="30000"/>
              </a:srgbClr>
            </a:solidFill>
            <a:prstDash val="solid"/>
          </a:ln>
        </p:spPr>
      </p:sp>
      <p:sp>
        <p:nvSpPr>
          <p:cNvPr id="84" name="Shape 14"/>
          <p:cNvSpPr/>
          <p:nvPr/>
        </p:nvSpPr>
        <p:spPr>
          <a:xfrm>
            <a:off x="609600" y="1759792"/>
            <a:ext cx="73152" cy="768096"/>
          </a:xfrm>
          <a:prstGeom prst="rect">
            <a:avLst/>
          </a:prstGeom>
          <a:solidFill>
            <a:srgbClr val="15548D"/>
          </a:solidFill>
          <a:ln/>
        </p:spPr>
      </p:sp>
      <p:sp>
        <p:nvSpPr>
          <p:cNvPr id="85" name="Text 15"/>
          <p:cNvSpPr/>
          <p:nvPr/>
        </p:nvSpPr>
        <p:spPr>
          <a:xfrm>
            <a:off x="853440" y="1796368"/>
            <a:ext cx="3169920" cy="292608"/>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scripts/build_project_datasets.py</a:t>
            </a:r>
            <a:endParaRPr lang="en-US" sz="1333" dirty="0"/>
          </a:p>
        </p:txBody>
      </p:sp>
      <p:sp>
        <p:nvSpPr>
          <p:cNvPr id="86" name="Text 16"/>
          <p:cNvSpPr/>
          <p:nvPr/>
        </p:nvSpPr>
        <p:spPr>
          <a:xfrm>
            <a:off x="4267200" y="1796368"/>
            <a:ext cx="4267200" cy="292608"/>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构造车辆/站点/电价/天气/能耗样本</a:t>
            </a:r>
            <a:endParaRPr lang="en-US" sz="1467" dirty="0"/>
          </a:p>
        </p:txBody>
      </p:sp>
      <p:sp>
        <p:nvSpPr>
          <p:cNvPr id="87" name="Text 17"/>
          <p:cNvSpPr/>
          <p:nvPr/>
        </p:nvSpPr>
        <p:spPr>
          <a:xfrm>
            <a:off x="853440" y="2149936"/>
            <a:ext cx="7680960" cy="268224"/>
          </a:xfrm>
          <a:prstGeom prst="rect">
            <a:avLst/>
          </a:prstGeom>
          <a:noFill/>
          <a:ln/>
        </p:spPr>
        <p:txBody>
          <a:bodyPr wrap="square" rtlCol="0" anchor="ctr"/>
          <a:lstStyle/>
          <a:p>
            <a:r>
              <a:rPr lang="en-US" sz="1200" dirty="0">
                <a:solidFill>
                  <a:srgbClr val="9B9B9B"/>
                </a:solidFill>
                <a:latin typeface="Consolas" pitchFamily="34" charset="0"/>
                <a:ea typeface="Consolas" pitchFamily="34" charset="-122"/>
                <a:cs typeface="Consolas" pitchFamily="34" charset="-120"/>
              </a:rPr>
              <a:t>GTFS + 假设参数  →  data/processed/*.csv</a:t>
            </a:r>
            <a:endParaRPr lang="en-US" sz="1200" dirty="0"/>
          </a:p>
        </p:txBody>
      </p:sp>
      <p:sp>
        <p:nvSpPr>
          <p:cNvPr id="88" name="Shape 18"/>
          <p:cNvSpPr/>
          <p:nvPr/>
        </p:nvSpPr>
        <p:spPr>
          <a:xfrm>
            <a:off x="609600" y="2637616"/>
            <a:ext cx="8290560" cy="768096"/>
          </a:xfrm>
          <a:prstGeom prst="roundRect">
            <a:avLst>
              <a:gd name="adj" fmla="val 9524"/>
            </a:avLst>
          </a:prstGeom>
          <a:solidFill>
            <a:srgbClr val="FFFFFF"/>
          </a:solidFill>
          <a:ln w="5080">
            <a:solidFill>
              <a:srgbClr val="C4A35A">
                <a:alpha val="30000"/>
              </a:srgbClr>
            </a:solidFill>
            <a:prstDash val="solid"/>
          </a:ln>
        </p:spPr>
      </p:sp>
      <p:sp>
        <p:nvSpPr>
          <p:cNvPr id="89" name="Shape 19"/>
          <p:cNvSpPr/>
          <p:nvPr/>
        </p:nvSpPr>
        <p:spPr>
          <a:xfrm>
            <a:off x="609600" y="2637616"/>
            <a:ext cx="73152" cy="768096"/>
          </a:xfrm>
          <a:prstGeom prst="rect">
            <a:avLst/>
          </a:prstGeom>
          <a:solidFill>
            <a:srgbClr val="15548D"/>
          </a:solidFill>
          <a:ln/>
        </p:spPr>
      </p:sp>
      <p:sp>
        <p:nvSpPr>
          <p:cNvPr id="90" name="Text 20"/>
          <p:cNvSpPr/>
          <p:nvPr/>
        </p:nvSpPr>
        <p:spPr>
          <a:xfrm>
            <a:off x="853440" y="2674192"/>
            <a:ext cx="3169920" cy="292608"/>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src/energy_model.py</a:t>
            </a:r>
            <a:endParaRPr lang="en-US" sz="1333" dirty="0"/>
          </a:p>
        </p:txBody>
      </p:sp>
      <p:sp>
        <p:nvSpPr>
          <p:cNvPr id="91" name="Text 21"/>
          <p:cNvSpPr/>
          <p:nvPr/>
        </p:nvSpPr>
        <p:spPr>
          <a:xfrm>
            <a:off x="4267200" y="2674192"/>
            <a:ext cx="4267200" cy="292608"/>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训练 MLP 能耗预测模型 (R²=0.94)</a:t>
            </a:r>
            <a:endParaRPr lang="en-US" sz="1467" dirty="0"/>
          </a:p>
        </p:txBody>
      </p:sp>
      <p:sp>
        <p:nvSpPr>
          <p:cNvPr id="92" name="Text 22"/>
          <p:cNvSpPr/>
          <p:nvPr/>
        </p:nvSpPr>
        <p:spPr>
          <a:xfrm>
            <a:off x="853440" y="3027760"/>
            <a:ext cx="7680960" cy="268224"/>
          </a:xfrm>
          <a:prstGeom prst="rect">
            <a:avLst/>
          </a:prstGeom>
          <a:noFill/>
          <a:ln/>
        </p:spPr>
        <p:txBody>
          <a:bodyPr wrap="square" rtlCol="0" anchor="ctr"/>
          <a:lstStyle/>
          <a:p>
            <a:r>
              <a:rPr lang="en-US" sz="1200" dirty="0">
                <a:solidFill>
                  <a:srgbClr val="9B9B9B"/>
                </a:solidFill>
                <a:latin typeface="Consolas" pitchFamily="34" charset="0"/>
                <a:ea typeface="Consolas" pitchFamily="34" charset="-122"/>
                <a:cs typeface="Consolas" pitchFamily="34" charset="-120"/>
              </a:rPr>
              <a:t>energy_samples.csv  →  energy_model.pkl</a:t>
            </a:r>
            <a:endParaRPr lang="en-US" sz="1200" dirty="0"/>
          </a:p>
        </p:txBody>
      </p:sp>
      <p:sp>
        <p:nvSpPr>
          <p:cNvPr id="93" name="Shape 23"/>
          <p:cNvSpPr/>
          <p:nvPr/>
        </p:nvSpPr>
        <p:spPr>
          <a:xfrm>
            <a:off x="609600" y="3515440"/>
            <a:ext cx="8290560" cy="768096"/>
          </a:xfrm>
          <a:prstGeom prst="roundRect">
            <a:avLst>
              <a:gd name="adj" fmla="val 9524"/>
            </a:avLst>
          </a:prstGeom>
          <a:solidFill>
            <a:srgbClr val="F8F5F0"/>
          </a:solidFill>
          <a:ln w="5080">
            <a:solidFill>
              <a:srgbClr val="C4A35A">
                <a:alpha val="30000"/>
              </a:srgbClr>
            </a:solidFill>
            <a:prstDash val="solid"/>
          </a:ln>
        </p:spPr>
      </p:sp>
      <p:sp>
        <p:nvSpPr>
          <p:cNvPr id="94" name="Shape 24"/>
          <p:cNvSpPr/>
          <p:nvPr/>
        </p:nvSpPr>
        <p:spPr>
          <a:xfrm>
            <a:off x="609600" y="3515440"/>
            <a:ext cx="73152" cy="768096"/>
          </a:xfrm>
          <a:prstGeom prst="rect">
            <a:avLst/>
          </a:prstGeom>
          <a:solidFill>
            <a:srgbClr val="15548D"/>
          </a:solidFill>
          <a:ln/>
        </p:spPr>
      </p:sp>
      <p:sp>
        <p:nvSpPr>
          <p:cNvPr id="95" name="Text 25"/>
          <p:cNvSpPr/>
          <p:nvPr/>
        </p:nvSpPr>
        <p:spPr>
          <a:xfrm>
            <a:off x="853440" y="3552016"/>
            <a:ext cx="3169920" cy="292608"/>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src/baseline_jsq.py</a:t>
            </a:r>
            <a:endParaRPr lang="en-US" sz="1333" dirty="0"/>
          </a:p>
        </p:txBody>
      </p:sp>
      <p:sp>
        <p:nvSpPr>
          <p:cNvPr id="96" name="Text 26"/>
          <p:cNvSpPr/>
          <p:nvPr/>
        </p:nvSpPr>
        <p:spPr>
          <a:xfrm>
            <a:off x="4267200" y="3552016"/>
            <a:ext cx="4267200" cy="292608"/>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JSQ 基线调度 (FCFS + 最短队列)</a:t>
            </a:r>
            <a:endParaRPr lang="en-US" sz="1467" dirty="0"/>
          </a:p>
        </p:txBody>
      </p:sp>
      <p:sp>
        <p:nvSpPr>
          <p:cNvPr id="97" name="Text 27"/>
          <p:cNvSpPr/>
          <p:nvPr/>
        </p:nvSpPr>
        <p:spPr>
          <a:xfrm>
            <a:off x="853440" y="3905584"/>
            <a:ext cx="7680960" cy="268224"/>
          </a:xfrm>
          <a:prstGeom prst="rect">
            <a:avLst/>
          </a:prstGeom>
          <a:noFill/>
          <a:ln/>
        </p:spPr>
        <p:txBody>
          <a:bodyPr wrap="square" rtlCol="0" anchor="ctr"/>
          <a:lstStyle/>
          <a:p>
            <a:r>
              <a:rPr lang="en-US" sz="1200" dirty="0">
                <a:solidFill>
                  <a:srgbClr val="9B9B9B"/>
                </a:solidFill>
                <a:latin typeface="Consolas" pitchFamily="34" charset="0"/>
                <a:ea typeface="Consolas" pitchFamily="34" charset="-122"/>
                <a:cs typeface="Consolas" pitchFamily="34" charset="-120"/>
              </a:rPr>
              <a:t>trips/vehicles/stations  →  jsq_schedule + metrics</a:t>
            </a:r>
            <a:endParaRPr lang="en-US" sz="1200" dirty="0"/>
          </a:p>
        </p:txBody>
      </p:sp>
      <p:sp>
        <p:nvSpPr>
          <p:cNvPr id="98" name="Shape 28"/>
          <p:cNvSpPr/>
          <p:nvPr/>
        </p:nvSpPr>
        <p:spPr>
          <a:xfrm>
            <a:off x="609600" y="4393264"/>
            <a:ext cx="8290560" cy="768096"/>
          </a:xfrm>
          <a:prstGeom prst="roundRect">
            <a:avLst>
              <a:gd name="adj" fmla="val 9524"/>
            </a:avLst>
          </a:prstGeom>
          <a:solidFill>
            <a:srgbClr val="FFFFFF"/>
          </a:solidFill>
          <a:ln w="5080">
            <a:solidFill>
              <a:srgbClr val="C4A35A">
                <a:alpha val="30000"/>
              </a:srgbClr>
            </a:solidFill>
            <a:prstDash val="solid"/>
          </a:ln>
        </p:spPr>
      </p:sp>
      <p:sp>
        <p:nvSpPr>
          <p:cNvPr id="99" name="Shape 29"/>
          <p:cNvSpPr/>
          <p:nvPr/>
        </p:nvSpPr>
        <p:spPr>
          <a:xfrm>
            <a:off x="609600" y="4393264"/>
            <a:ext cx="73152" cy="768096"/>
          </a:xfrm>
          <a:prstGeom prst="rect">
            <a:avLst/>
          </a:prstGeom>
          <a:solidFill>
            <a:srgbClr val="15548D"/>
          </a:solidFill>
          <a:ln/>
        </p:spPr>
      </p:sp>
      <p:sp>
        <p:nvSpPr>
          <p:cNvPr id="100" name="Text 30"/>
          <p:cNvSpPr/>
          <p:nvPr/>
        </p:nvSpPr>
        <p:spPr>
          <a:xfrm>
            <a:off x="853440" y="4429840"/>
            <a:ext cx="3169920" cy="292608"/>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src/ga_optimizer.py</a:t>
            </a:r>
            <a:endParaRPr lang="en-US" sz="1333" dirty="0"/>
          </a:p>
        </p:txBody>
      </p:sp>
      <p:sp>
        <p:nvSpPr>
          <p:cNvPr id="101" name="Text 31"/>
          <p:cNvSpPr/>
          <p:nvPr/>
        </p:nvSpPr>
        <p:spPr>
          <a:xfrm>
            <a:off x="4267200" y="4429840"/>
            <a:ext cx="4267200" cy="292608"/>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遗传算法全局策略搜索</a:t>
            </a:r>
            <a:endParaRPr lang="en-US" sz="1467" dirty="0"/>
          </a:p>
        </p:txBody>
      </p:sp>
      <p:sp>
        <p:nvSpPr>
          <p:cNvPr id="102" name="Text 32"/>
          <p:cNvSpPr/>
          <p:nvPr/>
        </p:nvSpPr>
        <p:spPr>
          <a:xfrm>
            <a:off x="853440" y="4783408"/>
            <a:ext cx="7680960" cy="268224"/>
          </a:xfrm>
          <a:prstGeom prst="rect">
            <a:avLst/>
          </a:prstGeom>
          <a:noFill/>
          <a:ln/>
        </p:spPr>
        <p:txBody>
          <a:bodyPr wrap="square" rtlCol="0" anchor="ctr"/>
          <a:lstStyle/>
          <a:p>
            <a:r>
              <a:rPr lang="en-US" sz="1200" dirty="0">
                <a:solidFill>
                  <a:srgbClr val="9B9B9B"/>
                </a:solidFill>
                <a:latin typeface="Consolas" pitchFamily="34" charset="0"/>
                <a:ea typeface="Consolas" pitchFamily="34" charset="-122"/>
                <a:cs typeface="Consolas" pitchFamily="34" charset="-120"/>
              </a:rPr>
              <a:t>同 JSQ 输入  →  ga_schedule + metrics + history</a:t>
            </a:r>
            <a:endParaRPr lang="en-US" sz="1200" dirty="0"/>
          </a:p>
        </p:txBody>
      </p:sp>
      <p:sp>
        <p:nvSpPr>
          <p:cNvPr id="103" name="Shape 33"/>
          <p:cNvSpPr/>
          <p:nvPr/>
        </p:nvSpPr>
        <p:spPr>
          <a:xfrm>
            <a:off x="609600" y="5271088"/>
            <a:ext cx="8290560" cy="768096"/>
          </a:xfrm>
          <a:prstGeom prst="roundRect">
            <a:avLst>
              <a:gd name="adj" fmla="val 9524"/>
            </a:avLst>
          </a:prstGeom>
          <a:solidFill>
            <a:srgbClr val="F8F5F0"/>
          </a:solidFill>
          <a:ln w="5080">
            <a:solidFill>
              <a:srgbClr val="C4A35A">
                <a:alpha val="30000"/>
              </a:srgbClr>
            </a:solidFill>
            <a:prstDash val="solid"/>
          </a:ln>
        </p:spPr>
      </p:sp>
      <p:sp>
        <p:nvSpPr>
          <p:cNvPr id="104" name="Shape 34"/>
          <p:cNvSpPr/>
          <p:nvPr/>
        </p:nvSpPr>
        <p:spPr>
          <a:xfrm>
            <a:off x="609600" y="5271088"/>
            <a:ext cx="73152" cy="768096"/>
          </a:xfrm>
          <a:prstGeom prst="rect">
            <a:avLst/>
          </a:prstGeom>
          <a:solidFill>
            <a:srgbClr val="15548D"/>
          </a:solidFill>
          <a:ln/>
        </p:spPr>
      </p:sp>
      <p:sp>
        <p:nvSpPr>
          <p:cNvPr id="105" name="Text 35"/>
          <p:cNvSpPr/>
          <p:nvPr/>
        </p:nvSpPr>
        <p:spPr>
          <a:xfrm>
            <a:off x="853440" y="5307664"/>
            <a:ext cx="3169920" cy="292608"/>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src/evaluation.py / visualization.py</a:t>
            </a:r>
            <a:endParaRPr lang="en-US" sz="1333" dirty="0"/>
          </a:p>
        </p:txBody>
      </p:sp>
      <p:sp>
        <p:nvSpPr>
          <p:cNvPr id="106" name="Text 36"/>
          <p:cNvSpPr/>
          <p:nvPr/>
        </p:nvSpPr>
        <p:spPr>
          <a:xfrm>
            <a:off x="4267200" y="5307664"/>
            <a:ext cx="4267200" cy="292608"/>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指标对比与图表生成</a:t>
            </a:r>
            <a:endParaRPr lang="en-US" sz="1467" dirty="0"/>
          </a:p>
        </p:txBody>
      </p:sp>
      <p:sp>
        <p:nvSpPr>
          <p:cNvPr id="107" name="Text 37"/>
          <p:cNvSpPr/>
          <p:nvPr/>
        </p:nvSpPr>
        <p:spPr>
          <a:xfrm>
            <a:off x="853440" y="5661232"/>
            <a:ext cx="7680960" cy="268224"/>
          </a:xfrm>
          <a:prstGeom prst="rect">
            <a:avLst/>
          </a:prstGeom>
          <a:noFill/>
          <a:ln/>
        </p:spPr>
        <p:txBody>
          <a:bodyPr wrap="square" rtlCol="0" anchor="ctr"/>
          <a:lstStyle/>
          <a:p>
            <a:r>
              <a:rPr lang="en-US" sz="1200" dirty="0">
                <a:solidFill>
                  <a:srgbClr val="9B9B9B"/>
                </a:solidFill>
                <a:latin typeface="Consolas" pitchFamily="34" charset="0"/>
                <a:ea typeface="Consolas" pitchFamily="34" charset="-122"/>
                <a:cs typeface="Consolas" pitchFamily="34" charset="-120"/>
              </a:rPr>
              <a:t>schedules + metrics  →  summary + figures</a:t>
            </a:r>
            <a:endParaRPr lang="en-US" sz="1200" dirty="0"/>
          </a:p>
        </p:txBody>
      </p:sp>
      <p:pic>
        <p:nvPicPr>
          <p:cNvPr id="108" name="Image 0" descr="C:\Users\Administrator\Desktop\greenlowcarbon\plannin\PPT\images\code_detail.jpg"/>
          <p:cNvPicPr>
            <a:picLocks noChangeAspect="1"/>
          </p:cNvPicPr>
          <p:nvPr/>
        </p:nvPicPr>
        <p:blipFill>
          <a:blip r:embed="rId4"/>
          <a:srcRect/>
          <a:stretch/>
        </p:blipFill>
        <p:spPr>
          <a:xfrm>
            <a:off x="8656320" y="881968"/>
            <a:ext cx="3169920" cy="524256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p:tgtEl>
                                          <p:spTgt spid="41"/>
                                        </p:tgtEl>
                                        <p:attrNameLst>
                                          <p:attrName>ppt_y</p:attrName>
                                        </p:attrNameLst>
                                      </p:cBhvr>
                                      <p:tavLst>
                                        <p:tav tm="0">
                                          <p:val>
                                            <p:strVal val="#ppt_y-#ppt_h*1.125000"/>
                                          </p:val>
                                        </p:tav>
                                        <p:tav tm="100000">
                                          <p:val>
                                            <p:strVal val="#ppt_y"/>
                                          </p:val>
                                        </p:tav>
                                      </p:tavLst>
                                    </p:anim>
                                    <p:animEffect transition="in" filter="wipe(down)">
                                      <p:cBhvr>
                                        <p:cTn id="12" dur="500"/>
                                        <p:tgtEl>
                                          <p:spTgt spid="41"/>
                                        </p:tgtEl>
                                      </p:cBhvr>
                                    </p:animEffect>
                                  </p:childTnLst>
                                </p:cTn>
                              </p:par>
                              <p:par>
                                <p:cTn id="13" presetID="12" presetClass="entr" presetSubtype="2"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p:tgtEl>
                                          <p:spTgt spid="42"/>
                                        </p:tgtEl>
                                        <p:attrNameLst>
                                          <p:attrName>ppt_x</p:attrName>
                                        </p:attrNameLst>
                                      </p:cBhvr>
                                      <p:tavLst>
                                        <p:tav tm="0">
                                          <p:val>
                                            <p:strVal val="#ppt_x+#ppt_w*1.125000"/>
                                          </p:val>
                                        </p:tav>
                                        <p:tav tm="100000">
                                          <p:val>
                                            <p:strVal val="#ppt_x"/>
                                          </p:val>
                                        </p:tav>
                                      </p:tavLst>
                                    </p:anim>
                                    <p:animEffect transition="in" filter="wipe(left)">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3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03  </a:t>
            </a:r>
            <a:r>
              <a:rPr lang="zh-CN" altLang="en-US" sz="1200" dirty="0">
                <a:solidFill>
                  <a:srgbClr val="C4A35A"/>
                </a:solidFill>
                <a:latin typeface="Microsoft YaHei" pitchFamily="34" charset="0"/>
                <a:ea typeface="Microsoft YaHei" pitchFamily="34" charset="-122"/>
                <a:cs typeface="Microsoft YaHei" pitchFamily="34" charset="-120"/>
              </a:rPr>
              <a:t>代</a:t>
            </a:r>
            <a:r>
              <a:rPr lang="zh-CN" altLang="en-US" sz="1200" dirty="0" smtClean="0">
                <a:solidFill>
                  <a:srgbClr val="C4A35A"/>
                </a:solidFill>
                <a:latin typeface="Microsoft YaHei" pitchFamily="34" charset="0"/>
                <a:ea typeface="Microsoft YaHei" pitchFamily="34" charset="-122"/>
                <a:cs typeface="Microsoft YaHei" pitchFamily="34" charset="-120"/>
              </a:rPr>
              <a:t>码结构与核心算法</a:t>
            </a:r>
            <a:endParaRPr lang="en-US" sz="1200" dirty="0"/>
          </a:p>
        </p:txBody>
      </p:sp>
      <p:grpSp>
        <p:nvGrpSpPr>
          <p:cNvPr id="38" name="组合 37"/>
          <p:cNvGrpSpPr/>
          <p:nvPr/>
        </p:nvGrpSpPr>
        <p:grpSpPr>
          <a:xfrm>
            <a:off x="-254000" y="201683"/>
            <a:ext cx="898070" cy="523220"/>
            <a:chOff x="-254000" y="201683"/>
            <a:chExt cx="898070" cy="523220"/>
          </a:xfrm>
        </p:grpSpPr>
        <p:sp>
          <p:nvSpPr>
            <p:cNvPr id="39"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41"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代</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码算法</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2584397" y="217491"/>
            <a:ext cx="10096500" cy="1964794"/>
            <a:chOff x="2584397" y="217491"/>
            <a:chExt cx="10096500" cy="1964794"/>
          </a:xfrm>
        </p:grpSpPr>
        <p:sp>
          <p:nvSpPr>
            <p:cNvPr id="43"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淘宝-想搞设计PPT(倒卖必究)-30"/>
            <p:cNvSpPr/>
            <p:nvPr/>
          </p:nvSpPr>
          <p:spPr>
            <a:xfrm>
              <a:off x="2656556" y="243297"/>
              <a:ext cx="2553896" cy="1938988"/>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能</a:t>
              </a:r>
              <a:r>
                <a:rPr lang="zh-CN" altLang="en-US" sz="1200" dirty="0">
                  <a:solidFill>
                    <a:schemeClr val="bg1"/>
                  </a:solidFill>
                  <a:latin typeface="微软雅黑" panose="020B0503020204020204" pitchFamily="34" charset="-122"/>
                  <a:ea typeface="微软雅黑" panose="020B0503020204020204" pitchFamily="34" charset="-122"/>
                </a:rPr>
                <a:t>耗预测模型：</a:t>
              </a:r>
              <a:r>
                <a:rPr lang="en-US" altLang="zh-CN" sz="1200" dirty="0">
                  <a:solidFill>
                    <a:schemeClr val="bg1"/>
                  </a:solidFill>
                  <a:latin typeface="微软雅黑" panose="020B0503020204020204" pitchFamily="34" charset="-122"/>
                  <a:ea typeface="微软雅黑" panose="020B0503020204020204" pitchFamily="34" charset="-122"/>
                </a:rPr>
                <a:t>MLP </a:t>
              </a:r>
              <a:r>
                <a:rPr lang="zh-CN" altLang="en-US" sz="1200" dirty="0">
                  <a:solidFill>
                    <a:schemeClr val="bg1"/>
                  </a:solidFill>
                  <a:latin typeface="微软雅黑" panose="020B0503020204020204" pitchFamily="34" charset="-122"/>
                  <a:ea typeface="微软雅黑" panose="020B0503020204020204" pitchFamily="34" charset="-122"/>
                </a:rPr>
                <a:t>神经网络设计</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6" name="Shape 8"/>
          <p:cNvSpPr/>
          <p:nvPr/>
        </p:nvSpPr>
        <p:spPr>
          <a:xfrm>
            <a:off x="609600" y="881968"/>
            <a:ext cx="5730240" cy="3169920"/>
          </a:xfrm>
          <a:prstGeom prst="roundRect">
            <a:avLst>
              <a:gd name="adj" fmla="val 2308"/>
            </a:avLst>
          </a:prstGeom>
          <a:solidFill>
            <a:srgbClr val="F8F5F0"/>
          </a:solidFill>
          <a:ln w="5080">
            <a:solidFill>
              <a:srgbClr val="C4A35A">
                <a:alpha val="30000"/>
              </a:srgbClr>
            </a:solidFill>
            <a:prstDash val="solid"/>
          </a:ln>
        </p:spPr>
      </p:sp>
      <p:sp>
        <p:nvSpPr>
          <p:cNvPr id="47" name="Text 9"/>
          <p:cNvSpPr/>
          <p:nvPr/>
        </p:nvSpPr>
        <p:spPr>
          <a:xfrm>
            <a:off x="792480" y="1003888"/>
            <a:ext cx="5486400" cy="341376"/>
          </a:xfrm>
          <a:prstGeom prst="rect">
            <a:avLst/>
          </a:prstGeom>
          <a:noFill/>
          <a:ln/>
        </p:spPr>
        <p:txBody>
          <a:bodyPr wrap="square" rtlCol="0" anchor="ctr"/>
          <a:lstStyle/>
          <a:p>
            <a:r>
              <a:rPr lang="en-US" sz="1867" b="1" dirty="0">
                <a:solidFill>
                  <a:srgbClr val="15548D"/>
                </a:solidFill>
                <a:latin typeface="Microsoft YaHei" pitchFamily="34" charset="0"/>
                <a:ea typeface="Microsoft YaHei" pitchFamily="34" charset="-122"/>
                <a:cs typeface="Microsoft YaHei" pitchFamily="34" charset="-120"/>
              </a:rPr>
              <a:t>模型结构 (StandardScaler + MLPRegressor)</a:t>
            </a:r>
            <a:endParaRPr lang="en-US" sz="1867" dirty="0">
              <a:solidFill>
                <a:srgbClr val="15548D"/>
              </a:solidFill>
            </a:endParaRPr>
          </a:p>
        </p:txBody>
      </p:sp>
      <p:sp>
        <p:nvSpPr>
          <p:cNvPr id="48" name="Shape 10"/>
          <p:cNvSpPr/>
          <p:nvPr/>
        </p:nvSpPr>
        <p:spPr>
          <a:xfrm>
            <a:off x="914400" y="1387348"/>
            <a:ext cx="5242560" cy="677244"/>
          </a:xfrm>
          <a:prstGeom prst="roundRect">
            <a:avLst>
              <a:gd name="adj" fmla="val 15000"/>
            </a:avLst>
          </a:prstGeom>
          <a:solidFill>
            <a:srgbClr val="FFFFFF"/>
          </a:solidFill>
          <a:ln w="5080">
            <a:solidFill>
              <a:srgbClr val="C4A35A">
                <a:alpha val="30000"/>
              </a:srgbClr>
            </a:solidFill>
            <a:prstDash val="solid"/>
          </a:ln>
        </p:spPr>
      </p:sp>
      <p:sp>
        <p:nvSpPr>
          <p:cNvPr id="49" name="Shape 11"/>
          <p:cNvSpPr/>
          <p:nvPr/>
        </p:nvSpPr>
        <p:spPr>
          <a:xfrm>
            <a:off x="914400" y="1387348"/>
            <a:ext cx="73152" cy="677244"/>
          </a:xfrm>
          <a:prstGeom prst="rect">
            <a:avLst/>
          </a:prstGeom>
          <a:solidFill>
            <a:srgbClr val="8B1A2B"/>
          </a:solidFill>
          <a:ln/>
        </p:spPr>
      </p:sp>
      <p:sp>
        <p:nvSpPr>
          <p:cNvPr id="51" name="Text 12"/>
          <p:cNvSpPr/>
          <p:nvPr/>
        </p:nvSpPr>
        <p:spPr>
          <a:xfrm>
            <a:off x="1219200" y="1437398"/>
            <a:ext cx="3048000" cy="243840"/>
          </a:xfrm>
          <a:prstGeom prst="rect">
            <a:avLst/>
          </a:prstGeom>
          <a:noFill/>
          <a:ln/>
        </p:spPr>
        <p:txBody>
          <a:bodyPr wrap="square" rtlCol="0" anchor="ctr"/>
          <a:lstStyle/>
          <a:p>
            <a:r>
              <a:rPr lang="en-US" sz="1600" b="1" dirty="0">
                <a:solidFill>
                  <a:srgbClr val="8B1A2B"/>
                </a:solidFill>
                <a:latin typeface="Microsoft YaHei" pitchFamily="34" charset="0"/>
                <a:ea typeface="Microsoft YaHei" pitchFamily="34" charset="-122"/>
                <a:cs typeface="Microsoft YaHei" pitchFamily="34" charset="-120"/>
              </a:rPr>
              <a:t>Input (7 维特征)</a:t>
            </a:r>
            <a:endParaRPr lang="en-US" sz="1600" dirty="0"/>
          </a:p>
        </p:txBody>
      </p:sp>
      <p:sp>
        <p:nvSpPr>
          <p:cNvPr id="52" name="Text 13"/>
          <p:cNvSpPr/>
          <p:nvPr/>
        </p:nvSpPr>
        <p:spPr>
          <a:xfrm>
            <a:off x="1219200" y="1758876"/>
            <a:ext cx="4632960" cy="195072"/>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distance · slope · congestion · speed · load · temperature · peak_hour</a:t>
            </a:r>
            <a:endParaRPr lang="en-US" sz="1200" dirty="0"/>
          </a:p>
        </p:txBody>
      </p:sp>
      <p:sp>
        <p:nvSpPr>
          <p:cNvPr id="53" name="Text 14"/>
          <p:cNvSpPr/>
          <p:nvPr/>
        </p:nvSpPr>
        <p:spPr>
          <a:xfrm>
            <a:off x="3291840" y="2064592"/>
            <a:ext cx="365760" cy="146304"/>
          </a:xfrm>
          <a:prstGeom prst="rect">
            <a:avLst/>
          </a:prstGeom>
          <a:noFill/>
          <a:ln/>
        </p:spPr>
        <p:txBody>
          <a:bodyPr wrap="square" rtlCol="0" anchor="ctr"/>
          <a:lstStyle/>
          <a:p>
            <a:pPr algn="ctr"/>
            <a:r>
              <a:rPr lang="en-US" sz="1333" dirty="0">
                <a:solidFill>
                  <a:srgbClr val="C4A35A"/>
                </a:solidFill>
                <a:latin typeface="Microsoft YaHei" pitchFamily="34" charset="0"/>
                <a:ea typeface="Microsoft YaHei" pitchFamily="34" charset="-122"/>
                <a:cs typeface="Microsoft YaHei" pitchFamily="34" charset="-120"/>
              </a:rPr>
              <a:t>↓</a:t>
            </a:r>
            <a:endParaRPr lang="en-US" sz="1333" dirty="0"/>
          </a:p>
        </p:txBody>
      </p:sp>
      <p:sp>
        <p:nvSpPr>
          <p:cNvPr id="54" name="Shape 15"/>
          <p:cNvSpPr/>
          <p:nvPr/>
        </p:nvSpPr>
        <p:spPr>
          <a:xfrm>
            <a:off x="914400" y="2186512"/>
            <a:ext cx="5242560" cy="487680"/>
          </a:xfrm>
          <a:prstGeom prst="roundRect">
            <a:avLst>
              <a:gd name="adj" fmla="val 15000"/>
            </a:avLst>
          </a:prstGeom>
          <a:solidFill>
            <a:srgbClr val="FFFFFF"/>
          </a:solidFill>
          <a:ln w="5080">
            <a:solidFill>
              <a:srgbClr val="C4A35A">
                <a:alpha val="30000"/>
              </a:srgbClr>
            </a:solidFill>
            <a:prstDash val="solid"/>
          </a:ln>
        </p:spPr>
      </p:sp>
      <p:sp>
        <p:nvSpPr>
          <p:cNvPr id="55" name="Shape 16"/>
          <p:cNvSpPr/>
          <p:nvPr/>
        </p:nvSpPr>
        <p:spPr>
          <a:xfrm>
            <a:off x="914400" y="2186512"/>
            <a:ext cx="73152" cy="487680"/>
          </a:xfrm>
          <a:prstGeom prst="rect">
            <a:avLst/>
          </a:prstGeom>
          <a:solidFill>
            <a:srgbClr val="C4A35A"/>
          </a:solidFill>
          <a:ln/>
        </p:spPr>
      </p:sp>
      <p:sp>
        <p:nvSpPr>
          <p:cNvPr id="56" name="Text 17"/>
          <p:cNvSpPr/>
          <p:nvPr/>
        </p:nvSpPr>
        <p:spPr>
          <a:xfrm>
            <a:off x="1219200" y="2210896"/>
            <a:ext cx="3048000" cy="243840"/>
          </a:xfrm>
          <a:prstGeom prst="rect">
            <a:avLst/>
          </a:prstGeom>
          <a:noFill/>
          <a:ln/>
        </p:spPr>
        <p:txBody>
          <a:bodyPr wrap="square" rtlCol="0" anchor="ctr"/>
          <a:lstStyle/>
          <a:p>
            <a:r>
              <a:rPr lang="en-US" sz="1600" b="1" dirty="0">
                <a:solidFill>
                  <a:srgbClr val="C4A35A"/>
                </a:solidFill>
                <a:latin typeface="Microsoft YaHei" pitchFamily="34" charset="0"/>
                <a:ea typeface="Microsoft YaHei" pitchFamily="34" charset="-122"/>
                <a:cs typeface="Microsoft YaHei" pitchFamily="34" charset="-120"/>
              </a:rPr>
              <a:t>Dense(64) + ReLU</a:t>
            </a:r>
            <a:endParaRPr lang="en-US" sz="1600" dirty="0"/>
          </a:p>
        </p:txBody>
      </p:sp>
      <p:sp>
        <p:nvSpPr>
          <p:cNvPr id="57" name="Text 18"/>
          <p:cNvSpPr/>
          <p:nvPr/>
        </p:nvSpPr>
        <p:spPr>
          <a:xfrm>
            <a:off x="1219200" y="2454736"/>
            <a:ext cx="4632960" cy="195072"/>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全连接隐藏层 · ReLU 激活</a:t>
            </a:r>
            <a:endParaRPr lang="en-US" sz="1200" dirty="0"/>
          </a:p>
        </p:txBody>
      </p:sp>
      <p:sp>
        <p:nvSpPr>
          <p:cNvPr id="58" name="Text 19"/>
          <p:cNvSpPr/>
          <p:nvPr/>
        </p:nvSpPr>
        <p:spPr>
          <a:xfrm>
            <a:off x="3291840" y="2674192"/>
            <a:ext cx="365760" cy="146304"/>
          </a:xfrm>
          <a:prstGeom prst="rect">
            <a:avLst/>
          </a:prstGeom>
          <a:noFill/>
          <a:ln/>
        </p:spPr>
        <p:txBody>
          <a:bodyPr wrap="square" rtlCol="0" anchor="ctr"/>
          <a:lstStyle/>
          <a:p>
            <a:pPr algn="ctr"/>
            <a:r>
              <a:rPr lang="en-US" sz="1333" dirty="0">
                <a:solidFill>
                  <a:srgbClr val="C4A35A"/>
                </a:solidFill>
                <a:latin typeface="Microsoft YaHei" pitchFamily="34" charset="0"/>
                <a:ea typeface="Microsoft YaHei" pitchFamily="34" charset="-122"/>
                <a:cs typeface="Microsoft YaHei" pitchFamily="34" charset="-120"/>
              </a:rPr>
              <a:t>↓</a:t>
            </a:r>
            <a:endParaRPr lang="en-US" sz="1333" dirty="0"/>
          </a:p>
        </p:txBody>
      </p:sp>
      <p:sp>
        <p:nvSpPr>
          <p:cNvPr id="59" name="Shape 20"/>
          <p:cNvSpPr/>
          <p:nvPr/>
        </p:nvSpPr>
        <p:spPr>
          <a:xfrm>
            <a:off x="914400" y="2796112"/>
            <a:ext cx="5242560" cy="487680"/>
          </a:xfrm>
          <a:prstGeom prst="roundRect">
            <a:avLst>
              <a:gd name="adj" fmla="val 15000"/>
            </a:avLst>
          </a:prstGeom>
          <a:solidFill>
            <a:srgbClr val="FFFFFF"/>
          </a:solidFill>
          <a:ln w="5080">
            <a:solidFill>
              <a:srgbClr val="C4A35A">
                <a:alpha val="30000"/>
              </a:srgbClr>
            </a:solidFill>
            <a:prstDash val="solid"/>
          </a:ln>
        </p:spPr>
      </p:sp>
      <p:sp>
        <p:nvSpPr>
          <p:cNvPr id="60" name="Shape 21"/>
          <p:cNvSpPr/>
          <p:nvPr/>
        </p:nvSpPr>
        <p:spPr>
          <a:xfrm>
            <a:off x="914400" y="2796112"/>
            <a:ext cx="73152" cy="487680"/>
          </a:xfrm>
          <a:prstGeom prst="rect">
            <a:avLst/>
          </a:prstGeom>
          <a:solidFill>
            <a:srgbClr val="C4A35A"/>
          </a:solidFill>
          <a:ln/>
        </p:spPr>
      </p:sp>
      <p:sp>
        <p:nvSpPr>
          <p:cNvPr id="61" name="Text 22"/>
          <p:cNvSpPr/>
          <p:nvPr/>
        </p:nvSpPr>
        <p:spPr>
          <a:xfrm>
            <a:off x="1219200" y="2820496"/>
            <a:ext cx="3048000" cy="243840"/>
          </a:xfrm>
          <a:prstGeom prst="rect">
            <a:avLst/>
          </a:prstGeom>
          <a:noFill/>
          <a:ln/>
        </p:spPr>
        <p:txBody>
          <a:bodyPr wrap="square" rtlCol="0" anchor="ctr"/>
          <a:lstStyle/>
          <a:p>
            <a:r>
              <a:rPr lang="en-US" sz="1600" b="1" dirty="0">
                <a:solidFill>
                  <a:srgbClr val="C4A35A"/>
                </a:solidFill>
                <a:latin typeface="Microsoft YaHei" pitchFamily="34" charset="0"/>
                <a:ea typeface="Microsoft YaHei" pitchFamily="34" charset="-122"/>
                <a:cs typeface="Microsoft YaHei" pitchFamily="34" charset="-120"/>
              </a:rPr>
              <a:t>Dense(32) + ReLU</a:t>
            </a:r>
            <a:endParaRPr lang="en-US" sz="1600" dirty="0"/>
          </a:p>
        </p:txBody>
      </p:sp>
      <p:sp>
        <p:nvSpPr>
          <p:cNvPr id="62" name="Text 23"/>
          <p:cNvSpPr/>
          <p:nvPr/>
        </p:nvSpPr>
        <p:spPr>
          <a:xfrm>
            <a:off x="1219200" y="3064336"/>
            <a:ext cx="4632960" cy="195072"/>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全连接隐藏层 · ReLU 激活</a:t>
            </a:r>
            <a:endParaRPr lang="en-US" sz="1200" dirty="0"/>
          </a:p>
        </p:txBody>
      </p:sp>
      <p:sp>
        <p:nvSpPr>
          <p:cNvPr id="63" name="Text 24"/>
          <p:cNvSpPr/>
          <p:nvPr/>
        </p:nvSpPr>
        <p:spPr>
          <a:xfrm>
            <a:off x="3291840" y="3283792"/>
            <a:ext cx="365760" cy="146304"/>
          </a:xfrm>
          <a:prstGeom prst="rect">
            <a:avLst/>
          </a:prstGeom>
          <a:noFill/>
          <a:ln/>
        </p:spPr>
        <p:txBody>
          <a:bodyPr wrap="square" rtlCol="0" anchor="ctr"/>
          <a:lstStyle/>
          <a:p>
            <a:pPr algn="ctr"/>
            <a:r>
              <a:rPr lang="en-US" sz="1333" dirty="0">
                <a:solidFill>
                  <a:srgbClr val="C4A35A"/>
                </a:solidFill>
                <a:latin typeface="Microsoft YaHei" pitchFamily="34" charset="0"/>
                <a:ea typeface="Microsoft YaHei" pitchFamily="34" charset="-122"/>
                <a:cs typeface="Microsoft YaHei" pitchFamily="34" charset="-120"/>
              </a:rPr>
              <a:t>↓</a:t>
            </a:r>
            <a:endParaRPr lang="en-US" sz="1333" dirty="0"/>
          </a:p>
        </p:txBody>
      </p:sp>
      <p:sp>
        <p:nvSpPr>
          <p:cNvPr id="64" name="Shape 25"/>
          <p:cNvSpPr/>
          <p:nvPr/>
        </p:nvSpPr>
        <p:spPr>
          <a:xfrm>
            <a:off x="914400" y="3405712"/>
            <a:ext cx="5242560" cy="487680"/>
          </a:xfrm>
          <a:prstGeom prst="roundRect">
            <a:avLst>
              <a:gd name="adj" fmla="val 15000"/>
            </a:avLst>
          </a:prstGeom>
          <a:solidFill>
            <a:srgbClr val="FFFFFF"/>
          </a:solidFill>
          <a:ln w="5080">
            <a:solidFill>
              <a:srgbClr val="C4A35A">
                <a:alpha val="30000"/>
              </a:srgbClr>
            </a:solidFill>
            <a:prstDash val="solid"/>
          </a:ln>
        </p:spPr>
      </p:sp>
      <p:sp>
        <p:nvSpPr>
          <p:cNvPr id="65" name="Shape 26"/>
          <p:cNvSpPr/>
          <p:nvPr/>
        </p:nvSpPr>
        <p:spPr>
          <a:xfrm>
            <a:off x="914400" y="3405712"/>
            <a:ext cx="73152" cy="487680"/>
          </a:xfrm>
          <a:prstGeom prst="rect">
            <a:avLst/>
          </a:prstGeom>
          <a:solidFill>
            <a:srgbClr val="2E7D32"/>
          </a:solidFill>
          <a:ln/>
        </p:spPr>
      </p:sp>
      <p:sp>
        <p:nvSpPr>
          <p:cNvPr id="66" name="Text 27"/>
          <p:cNvSpPr/>
          <p:nvPr/>
        </p:nvSpPr>
        <p:spPr>
          <a:xfrm>
            <a:off x="1219200" y="3430096"/>
            <a:ext cx="3048000" cy="243840"/>
          </a:xfrm>
          <a:prstGeom prst="rect">
            <a:avLst/>
          </a:prstGeom>
          <a:noFill/>
          <a:ln/>
        </p:spPr>
        <p:txBody>
          <a:bodyPr wrap="square" rtlCol="0" anchor="ctr"/>
          <a:lstStyle/>
          <a:p>
            <a:r>
              <a:rPr lang="en-US" sz="1600" b="1" dirty="0">
                <a:solidFill>
                  <a:srgbClr val="2E7D32"/>
                </a:solidFill>
                <a:latin typeface="Microsoft YaHei" pitchFamily="34" charset="0"/>
                <a:ea typeface="Microsoft YaHei" pitchFamily="34" charset="-122"/>
                <a:cs typeface="Microsoft YaHei" pitchFamily="34" charset="-120"/>
              </a:rPr>
              <a:t>Output: energy_kWh</a:t>
            </a:r>
            <a:endParaRPr lang="en-US" sz="1600" dirty="0"/>
          </a:p>
        </p:txBody>
      </p:sp>
      <p:sp>
        <p:nvSpPr>
          <p:cNvPr id="67" name="Text 28"/>
          <p:cNvSpPr/>
          <p:nvPr/>
        </p:nvSpPr>
        <p:spPr>
          <a:xfrm>
            <a:off x="1219200" y="3673936"/>
            <a:ext cx="4632960" cy="195072"/>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单值回归 · MSE 损失 · Adam 优化器</a:t>
            </a:r>
            <a:endParaRPr lang="en-US" sz="1200" dirty="0"/>
          </a:p>
        </p:txBody>
      </p:sp>
      <p:sp>
        <p:nvSpPr>
          <p:cNvPr id="68" name="Shape 29"/>
          <p:cNvSpPr/>
          <p:nvPr/>
        </p:nvSpPr>
        <p:spPr>
          <a:xfrm>
            <a:off x="6461760" y="881968"/>
            <a:ext cx="5364480" cy="3169920"/>
          </a:xfrm>
          <a:prstGeom prst="roundRect">
            <a:avLst>
              <a:gd name="adj" fmla="val 2308"/>
            </a:avLst>
          </a:prstGeom>
          <a:solidFill>
            <a:srgbClr val="F8F5F0"/>
          </a:solidFill>
          <a:ln w="5080">
            <a:solidFill>
              <a:srgbClr val="C4A35A">
                <a:alpha val="30000"/>
              </a:srgbClr>
            </a:solidFill>
            <a:prstDash val="solid"/>
          </a:ln>
        </p:spPr>
      </p:sp>
      <p:sp>
        <p:nvSpPr>
          <p:cNvPr id="69" name="Text 30"/>
          <p:cNvSpPr/>
          <p:nvPr/>
        </p:nvSpPr>
        <p:spPr>
          <a:xfrm>
            <a:off x="6644640" y="1003888"/>
            <a:ext cx="4876800" cy="341376"/>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训练配置</a:t>
            </a:r>
            <a:endParaRPr lang="en-US" sz="1867" dirty="0"/>
          </a:p>
        </p:txBody>
      </p:sp>
      <p:sp>
        <p:nvSpPr>
          <p:cNvPr id="70" name="Text 31"/>
          <p:cNvSpPr/>
          <p:nvPr/>
        </p:nvSpPr>
        <p:spPr>
          <a:xfrm>
            <a:off x="6644640" y="1454992"/>
            <a:ext cx="4876800" cy="2194560"/>
          </a:xfrm>
          <a:prstGeom prst="rect">
            <a:avLst/>
          </a:prstGeom>
          <a:noFill/>
          <a:ln/>
        </p:spPr>
        <p:txBody>
          <a:bodyPr wrap="square" rtlCol="0" anchor="t"/>
          <a:lstStyle/>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77,120 含噪样本 (80/20 split)</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Adam · EarlyStopping · max_iter=300</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random_seed=42 · validation_fraction=0.1</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baseline: fixed_energy = distance × 1.98 kWh/km</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预测值用于：更新 SOC → 判断充电触发 → 决定充电时长</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a:t>
            </a:r>
            <a:r>
              <a:rPr lang="en-US" sz="1467" dirty="0" smtClean="0">
                <a:solidFill>
                  <a:srgbClr val="2D2D2D"/>
                </a:solidFill>
                <a:latin typeface="Microsoft YaHei" pitchFamily="34" charset="0"/>
                <a:ea typeface="Microsoft YaHei" pitchFamily="34" charset="-122"/>
                <a:cs typeface="Microsoft YaHei" pitchFamily="34" charset="-120"/>
              </a:rPr>
              <a:t>预测精度与误差分析见实验结果</a:t>
            </a:r>
            <a:r>
              <a:rPr lang="en-US" sz="1467" dirty="0">
                <a:solidFill>
                  <a:srgbClr val="2D2D2D"/>
                </a:solidFill>
                <a:latin typeface="Microsoft YaHei" pitchFamily="34" charset="0"/>
                <a:ea typeface="Microsoft YaHei" pitchFamily="34" charset="-122"/>
                <a:cs typeface="Microsoft YaHei" pitchFamily="34" charset="-120"/>
              </a:rPr>
              <a:t>）</a:t>
            </a:r>
            <a:endParaRPr lang="en-US" sz="1467" dirty="0"/>
          </a:p>
        </p:txBody>
      </p:sp>
      <p:sp>
        <p:nvSpPr>
          <p:cNvPr id="71" name="Shape 32"/>
          <p:cNvSpPr/>
          <p:nvPr/>
        </p:nvSpPr>
        <p:spPr>
          <a:xfrm>
            <a:off x="609600" y="4381072"/>
            <a:ext cx="11216640" cy="1767840"/>
          </a:xfrm>
          <a:prstGeom prst="roundRect">
            <a:avLst>
              <a:gd name="adj" fmla="val 4138"/>
            </a:avLst>
          </a:prstGeom>
          <a:solidFill>
            <a:srgbClr val="F8F5F0"/>
          </a:solidFill>
          <a:ln w="5080">
            <a:solidFill>
              <a:srgbClr val="C4A35A">
                <a:alpha val="30000"/>
              </a:srgbClr>
            </a:solidFill>
            <a:prstDash val="solid"/>
          </a:ln>
        </p:spPr>
      </p:sp>
      <p:sp>
        <p:nvSpPr>
          <p:cNvPr id="72" name="Text 33"/>
          <p:cNvSpPr/>
          <p:nvPr/>
        </p:nvSpPr>
        <p:spPr>
          <a:xfrm>
            <a:off x="792480" y="4466416"/>
            <a:ext cx="4876800" cy="304800"/>
          </a:xfrm>
          <a:prstGeom prst="rect">
            <a:avLst/>
          </a:prstGeom>
          <a:noFill/>
          <a:ln/>
        </p:spPr>
        <p:txBody>
          <a:bodyPr wrap="square" rtlCol="0" anchor="ctr"/>
          <a:lstStyle/>
          <a:p>
            <a:r>
              <a:rPr lang="en-US" sz="1733" b="1" dirty="0">
                <a:solidFill>
                  <a:srgbClr val="15548D"/>
                </a:solidFill>
                <a:latin typeface="Microsoft YaHei" pitchFamily="34" charset="0"/>
                <a:ea typeface="Microsoft YaHei" pitchFamily="34" charset="-122"/>
                <a:cs typeface="Microsoft YaHei" pitchFamily="34" charset="-120"/>
              </a:rPr>
              <a:t>能耗预测在调度链路中的位置</a:t>
            </a:r>
            <a:endParaRPr lang="en-US" sz="1733" dirty="0">
              <a:solidFill>
                <a:srgbClr val="15548D"/>
              </a:solidFill>
            </a:endParaRPr>
          </a:p>
        </p:txBody>
      </p:sp>
      <p:sp>
        <p:nvSpPr>
          <p:cNvPr id="73" name="Text 34"/>
          <p:cNvSpPr/>
          <p:nvPr/>
        </p:nvSpPr>
        <p:spPr>
          <a:xfrm>
            <a:off x="792480" y="4868752"/>
            <a:ext cx="10728960" cy="1097280"/>
          </a:xfrm>
          <a:prstGeom prst="rect">
            <a:avLst/>
          </a:prstGeom>
          <a:noFill/>
          <a:ln/>
        </p:spPr>
        <p:txBody>
          <a:bodyPr wrap="square" rtlCol="0" anchor="ctr"/>
          <a:lstStyle/>
          <a:p>
            <a:pPr>
              <a:lnSpc>
                <a:spcPct val="120000"/>
              </a:lnSpc>
            </a:pPr>
            <a:r>
              <a:rPr lang="en-US" sz="1600" dirty="0">
                <a:solidFill>
                  <a:srgbClr val="2D2D2D"/>
                </a:solidFill>
                <a:latin typeface="Microsoft YaHei" pitchFamily="34" charset="0"/>
                <a:ea typeface="Microsoft YaHei" pitchFamily="34" charset="-122"/>
                <a:cs typeface="Microsoft YaHei" pitchFamily="34" charset="-120"/>
              </a:rPr>
              <a:t>MLP 预测每趟行程耗电 → 调度器更新车辆 SOC → 判断是否低于充电源阈值 → 决定充电策略</a:t>
            </a:r>
            <a:endParaRPr lang="en-US" sz="1600" dirty="0"/>
          </a:p>
          <a:p>
            <a:pPr>
              <a:lnSpc>
                <a:spcPct val="120000"/>
              </a:lnSpc>
            </a:pPr>
            <a:r>
              <a:rPr lang="en-US" sz="1600" dirty="0">
                <a:solidFill>
                  <a:srgbClr val="2D2D2D"/>
                </a:solidFill>
                <a:latin typeface="Microsoft YaHei" pitchFamily="34" charset="0"/>
                <a:ea typeface="Microsoft YaHei" pitchFamily="34" charset="-122"/>
                <a:cs typeface="Microsoft YaHei" pitchFamily="34" charset="-120"/>
              </a:rPr>
              <a:t>低估能耗 → SOC 风险 → 未完成班次  |  高估能耗 → 过度充电 → 电费浪费 + 桩位占用</a:t>
            </a:r>
            <a:endParaRPr lang="en-US" sz="1600" dirty="0"/>
          </a:p>
          <a:p>
            <a:pPr>
              <a:lnSpc>
                <a:spcPct val="120000"/>
              </a:lnSpc>
            </a:pPr>
            <a:r>
              <a:rPr lang="en-US" sz="1600" b="1" dirty="0">
                <a:solidFill>
                  <a:srgbClr val="2D2D2D"/>
                </a:solidFill>
                <a:latin typeface="Microsoft YaHei" pitchFamily="34" charset="0"/>
                <a:ea typeface="Microsoft YaHei" pitchFamily="34" charset="-122"/>
                <a:cs typeface="Microsoft YaHei" pitchFamily="34" charset="-120"/>
              </a:rPr>
              <a:t>固定里程模型只用距离一条特征；MLP 吸收 7 维动态特征 → 预测误差降低 47%（</a:t>
            </a:r>
            <a:r>
              <a:rPr lang="en-US" sz="1600" b="1" dirty="0" smtClean="0">
                <a:solidFill>
                  <a:srgbClr val="2D2D2D"/>
                </a:solidFill>
                <a:latin typeface="Microsoft YaHei" pitchFamily="34" charset="0"/>
                <a:ea typeface="Microsoft YaHei" pitchFamily="34" charset="-122"/>
                <a:cs typeface="Microsoft YaHei" pitchFamily="34" charset="-120"/>
              </a:rPr>
              <a:t>详细对比见</a:t>
            </a:r>
            <a:r>
              <a:rPr lang="zh-CN" altLang="en-US" sz="1600" b="1" dirty="0" smtClean="0">
                <a:solidFill>
                  <a:srgbClr val="2D2D2D"/>
                </a:solidFill>
                <a:latin typeface="Microsoft YaHei" pitchFamily="34" charset="0"/>
                <a:ea typeface="Microsoft YaHei" pitchFamily="34" charset="-122"/>
                <a:cs typeface="Microsoft YaHei" pitchFamily="34" charset="-120"/>
              </a:rPr>
              <a:t>实验结果</a:t>
            </a:r>
            <a:r>
              <a:rPr lang="en-US" sz="1600" b="1" dirty="0" smtClean="0">
                <a:solidFill>
                  <a:srgbClr val="2D2D2D"/>
                </a:solidFill>
                <a:latin typeface="Microsoft YaHei" pitchFamily="34" charset="0"/>
                <a:ea typeface="Microsoft YaHei" pitchFamily="34" charset="-122"/>
                <a:cs typeface="Microsoft YaHei" pitchFamily="34" charset="-120"/>
              </a:rPr>
              <a:t>）</a:t>
            </a:r>
            <a:endParaRPr lang="en-US" sz="1600" dirty="0"/>
          </a:p>
        </p:txBody>
      </p:sp>
    </p:spTree>
    <p:extLst>
      <p:ext uri="{BB962C8B-B14F-4D97-AF65-F5344CB8AC3E}">
        <p14:creationId xmlns:p14="http://schemas.microsoft.com/office/powerpoint/2010/main" val="2834029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p:tgtEl>
                                          <p:spTgt spid="41"/>
                                        </p:tgtEl>
                                        <p:attrNameLst>
                                          <p:attrName>ppt_y</p:attrName>
                                        </p:attrNameLst>
                                      </p:cBhvr>
                                      <p:tavLst>
                                        <p:tav tm="0">
                                          <p:val>
                                            <p:strVal val="#ppt_y-#ppt_h*1.125000"/>
                                          </p:val>
                                        </p:tav>
                                        <p:tav tm="100000">
                                          <p:val>
                                            <p:strVal val="#ppt_y"/>
                                          </p:val>
                                        </p:tav>
                                      </p:tavLst>
                                    </p:anim>
                                    <p:animEffect transition="in" filter="wipe(down)">
                                      <p:cBhvr>
                                        <p:cTn id="12" dur="500"/>
                                        <p:tgtEl>
                                          <p:spTgt spid="41"/>
                                        </p:tgtEl>
                                      </p:cBhvr>
                                    </p:animEffect>
                                  </p:childTnLst>
                                </p:cTn>
                              </p:par>
                              <p:par>
                                <p:cTn id="13" presetID="12" presetClass="entr" presetSubtype="2"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p:tgtEl>
                                          <p:spTgt spid="42"/>
                                        </p:tgtEl>
                                        <p:attrNameLst>
                                          <p:attrName>ppt_x</p:attrName>
                                        </p:attrNameLst>
                                      </p:cBhvr>
                                      <p:tavLst>
                                        <p:tav tm="0">
                                          <p:val>
                                            <p:strVal val="#ppt_x+#ppt_w*1.125000"/>
                                          </p:val>
                                        </p:tav>
                                        <p:tav tm="100000">
                                          <p:val>
                                            <p:strVal val="#ppt_x"/>
                                          </p:val>
                                        </p:tav>
                                      </p:tavLst>
                                    </p:anim>
                                    <p:animEffect transition="in" filter="wipe(left)">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3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03  </a:t>
            </a:r>
            <a:r>
              <a:rPr lang="zh-CN" altLang="en-US" sz="1200" dirty="0">
                <a:solidFill>
                  <a:srgbClr val="C4A35A"/>
                </a:solidFill>
                <a:latin typeface="Microsoft YaHei" pitchFamily="34" charset="0"/>
                <a:ea typeface="Microsoft YaHei" pitchFamily="34" charset="-122"/>
                <a:cs typeface="Microsoft YaHei" pitchFamily="34" charset="-120"/>
              </a:rPr>
              <a:t>代</a:t>
            </a:r>
            <a:r>
              <a:rPr lang="zh-CN" altLang="en-US" sz="1200" dirty="0" smtClean="0">
                <a:solidFill>
                  <a:srgbClr val="C4A35A"/>
                </a:solidFill>
                <a:latin typeface="Microsoft YaHei" pitchFamily="34" charset="0"/>
                <a:ea typeface="Microsoft YaHei" pitchFamily="34" charset="-122"/>
                <a:cs typeface="Microsoft YaHei" pitchFamily="34" charset="-120"/>
              </a:rPr>
              <a:t>码结构与核心算法</a:t>
            </a:r>
            <a:endParaRPr lang="en-US" sz="1200" dirty="0"/>
          </a:p>
        </p:txBody>
      </p:sp>
      <p:grpSp>
        <p:nvGrpSpPr>
          <p:cNvPr id="38" name="组合 37"/>
          <p:cNvGrpSpPr/>
          <p:nvPr/>
        </p:nvGrpSpPr>
        <p:grpSpPr>
          <a:xfrm>
            <a:off x="-254000" y="201683"/>
            <a:ext cx="898070" cy="523220"/>
            <a:chOff x="-254000" y="201683"/>
            <a:chExt cx="898070" cy="523220"/>
          </a:xfrm>
        </p:grpSpPr>
        <p:sp>
          <p:nvSpPr>
            <p:cNvPr id="39"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41"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代</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码算法</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2584397" y="217491"/>
            <a:ext cx="10096500" cy="2149460"/>
            <a:chOff x="2584397" y="217491"/>
            <a:chExt cx="10096500" cy="2149460"/>
          </a:xfrm>
        </p:grpSpPr>
        <p:sp>
          <p:nvSpPr>
            <p:cNvPr id="43"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淘宝-想搞设计PPT(倒卖必究)-30"/>
            <p:cNvSpPr/>
            <p:nvPr/>
          </p:nvSpPr>
          <p:spPr>
            <a:xfrm>
              <a:off x="2648540" y="243297"/>
              <a:ext cx="3104753" cy="2123654"/>
            </a:xfrm>
            <a:prstGeom prst="rect">
              <a:avLst/>
            </a:prstGeom>
          </p:spPr>
          <p:txBody>
            <a:bodyPr wrap="none" lIns="91436" tIns="45718" rIns="91436" bIns="45718">
              <a:spAutoFit/>
            </a:bodyPr>
            <a:lstStyle/>
            <a:p>
              <a:pPr algn="ctr"/>
              <a:r>
                <a:rPr lang="en-US" altLang="zh-CN" sz="1200" dirty="0" smtClean="0">
                  <a:solidFill>
                    <a:schemeClr val="bg1"/>
                  </a:solidFill>
                  <a:latin typeface="微软雅黑" panose="020B0503020204020204" pitchFamily="34" charset="-122"/>
                  <a:ea typeface="微软雅黑" panose="020B0503020204020204" pitchFamily="34" charset="-122"/>
                </a:rPr>
                <a:t>JSQ </a:t>
              </a:r>
              <a:r>
                <a:rPr lang="zh-CN" altLang="en-US" sz="1200" dirty="0">
                  <a:solidFill>
                    <a:schemeClr val="bg1"/>
                  </a:solidFill>
                  <a:latin typeface="微软雅黑" panose="020B0503020204020204" pitchFamily="34" charset="-122"/>
                  <a:ea typeface="微软雅黑" panose="020B0503020204020204" pitchFamily="34" charset="-122"/>
                </a:rPr>
                <a:t>基线：局部最短队列 </a:t>
              </a:r>
              <a:r>
                <a:rPr lang="en-US" altLang="zh-CN" sz="1200" dirty="0">
                  <a:solidFill>
                    <a:schemeClr val="bg1"/>
                  </a:solidFill>
                  <a:latin typeface="微软雅黑" panose="020B0503020204020204" pitchFamily="34" charset="-122"/>
                  <a:ea typeface="微软雅黑" panose="020B0503020204020204" pitchFamily="34" charset="-122"/>
                </a:rPr>
                <a:t>+ FCFS </a:t>
              </a:r>
              <a:r>
                <a:rPr lang="zh-CN" altLang="en-US" sz="1200" dirty="0">
                  <a:solidFill>
                    <a:schemeClr val="bg1"/>
                  </a:solidFill>
                  <a:latin typeface="微软雅黑" panose="020B0503020204020204" pitchFamily="34" charset="-122"/>
                  <a:ea typeface="微软雅黑" panose="020B0503020204020204" pitchFamily="34" charset="-122"/>
                </a:rPr>
                <a:t>队列纪律</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74" name="Shape 8"/>
          <p:cNvSpPr/>
          <p:nvPr/>
        </p:nvSpPr>
        <p:spPr>
          <a:xfrm>
            <a:off x="609600" y="950976"/>
            <a:ext cx="5242560" cy="3048000"/>
          </a:xfrm>
          <a:prstGeom prst="roundRect">
            <a:avLst>
              <a:gd name="adj" fmla="val 2400"/>
            </a:avLst>
          </a:prstGeom>
          <a:solidFill>
            <a:srgbClr val="F8F5F0"/>
          </a:solidFill>
          <a:ln w="5080">
            <a:solidFill>
              <a:srgbClr val="C4A35A">
                <a:alpha val="30000"/>
              </a:srgbClr>
            </a:solidFill>
            <a:prstDash val="solid"/>
          </a:ln>
        </p:spPr>
      </p:sp>
      <p:sp>
        <p:nvSpPr>
          <p:cNvPr id="75" name="Text 9"/>
          <p:cNvSpPr/>
          <p:nvPr/>
        </p:nvSpPr>
        <p:spPr>
          <a:xfrm>
            <a:off x="792480" y="1097280"/>
            <a:ext cx="4876800" cy="426720"/>
          </a:xfrm>
          <a:prstGeom prst="rect">
            <a:avLst/>
          </a:prstGeom>
          <a:noFill/>
          <a:ln/>
        </p:spPr>
        <p:txBody>
          <a:bodyPr wrap="square" rtlCol="0" anchor="ctr"/>
          <a:lstStyle/>
          <a:p>
            <a:r>
              <a:rPr lang="en-US" sz="1867" b="1" dirty="0">
                <a:solidFill>
                  <a:srgbClr val="8B1A2B"/>
                </a:solidFill>
                <a:latin typeface="Consolas" pitchFamily="34" charset="0"/>
                <a:ea typeface="Consolas" pitchFamily="34" charset="-122"/>
                <a:cs typeface="Consolas" pitchFamily="34" charset="-120"/>
              </a:rPr>
              <a:t>j* = argmin (T_wait + T_charge)</a:t>
            </a:r>
            <a:endParaRPr lang="en-US" sz="1867" dirty="0"/>
          </a:p>
        </p:txBody>
      </p:sp>
      <p:sp>
        <p:nvSpPr>
          <p:cNvPr id="76" name="Text 10"/>
          <p:cNvSpPr/>
          <p:nvPr/>
        </p:nvSpPr>
        <p:spPr>
          <a:xfrm>
            <a:off x="792480" y="1645920"/>
            <a:ext cx="4876800" cy="1828800"/>
          </a:xfrm>
          <a:prstGeom prst="rect">
            <a:avLst/>
          </a:prstGeom>
          <a:noFill/>
          <a:ln/>
        </p:spPr>
        <p:txBody>
          <a:bodyPr wrap="square" rtlCol="0" anchor="t"/>
          <a:lstStyle/>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T_wait — 当前队列预计排队等待时间</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T_charge — 预计充电持续时间</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每个站 × 快/慢独立计算预计完成时间</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队列内 FCFS，不插队</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仅用当前队列状态，不做全局预测</a:t>
            </a:r>
            <a:endParaRPr lang="en-US" sz="1467" dirty="0"/>
          </a:p>
        </p:txBody>
      </p:sp>
      <p:sp>
        <p:nvSpPr>
          <p:cNvPr id="77" name="Shape 11"/>
          <p:cNvSpPr/>
          <p:nvPr/>
        </p:nvSpPr>
        <p:spPr>
          <a:xfrm>
            <a:off x="6217920" y="950976"/>
            <a:ext cx="5608320" cy="3048000"/>
          </a:xfrm>
          <a:prstGeom prst="roundRect">
            <a:avLst>
              <a:gd name="adj" fmla="val 2400"/>
            </a:avLst>
          </a:prstGeom>
          <a:solidFill>
            <a:srgbClr val="F8F5F0"/>
          </a:solidFill>
          <a:ln w="5080">
            <a:solidFill>
              <a:srgbClr val="C4A35A">
                <a:alpha val="30000"/>
              </a:srgbClr>
            </a:solidFill>
            <a:prstDash val="solid"/>
          </a:ln>
        </p:spPr>
      </p:sp>
      <p:sp>
        <p:nvSpPr>
          <p:cNvPr id="78" name="Text 12"/>
          <p:cNvSpPr/>
          <p:nvPr/>
        </p:nvSpPr>
        <p:spPr>
          <a:xfrm>
            <a:off x="6400800" y="1072896"/>
            <a:ext cx="3657600" cy="341376"/>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调度流程</a:t>
            </a:r>
            <a:endParaRPr lang="en-US" sz="1867" dirty="0"/>
          </a:p>
        </p:txBody>
      </p:sp>
      <p:sp>
        <p:nvSpPr>
          <p:cNvPr id="79" name="Text 13"/>
          <p:cNvSpPr/>
          <p:nvPr/>
        </p:nvSpPr>
        <p:spPr>
          <a:xfrm>
            <a:off x="6400800" y="1446364"/>
            <a:ext cx="5242560" cy="341376"/>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1. 车辆按固定班表执行</a:t>
            </a:r>
            <a:endParaRPr lang="en-US" sz="1467" dirty="0"/>
          </a:p>
        </p:txBody>
      </p:sp>
      <p:sp>
        <p:nvSpPr>
          <p:cNvPr id="80" name="Text 14"/>
          <p:cNvSpPr/>
          <p:nvPr/>
        </p:nvSpPr>
        <p:spPr>
          <a:xfrm>
            <a:off x="6400800" y="1885276"/>
            <a:ext cx="5242560" cy="341376"/>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2. 预测能耗更新 SOC</a:t>
            </a:r>
            <a:endParaRPr lang="en-US" sz="1467" dirty="0"/>
          </a:p>
        </p:txBody>
      </p:sp>
      <p:sp>
        <p:nvSpPr>
          <p:cNvPr id="81" name="Text 15"/>
          <p:cNvSpPr/>
          <p:nvPr/>
        </p:nvSpPr>
        <p:spPr>
          <a:xfrm>
            <a:off x="6400800" y="2324188"/>
            <a:ext cx="5242560" cy="341376"/>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3. SOC&lt;阈值 → 发起充电请求</a:t>
            </a:r>
            <a:endParaRPr lang="en-US" sz="1467" dirty="0"/>
          </a:p>
        </p:txBody>
      </p:sp>
      <p:sp>
        <p:nvSpPr>
          <p:cNvPr id="82" name="Text 16"/>
          <p:cNvSpPr/>
          <p:nvPr/>
        </p:nvSpPr>
        <p:spPr>
          <a:xfrm>
            <a:off x="6400800" y="2763100"/>
            <a:ext cx="5242560" cy="341376"/>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4. 遍历各站队列计算预计完成时间</a:t>
            </a:r>
            <a:endParaRPr lang="en-US" sz="1467" dirty="0"/>
          </a:p>
        </p:txBody>
      </p:sp>
      <p:sp>
        <p:nvSpPr>
          <p:cNvPr id="83" name="Text 17"/>
          <p:cNvSpPr/>
          <p:nvPr/>
        </p:nvSpPr>
        <p:spPr>
          <a:xfrm>
            <a:off x="6400800" y="3202012"/>
            <a:ext cx="5242560" cy="341376"/>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5. 选择最早完成的充电位</a:t>
            </a:r>
            <a:endParaRPr lang="en-US" sz="1467" dirty="0"/>
          </a:p>
        </p:txBody>
      </p:sp>
      <p:sp>
        <p:nvSpPr>
          <p:cNvPr id="84" name="Text 18"/>
          <p:cNvSpPr/>
          <p:nvPr/>
        </p:nvSpPr>
        <p:spPr>
          <a:xfrm>
            <a:off x="6400800" y="3640924"/>
            <a:ext cx="5242560" cy="341376"/>
          </a:xfrm>
          <a:prstGeom prst="rect">
            <a:avLst/>
          </a:prstGeom>
          <a:noFill/>
          <a:ln/>
        </p:spPr>
        <p:txBody>
          <a:bodyPr wrap="square" rtlCol="0" anchor="ctr"/>
          <a:lstStyle/>
          <a:p>
            <a:r>
              <a:rPr lang="en-US" sz="1467" dirty="0">
                <a:solidFill>
                  <a:srgbClr val="2D2D2D"/>
                </a:solidFill>
                <a:latin typeface="Microsoft YaHei" pitchFamily="34" charset="0"/>
                <a:ea typeface="Microsoft YaHei" pitchFamily="34" charset="-122"/>
                <a:cs typeface="Microsoft YaHei" pitchFamily="34" charset="-120"/>
              </a:rPr>
              <a:t>6. 充到目标 SOC 或下班前离开</a:t>
            </a:r>
            <a:endParaRPr lang="en-US" sz="1467" dirty="0"/>
          </a:p>
        </p:txBody>
      </p:sp>
      <p:sp>
        <p:nvSpPr>
          <p:cNvPr id="85" name="Shape 19"/>
          <p:cNvSpPr/>
          <p:nvPr/>
        </p:nvSpPr>
        <p:spPr>
          <a:xfrm>
            <a:off x="609600" y="4328160"/>
            <a:ext cx="11216640" cy="1828800"/>
          </a:xfrm>
          <a:prstGeom prst="roundRect">
            <a:avLst>
              <a:gd name="adj" fmla="val 4000"/>
            </a:avLst>
          </a:prstGeom>
          <a:solidFill>
            <a:srgbClr val="F8F5F0"/>
          </a:solidFill>
          <a:ln w="5080">
            <a:solidFill>
              <a:srgbClr val="C4A35A">
                <a:alpha val="30000"/>
              </a:srgbClr>
            </a:solidFill>
            <a:prstDash val="solid"/>
          </a:ln>
        </p:spPr>
      </p:sp>
      <p:sp>
        <p:nvSpPr>
          <p:cNvPr id="86" name="Text 20"/>
          <p:cNvSpPr/>
          <p:nvPr/>
        </p:nvSpPr>
        <p:spPr>
          <a:xfrm>
            <a:off x="792480" y="4404878"/>
            <a:ext cx="4876800" cy="304800"/>
          </a:xfrm>
          <a:prstGeom prst="rect">
            <a:avLst/>
          </a:prstGeom>
          <a:noFill/>
          <a:ln/>
        </p:spPr>
        <p:txBody>
          <a:bodyPr wrap="square" rtlCol="0" anchor="ctr"/>
          <a:lstStyle/>
          <a:p>
            <a:r>
              <a:rPr lang="en-US" sz="1733" b="1" dirty="0">
                <a:solidFill>
                  <a:srgbClr val="15548D"/>
                </a:solidFill>
                <a:latin typeface="Microsoft YaHei" pitchFamily="34" charset="0"/>
                <a:ea typeface="Microsoft YaHei" pitchFamily="34" charset="-122"/>
                <a:cs typeface="Microsoft YaHei" pitchFamily="34" charset="-120"/>
              </a:rPr>
              <a:t>JSQ 定位：局部贪心 baseline</a:t>
            </a:r>
            <a:endParaRPr lang="en-US" sz="1733" dirty="0">
              <a:solidFill>
                <a:srgbClr val="15548D"/>
              </a:solidFill>
            </a:endParaRPr>
          </a:p>
        </p:txBody>
      </p:sp>
      <p:sp>
        <p:nvSpPr>
          <p:cNvPr id="87" name="Text 21"/>
          <p:cNvSpPr/>
          <p:nvPr/>
        </p:nvSpPr>
        <p:spPr>
          <a:xfrm>
            <a:off x="792480" y="4702411"/>
            <a:ext cx="10728960" cy="1443621"/>
          </a:xfrm>
          <a:prstGeom prst="rect">
            <a:avLst/>
          </a:prstGeom>
          <a:noFill/>
          <a:ln/>
        </p:spPr>
        <p:txBody>
          <a:bodyPr wrap="square" rtlCol="0" anchor="ctr"/>
          <a:lstStyle/>
          <a:p>
            <a:pPr>
              <a:lnSpc>
                <a:spcPct val="125000"/>
              </a:lnSpc>
            </a:pPr>
            <a:r>
              <a:rPr lang="en-US" altLang="zh-CN" sz="1600" dirty="0" smtClean="0">
                <a:latin typeface="Microsoft YaHei" pitchFamily="34" charset="0"/>
                <a:ea typeface="Microsoft YaHei" pitchFamily="34" charset="-122"/>
                <a:cs typeface="Microsoft YaHei" pitchFamily="34" charset="-120"/>
              </a:rPr>
              <a:t>JSQ</a:t>
            </a:r>
            <a:r>
              <a:rPr lang="zh-CN" altLang="en-US" sz="1600" dirty="0">
                <a:latin typeface="Microsoft YaHei" pitchFamily="34" charset="0"/>
                <a:ea typeface="Microsoft YaHei" pitchFamily="34" charset="-122"/>
                <a:cs typeface="Microsoft YaHei" pitchFamily="34" charset="-120"/>
              </a:rPr>
              <a:t>（</a:t>
            </a:r>
            <a:r>
              <a:rPr lang="en-US" altLang="zh-CN" sz="1600" dirty="0">
                <a:latin typeface="Microsoft YaHei" pitchFamily="34" charset="0"/>
                <a:ea typeface="Microsoft YaHei" pitchFamily="34" charset="-122"/>
                <a:cs typeface="Microsoft YaHei" pitchFamily="34" charset="-120"/>
              </a:rPr>
              <a:t>Join the Shortest Queue</a:t>
            </a:r>
            <a:r>
              <a:rPr lang="zh-CN" altLang="en-US" sz="1600" dirty="0">
                <a:latin typeface="Microsoft YaHei" pitchFamily="34" charset="0"/>
                <a:ea typeface="Microsoft YaHei" pitchFamily="34" charset="-122"/>
                <a:cs typeface="Microsoft YaHei" pitchFamily="34" charset="-120"/>
              </a:rPr>
              <a:t>）是一种局部贪心调度规则。当车辆需要充电时，系统根据各充电站当前队列长度、预计等待时间和充电时长，选择预计最早完成的充电位；同一队列内部按 </a:t>
            </a:r>
            <a:r>
              <a:rPr lang="en-US" altLang="zh-CN" sz="1600" dirty="0">
                <a:latin typeface="Microsoft YaHei" pitchFamily="34" charset="0"/>
                <a:ea typeface="Microsoft YaHei" pitchFamily="34" charset="-122"/>
                <a:cs typeface="Microsoft YaHei" pitchFamily="34" charset="-120"/>
              </a:rPr>
              <a:t>FCFS</a:t>
            </a:r>
            <a:r>
              <a:rPr lang="zh-CN" altLang="en-US" sz="1600" dirty="0">
                <a:latin typeface="Microsoft YaHei" pitchFamily="34" charset="0"/>
                <a:ea typeface="Microsoft YaHei" pitchFamily="34" charset="-122"/>
                <a:cs typeface="Microsoft YaHei" pitchFamily="34" charset="-120"/>
              </a:rPr>
              <a:t>（先到先服务）执行。该方法实现简单、可解释性强，适合作为后续遗传算法优化效果的对照基线。</a:t>
            </a:r>
            <a:endParaRPr lang="en-US" sz="1600" dirty="0" smtClean="0">
              <a:latin typeface="Microsoft YaHei" pitchFamily="34" charset="0"/>
              <a:ea typeface="Microsoft YaHei" pitchFamily="34" charset="-122"/>
              <a:cs typeface="Microsoft YaHei" pitchFamily="34" charset="-120"/>
            </a:endParaRPr>
          </a:p>
          <a:p>
            <a:pPr>
              <a:lnSpc>
                <a:spcPct val="125000"/>
              </a:lnSpc>
            </a:pPr>
            <a:r>
              <a:rPr lang="en-US" sz="1600" dirty="0" smtClean="0">
                <a:solidFill>
                  <a:srgbClr val="2E7D32"/>
                </a:solidFill>
                <a:latin typeface="Microsoft YaHei" pitchFamily="34" charset="0"/>
                <a:ea typeface="Microsoft YaHei" pitchFamily="34" charset="-122"/>
                <a:cs typeface="Microsoft YaHei" pitchFamily="34" charset="-120"/>
              </a:rPr>
              <a:t>优势</a:t>
            </a:r>
            <a:r>
              <a:rPr lang="en-US" sz="1600" dirty="0">
                <a:solidFill>
                  <a:srgbClr val="2E7D32"/>
                </a:solidFill>
                <a:latin typeface="Microsoft YaHei" pitchFamily="34" charset="0"/>
                <a:ea typeface="Microsoft YaHei" pitchFamily="34" charset="-122"/>
                <a:cs typeface="Microsoft YaHei" pitchFamily="34" charset="-120"/>
              </a:rPr>
              <a:t>：实现简单 · 解释直观 · 符合排队逻辑 ·Full 场景 ~46s · 结果稳定可复现</a:t>
            </a:r>
            <a:endParaRPr lang="en-US" sz="1600" dirty="0"/>
          </a:p>
          <a:p>
            <a:pPr>
              <a:lnSpc>
                <a:spcPct val="125000"/>
              </a:lnSpc>
            </a:pPr>
            <a:r>
              <a:rPr lang="en-US" sz="1600" dirty="0">
                <a:solidFill>
                  <a:srgbClr val="8B1A2B"/>
                </a:solidFill>
                <a:latin typeface="Microsoft YaHei" pitchFamily="34" charset="0"/>
                <a:ea typeface="Microsoft YaHei" pitchFamily="34" charset="-122"/>
                <a:cs typeface="Microsoft YaHei" pitchFamily="34" charset="-120"/>
              </a:rPr>
              <a:t>局限：不感知电价 · 不预判未来班次 · 不考虑全天桩位节奏 · </a:t>
            </a:r>
            <a:r>
              <a:rPr lang="en-US" sz="1600" dirty="0" smtClean="0">
                <a:solidFill>
                  <a:srgbClr val="8B1A2B"/>
                </a:solidFill>
                <a:latin typeface="Microsoft YaHei" pitchFamily="34" charset="0"/>
                <a:ea typeface="Microsoft YaHei" pitchFamily="34" charset="-122"/>
                <a:cs typeface="Microsoft YaHei" pitchFamily="34" charset="-120"/>
              </a:rPr>
              <a:t>局部最优可能偏离全局最优</a:t>
            </a:r>
            <a:endParaRPr lang="en-US" sz="1600" dirty="0"/>
          </a:p>
        </p:txBody>
      </p:sp>
    </p:spTree>
    <p:extLst>
      <p:ext uri="{BB962C8B-B14F-4D97-AF65-F5344CB8AC3E}">
        <p14:creationId xmlns:p14="http://schemas.microsoft.com/office/powerpoint/2010/main" val="41913349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p:tgtEl>
                                          <p:spTgt spid="41"/>
                                        </p:tgtEl>
                                        <p:attrNameLst>
                                          <p:attrName>ppt_y</p:attrName>
                                        </p:attrNameLst>
                                      </p:cBhvr>
                                      <p:tavLst>
                                        <p:tav tm="0">
                                          <p:val>
                                            <p:strVal val="#ppt_y-#ppt_h*1.125000"/>
                                          </p:val>
                                        </p:tav>
                                        <p:tav tm="100000">
                                          <p:val>
                                            <p:strVal val="#ppt_y"/>
                                          </p:val>
                                        </p:tav>
                                      </p:tavLst>
                                    </p:anim>
                                    <p:animEffect transition="in" filter="wipe(down)">
                                      <p:cBhvr>
                                        <p:cTn id="12" dur="500"/>
                                        <p:tgtEl>
                                          <p:spTgt spid="41"/>
                                        </p:tgtEl>
                                      </p:cBhvr>
                                    </p:animEffect>
                                  </p:childTnLst>
                                </p:cTn>
                              </p:par>
                              <p:par>
                                <p:cTn id="13" presetID="12" presetClass="entr" presetSubtype="2"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p:tgtEl>
                                          <p:spTgt spid="42"/>
                                        </p:tgtEl>
                                        <p:attrNameLst>
                                          <p:attrName>ppt_x</p:attrName>
                                        </p:attrNameLst>
                                      </p:cBhvr>
                                      <p:tavLst>
                                        <p:tav tm="0">
                                          <p:val>
                                            <p:strVal val="#ppt_x+#ppt_w*1.125000"/>
                                          </p:val>
                                        </p:tav>
                                        <p:tav tm="100000">
                                          <p:val>
                                            <p:strVal val="#ppt_x"/>
                                          </p:val>
                                        </p:tav>
                                      </p:tavLst>
                                    </p:anim>
                                    <p:animEffect transition="in" filter="wipe(left)">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3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03  </a:t>
            </a:r>
            <a:r>
              <a:rPr lang="zh-CN" altLang="en-US" sz="1200" dirty="0">
                <a:solidFill>
                  <a:srgbClr val="C4A35A"/>
                </a:solidFill>
                <a:latin typeface="Microsoft YaHei" pitchFamily="34" charset="0"/>
                <a:ea typeface="Microsoft YaHei" pitchFamily="34" charset="-122"/>
                <a:cs typeface="Microsoft YaHei" pitchFamily="34" charset="-120"/>
              </a:rPr>
              <a:t>代</a:t>
            </a:r>
            <a:r>
              <a:rPr lang="zh-CN" altLang="en-US" sz="1200" dirty="0" smtClean="0">
                <a:solidFill>
                  <a:srgbClr val="C4A35A"/>
                </a:solidFill>
                <a:latin typeface="Microsoft YaHei" pitchFamily="34" charset="0"/>
                <a:ea typeface="Microsoft YaHei" pitchFamily="34" charset="-122"/>
                <a:cs typeface="Microsoft YaHei" pitchFamily="34" charset="-120"/>
              </a:rPr>
              <a:t>码结构与核心算法</a:t>
            </a:r>
            <a:endParaRPr lang="en-US" sz="1200" dirty="0"/>
          </a:p>
        </p:txBody>
      </p:sp>
      <p:grpSp>
        <p:nvGrpSpPr>
          <p:cNvPr id="38" name="组合 37"/>
          <p:cNvGrpSpPr/>
          <p:nvPr/>
        </p:nvGrpSpPr>
        <p:grpSpPr>
          <a:xfrm>
            <a:off x="-254000" y="201683"/>
            <a:ext cx="898070" cy="523220"/>
            <a:chOff x="-254000" y="201683"/>
            <a:chExt cx="898070" cy="523220"/>
          </a:xfrm>
        </p:grpSpPr>
        <p:sp>
          <p:nvSpPr>
            <p:cNvPr id="39"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41"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代</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码算法</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2584397" y="217491"/>
            <a:ext cx="10096500" cy="2334126"/>
            <a:chOff x="2584397" y="217491"/>
            <a:chExt cx="10096500" cy="2334126"/>
          </a:xfrm>
        </p:grpSpPr>
        <p:sp>
          <p:nvSpPr>
            <p:cNvPr id="43"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淘宝-想搞设计PPT(倒卖必究)-30"/>
            <p:cNvSpPr/>
            <p:nvPr/>
          </p:nvSpPr>
          <p:spPr>
            <a:xfrm>
              <a:off x="2638019" y="243297"/>
              <a:ext cx="3108535" cy="2308320"/>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遗</a:t>
              </a:r>
              <a:r>
                <a:rPr lang="zh-CN" altLang="en-US" sz="1200" dirty="0">
                  <a:solidFill>
                    <a:schemeClr val="bg1"/>
                  </a:solidFill>
                  <a:latin typeface="微软雅黑" panose="020B0503020204020204" pitchFamily="34" charset="-122"/>
                  <a:ea typeface="微软雅黑" panose="020B0503020204020204" pitchFamily="34" charset="-122"/>
                </a:rPr>
                <a:t>传算法：策略级染色体编码与适应度函数</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26" name="Shape 8"/>
          <p:cNvSpPr/>
          <p:nvPr/>
        </p:nvSpPr>
        <p:spPr>
          <a:xfrm>
            <a:off x="622846" y="883881"/>
            <a:ext cx="7016151" cy="3657600"/>
          </a:xfrm>
          <a:prstGeom prst="roundRect">
            <a:avLst>
              <a:gd name="adj" fmla="val 2000"/>
            </a:avLst>
          </a:prstGeom>
          <a:solidFill>
            <a:srgbClr val="F8F5F0"/>
          </a:solidFill>
          <a:ln w="5080">
            <a:solidFill>
              <a:srgbClr val="C4A35A">
                <a:alpha val="30000"/>
              </a:srgbClr>
            </a:solidFill>
            <a:prstDash val="solid"/>
          </a:ln>
        </p:spPr>
      </p:sp>
      <p:sp>
        <p:nvSpPr>
          <p:cNvPr id="27" name="Text 9"/>
          <p:cNvSpPr/>
          <p:nvPr/>
        </p:nvSpPr>
        <p:spPr>
          <a:xfrm>
            <a:off x="792480" y="1072896"/>
            <a:ext cx="5486400" cy="341376"/>
          </a:xfrm>
          <a:prstGeom prst="rect">
            <a:avLst/>
          </a:prstGeom>
          <a:noFill/>
          <a:ln/>
        </p:spPr>
        <p:txBody>
          <a:bodyPr wrap="square" rtlCol="0" anchor="ctr"/>
          <a:lstStyle/>
          <a:p>
            <a:r>
              <a:rPr lang="en-US" sz="1867" b="1" dirty="0">
                <a:solidFill>
                  <a:srgbClr val="15548D"/>
                </a:solidFill>
                <a:latin typeface="Microsoft YaHei" pitchFamily="34" charset="0"/>
                <a:ea typeface="Microsoft YaHei" pitchFamily="34" charset="-122"/>
                <a:cs typeface="Microsoft YaHei" pitchFamily="34" charset="-120"/>
              </a:rPr>
              <a:t>6 基因策略编码（每个基因均为连续值）</a:t>
            </a:r>
            <a:endParaRPr lang="en-US" sz="1867" dirty="0">
              <a:solidFill>
                <a:srgbClr val="15548D"/>
              </a:solidFill>
            </a:endParaRPr>
          </a:p>
        </p:txBody>
      </p:sp>
      <p:sp>
        <p:nvSpPr>
          <p:cNvPr id="28" name="Text 10"/>
          <p:cNvSpPr/>
          <p:nvPr/>
        </p:nvSpPr>
        <p:spPr>
          <a:xfrm>
            <a:off x="975360" y="1584960"/>
            <a:ext cx="2438400" cy="195072"/>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charge_trigger_soc</a:t>
            </a:r>
            <a:endParaRPr lang="en-US" sz="1333" dirty="0"/>
          </a:p>
        </p:txBody>
      </p:sp>
      <p:sp>
        <p:nvSpPr>
          <p:cNvPr id="29" name="Text 11"/>
          <p:cNvSpPr/>
          <p:nvPr/>
        </p:nvSpPr>
        <p:spPr>
          <a:xfrm>
            <a:off x="3535680" y="1584960"/>
            <a:ext cx="1341120" cy="195072"/>
          </a:xfrm>
          <a:prstGeom prst="rect">
            <a:avLst/>
          </a:prstGeom>
          <a:noFill/>
          <a:ln/>
        </p:spPr>
        <p:txBody>
          <a:bodyPr wrap="square" rtlCol="0" anchor="ctr"/>
          <a:lstStyle/>
          <a:p>
            <a:r>
              <a:rPr lang="en-US" sz="1333" dirty="0">
                <a:solidFill>
                  <a:srgbClr val="C4A35A"/>
                </a:solidFill>
                <a:latin typeface="Consolas" pitchFamily="34" charset="0"/>
                <a:ea typeface="Consolas" pitchFamily="34" charset="-122"/>
                <a:cs typeface="Consolas" pitchFamily="34" charset="-120"/>
              </a:rPr>
              <a:t>[0.22, 0.45]</a:t>
            </a:r>
            <a:endParaRPr lang="en-US" sz="1333" dirty="0"/>
          </a:p>
        </p:txBody>
      </p:sp>
      <p:sp>
        <p:nvSpPr>
          <p:cNvPr id="30" name="Text 12"/>
          <p:cNvSpPr/>
          <p:nvPr/>
        </p:nvSpPr>
        <p:spPr>
          <a:xfrm>
            <a:off x="4998720" y="1584960"/>
            <a:ext cx="2438400" cy="170688"/>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SOC 低于此值触发充电  |  越低省冗余但风险高</a:t>
            </a:r>
            <a:endParaRPr lang="en-US" sz="1200" dirty="0"/>
          </a:p>
        </p:txBody>
      </p:sp>
      <p:sp>
        <p:nvSpPr>
          <p:cNvPr id="31" name="Text 13"/>
          <p:cNvSpPr/>
          <p:nvPr/>
        </p:nvSpPr>
        <p:spPr>
          <a:xfrm>
            <a:off x="975360" y="1999488"/>
            <a:ext cx="2438400" cy="195072"/>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offpeak_target_soc</a:t>
            </a:r>
            <a:endParaRPr lang="en-US" sz="1333" dirty="0"/>
          </a:p>
        </p:txBody>
      </p:sp>
      <p:sp>
        <p:nvSpPr>
          <p:cNvPr id="32" name="Text 14"/>
          <p:cNvSpPr/>
          <p:nvPr/>
        </p:nvSpPr>
        <p:spPr>
          <a:xfrm>
            <a:off x="3535680" y="1999488"/>
            <a:ext cx="1341120" cy="195072"/>
          </a:xfrm>
          <a:prstGeom prst="rect">
            <a:avLst/>
          </a:prstGeom>
          <a:noFill/>
          <a:ln/>
        </p:spPr>
        <p:txBody>
          <a:bodyPr wrap="square" rtlCol="0" anchor="ctr"/>
          <a:lstStyle/>
          <a:p>
            <a:r>
              <a:rPr lang="en-US" sz="1333" dirty="0">
                <a:solidFill>
                  <a:srgbClr val="C4A35A"/>
                </a:solidFill>
                <a:latin typeface="Consolas" pitchFamily="34" charset="0"/>
                <a:ea typeface="Consolas" pitchFamily="34" charset="-122"/>
                <a:cs typeface="Consolas" pitchFamily="34" charset="-120"/>
              </a:rPr>
              <a:t>[0.55, 0.9]</a:t>
            </a:r>
            <a:endParaRPr lang="en-US" sz="1333" dirty="0"/>
          </a:p>
        </p:txBody>
      </p:sp>
      <p:sp>
        <p:nvSpPr>
          <p:cNvPr id="33" name="Text 15"/>
          <p:cNvSpPr/>
          <p:nvPr/>
        </p:nvSpPr>
        <p:spPr>
          <a:xfrm>
            <a:off x="4998720" y="1999488"/>
            <a:ext cx="2438400" cy="170688"/>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低谷目标 SOC  |  利用低价时段多充</a:t>
            </a:r>
            <a:endParaRPr lang="en-US" sz="1200" dirty="0"/>
          </a:p>
        </p:txBody>
      </p:sp>
      <p:sp>
        <p:nvSpPr>
          <p:cNvPr id="34" name="Text 16"/>
          <p:cNvSpPr/>
          <p:nvPr/>
        </p:nvSpPr>
        <p:spPr>
          <a:xfrm>
            <a:off x="975360" y="2414016"/>
            <a:ext cx="2438400" cy="195072"/>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peak_target_soc</a:t>
            </a:r>
            <a:endParaRPr lang="en-US" sz="1333" dirty="0"/>
          </a:p>
        </p:txBody>
      </p:sp>
      <p:sp>
        <p:nvSpPr>
          <p:cNvPr id="35" name="Text 17"/>
          <p:cNvSpPr/>
          <p:nvPr/>
        </p:nvSpPr>
        <p:spPr>
          <a:xfrm>
            <a:off x="3535680" y="2414016"/>
            <a:ext cx="1341120" cy="195072"/>
          </a:xfrm>
          <a:prstGeom prst="rect">
            <a:avLst/>
          </a:prstGeom>
          <a:noFill/>
          <a:ln/>
        </p:spPr>
        <p:txBody>
          <a:bodyPr wrap="square" rtlCol="0" anchor="ctr"/>
          <a:lstStyle/>
          <a:p>
            <a:r>
              <a:rPr lang="en-US" sz="1333" dirty="0">
                <a:solidFill>
                  <a:srgbClr val="C4A35A"/>
                </a:solidFill>
                <a:latin typeface="Consolas" pitchFamily="34" charset="0"/>
                <a:ea typeface="Consolas" pitchFamily="34" charset="-122"/>
                <a:cs typeface="Consolas" pitchFamily="34" charset="-120"/>
              </a:rPr>
              <a:t>[0.55, 0.9]</a:t>
            </a:r>
            <a:endParaRPr lang="en-US" sz="1333" dirty="0"/>
          </a:p>
        </p:txBody>
      </p:sp>
      <p:sp>
        <p:nvSpPr>
          <p:cNvPr id="36" name="Text 18"/>
          <p:cNvSpPr/>
          <p:nvPr/>
        </p:nvSpPr>
        <p:spPr>
          <a:xfrm>
            <a:off x="4998720" y="2414016"/>
            <a:ext cx="2438400" cy="170688"/>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高峰目标 SOC  |  避免高价时段过度充电</a:t>
            </a:r>
            <a:endParaRPr lang="en-US" sz="1200" dirty="0"/>
          </a:p>
        </p:txBody>
      </p:sp>
      <p:sp>
        <p:nvSpPr>
          <p:cNvPr id="46" name="Text 19"/>
          <p:cNvSpPr/>
          <p:nvPr/>
        </p:nvSpPr>
        <p:spPr>
          <a:xfrm>
            <a:off x="975360" y="2828544"/>
            <a:ext cx="2438400" cy="195072"/>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cost_weight</a:t>
            </a:r>
            <a:endParaRPr lang="en-US" sz="1333" dirty="0"/>
          </a:p>
        </p:txBody>
      </p:sp>
      <p:sp>
        <p:nvSpPr>
          <p:cNvPr id="47" name="Text 20"/>
          <p:cNvSpPr/>
          <p:nvPr/>
        </p:nvSpPr>
        <p:spPr>
          <a:xfrm>
            <a:off x="3535680" y="2828544"/>
            <a:ext cx="1341120" cy="195072"/>
          </a:xfrm>
          <a:prstGeom prst="rect">
            <a:avLst/>
          </a:prstGeom>
          <a:noFill/>
          <a:ln/>
        </p:spPr>
        <p:txBody>
          <a:bodyPr wrap="square" rtlCol="0" anchor="ctr"/>
          <a:lstStyle/>
          <a:p>
            <a:r>
              <a:rPr lang="en-US" sz="1333" dirty="0">
                <a:solidFill>
                  <a:srgbClr val="C4A35A"/>
                </a:solidFill>
                <a:latin typeface="Consolas" pitchFamily="34" charset="0"/>
                <a:ea typeface="Consolas" pitchFamily="34" charset="-122"/>
                <a:cs typeface="Consolas" pitchFamily="34" charset="-120"/>
              </a:rPr>
              <a:t>[0, 2.5]</a:t>
            </a:r>
            <a:endParaRPr lang="en-US" sz="1333" dirty="0"/>
          </a:p>
        </p:txBody>
      </p:sp>
      <p:sp>
        <p:nvSpPr>
          <p:cNvPr id="48" name="Text 21"/>
          <p:cNvSpPr/>
          <p:nvPr/>
        </p:nvSpPr>
        <p:spPr>
          <a:xfrm>
            <a:off x="4998720" y="2828544"/>
            <a:ext cx="2438400" cy="170688"/>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电费敏感度  |  平衡省钱与排队</a:t>
            </a:r>
            <a:endParaRPr lang="en-US" sz="1200" dirty="0"/>
          </a:p>
        </p:txBody>
      </p:sp>
      <p:sp>
        <p:nvSpPr>
          <p:cNvPr id="49" name="Text 22"/>
          <p:cNvSpPr/>
          <p:nvPr/>
        </p:nvSpPr>
        <p:spPr>
          <a:xfrm>
            <a:off x="975360" y="3243072"/>
            <a:ext cx="2438400" cy="195072"/>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wait_weight</a:t>
            </a:r>
            <a:endParaRPr lang="en-US" sz="1333" dirty="0"/>
          </a:p>
        </p:txBody>
      </p:sp>
      <p:sp>
        <p:nvSpPr>
          <p:cNvPr id="51" name="Text 23"/>
          <p:cNvSpPr/>
          <p:nvPr/>
        </p:nvSpPr>
        <p:spPr>
          <a:xfrm>
            <a:off x="3535680" y="3243072"/>
            <a:ext cx="1341120" cy="195072"/>
          </a:xfrm>
          <a:prstGeom prst="rect">
            <a:avLst/>
          </a:prstGeom>
          <a:noFill/>
          <a:ln/>
        </p:spPr>
        <p:txBody>
          <a:bodyPr wrap="square" rtlCol="0" anchor="ctr"/>
          <a:lstStyle/>
          <a:p>
            <a:r>
              <a:rPr lang="en-US" sz="1333" dirty="0">
                <a:solidFill>
                  <a:srgbClr val="C4A35A"/>
                </a:solidFill>
                <a:latin typeface="Consolas" pitchFamily="34" charset="0"/>
                <a:ea typeface="Consolas" pitchFamily="34" charset="-122"/>
                <a:cs typeface="Consolas" pitchFamily="34" charset="-120"/>
              </a:rPr>
              <a:t>[0, 1]</a:t>
            </a:r>
            <a:endParaRPr lang="en-US" sz="1333" dirty="0"/>
          </a:p>
        </p:txBody>
      </p:sp>
      <p:sp>
        <p:nvSpPr>
          <p:cNvPr id="52" name="Text 24"/>
          <p:cNvSpPr/>
          <p:nvPr/>
        </p:nvSpPr>
        <p:spPr>
          <a:xfrm>
            <a:off x="4998720" y="3243072"/>
            <a:ext cx="2438400" cy="170688"/>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等待时间敏感度  |  影响桩利用节奏</a:t>
            </a:r>
            <a:endParaRPr lang="en-US" sz="1200" dirty="0"/>
          </a:p>
        </p:txBody>
      </p:sp>
      <p:sp>
        <p:nvSpPr>
          <p:cNvPr id="53" name="Text 25"/>
          <p:cNvSpPr/>
          <p:nvPr/>
        </p:nvSpPr>
        <p:spPr>
          <a:xfrm>
            <a:off x="975360" y="3657600"/>
            <a:ext cx="2438400" cy="195072"/>
          </a:xfrm>
          <a:prstGeom prst="rect">
            <a:avLst/>
          </a:prstGeom>
          <a:noFill/>
          <a:ln/>
        </p:spPr>
        <p:txBody>
          <a:bodyPr wrap="square" rtlCol="0" anchor="ctr"/>
          <a:lstStyle/>
          <a:p>
            <a:r>
              <a:rPr lang="en-US" sz="1333" b="1" dirty="0">
                <a:solidFill>
                  <a:srgbClr val="8B1A2B"/>
                </a:solidFill>
                <a:latin typeface="Consolas" pitchFamily="34" charset="0"/>
                <a:ea typeface="Consolas" pitchFamily="34" charset="-122"/>
                <a:cs typeface="Consolas" pitchFamily="34" charset="-120"/>
              </a:rPr>
              <a:t>slow_charger_penalty</a:t>
            </a:r>
            <a:endParaRPr lang="en-US" sz="1333" dirty="0"/>
          </a:p>
        </p:txBody>
      </p:sp>
      <p:sp>
        <p:nvSpPr>
          <p:cNvPr id="54" name="Text 26"/>
          <p:cNvSpPr/>
          <p:nvPr/>
        </p:nvSpPr>
        <p:spPr>
          <a:xfrm>
            <a:off x="3535680" y="3657600"/>
            <a:ext cx="1341120" cy="195072"/>
          </a:xfrm>
          <a:prstGeom prst="rect">
            <a:avLst/>
          </a:prstGeom>
          <a:noFill/>
          <a:ln/>
        </p:spPr>
        <p:txBody>
          <a:bodyPr wrap="square" rtlCol="0" anchor="ctr"/>
          <a:lstStyle/>
          <a:p>
            <a:r>
              <a:rPr lang="en-US" sz="1333" dirty="0">
                <a:solidFill>
                  <a:srgbClr val="C4A35A"/>
                </a:solidFill>
                <a:latin typeface="Consolas" pitchFamily="34" charset="0"/>
                <a:ea typeface="Consolas" pitchFamily="34" charset="-122"/>
                <a:cs typeface="Consolas" pitchFamily="34" charset="-120"/>
              </a:rPr>
              <a:t>[-20, 40]</a:t>
            </a:r>
            <a:endParaRPr lang="en-US" sz="1333" dirty="0"/>
          </a:p>
        </p:txBody>
      </p:sp>
      <p:sp>
        <p:nvSpPr>
          <p:cNvPr id="55" name="Text 27"/>
          <p:cNvSpPr/>
          <p:nvPr/>
        </p:nvSpPr>
        <p:spPr>
          <a:xfrm>
            <a:off x="4998720" y="3657600"/>
            <a:ext cx="2438400" cy="170688"/>
          </a:xfrm>
          <a:prstGeom prst="rect">
            <a:avLst/>
          </a:prstGeom>
          <a:noFill/>
          <a:ln/>
        </p:spPr>
        <p:txBody>
          <a:bodyPr wrap="square" rtlCol="0" anchor="ctr"/>
          <a:lstStyle/>
          <a:p>
            <a:r>
              <a:rPr lang="en-US" sz="1200" dirty="0">
                <a:solidFill>
                  <a:srgbClr val="9B9B9B"/>
                </a:solidFill>
                <a:latin typeface="Microsoft YaHei" pitchFamily="34" charset="0"/>
                <a:ea typeface="Microsoft YaHei" pitchFamily="34" charset="-122"/>
                <a:cs typeface="Microsoft YaHei" pitchFamily="34" charset="-120"/>
              </a:rPr>
              <a:t>慢充偏好/厌恶  |  影响快慢充选择</a:t>
            </a:r>
            <a:endParaRPr lang="en-US" sz="1200" dirty="0"/>
          </a:p>
        </p:txBody>
      </p:sp>
      <p:sp>
        <p:nvSpPr>
          <p:cNvPr id="56" name="Shape 28"/>
          <p:cNvSpPr/>
          <p:nvPr/>
        </p:nvSpPr>
        <p:spPr>
          <a:xfrm>
            <a:off x="7760917" y="874871"/>
            <a:ext cx="4051266" cy="3657600"/>
          </a:xfrm>
          <a:prstGeom prst="roundRect">
            <a:avLst>
              <a:gd name="adj" fmla="val 2000"/>
            </a:avLst>
          </a:prstGeom>
          <a:solidFill>
            <a:srgbClr val="F8F5F0"/>
          </a:solidFill>
          <a:ln w="5080">
            <a:solidFill>
              <a:srgbClr val="C4A35A">
                <a:alpha val="30000"/>
              </a:srgbClr>
            </a:solidFill>
            <a:prstDash val="solid"/>
          </a:ln>
        </p:spPr>
      </p:sp>
      <p:sp>
        <p:nvSpPr>
          <p:cNvPr id="57" name="Text 29"/>
          <p:cNvSpPr/>
          <p:nvPr/>
        </p:nvSpPr>
        <p:spPr>
          <a:xfrm>
            <a:off x="7929971" y="1072896"/>
            <a:ext cx="4876800" cy="341376"/>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适应度 = 总成本 &amp; 遗传操作</a:t>
            </a:r>
            <a:endParaRPr lang="en-US" sz="1867" dirty="0"/>
          </a:p>
        </p:txBody>
      </p:sp>
      <p:sp>
        <p:nvSpPr>
          <p:cNvPr id="59" name="Shape 31"/>
          <p:cNvSpPr/>
          <p:nvPr/>
        </p:nvSpPr>
        <p:spPr>
          <a:xfrm>
            <a:off x="609599" y="4725092"/>
            <a:ext cx="11202583" cy="1430541"/>
          </a:xfrm>
          <a:prstGeom prst="roundRect">
            <a:avLst>
              <a:gd name="adj" fmla="val 6667"/>
            </a:avLst>
          </a:prstGeom>
          <a:solidFill>
            <a:srgbClr val="F8F5F0"/>
          </a:solidFill>
          <a:ln w="5080">
            <a:solidFill>
              <a:srgbClr val="C4A35A">
                <a:alpha val="30000"/>
              </a:srgbClr>
            </a:solidFill>
            <a:prstDash val="solid"/>
          </a:ln>
        </p:spPr>
      </p:sp>
      <p:sp>
        <p:nvSpPr>
          <p:cNvPr id="61" name="Text 31"/>
          <p:cNvSpPr/>
          <p:nvPr/>
        </p:nvSpPr>
        <p:spPr>
          <a:xfrm>
            <a:off x="644070" y="5090852"/>
            <a:ext cx="11168112" cy="975360"/>
          </a:xfrm>
          <a:prstGeom prst="rect">
            <a:avLst/>
          </a:prstGeom>
          <a:noFill/>
          <a:ln/>
        </p:spPr>
        <p:txBody>
          <a:bodyPr wrap="square" rtlCol="0" anchor="t"/>
          <a:lstStyle/>
          <a:p>
            <a:pPr marL="457189" indent="-457189">
              <a:lnSpc>
                <a:spcPct val="130000"/>
              </a:lnSpc>
              <a:buSzPct val="100000"/>
              <a:buChar char="•"/>
            </a:pPr>
            <a:r>
              <a:rPr lang="en-US" altLang="zh-CN" sz="1200" b="1" dirty="0">
                <a:solidFill>
                  <a:srgbClr val="2D2D2D"/>
                </a:solidFill>
                <a:latin typeface="Microsoft YaHei" pitchFamily="34" charset="0"/>
                <a:ea typeface="Microsoft YaHei" pitchFamily="34" charset="-122"/>
                <a:cs typeface="Microsoft YaHei" pitchFamily="34" charset="-120"/>
              </a:rPr>
              <a:t>GA </a:t>
            </a:r>
            <a:r>
              <a:rPr lang="zh-CN" altLang="en-US" sz="1200" b="1" dirty="0">
                <a:solidFill>
                  <a:srgbClr val="2D2D2D"/>
                </a:solidFill>
                <a:latin typeface="Microsoft YaHei" pitchFamily="34" charset="0"/>
                <a:ea typeface="Microsoft YaHei" pitchFamily="34" charset="-122"/>
                <a:cs typeface="Microsoft YaHei" pitchFamily="34" charset="-120"/>
              </a:rPr>
              <a:t>遗传算法简</a:t>
            </a:r>
            <a:r>
              <a:rPr lang="zh-CN" altLang="en-US" sz="1200" b="1" dirty="0" smtClean="0">
                <a:solidFill>
                  <a:srgbClr val="2D2D2D"/>
                </a:solidFill>
                <a:latin typeface="Microsoft YaHei" pitchFamily="34" charset="0"/>
                <a:ea typeface="Microsoft YaHei" pitchFamily="34" charset="-122"/>
                <a:cs typeface="Microsoft YaHei" pitchFamily="34" charset="-120"/>
              </a:rPr>
              <a:t>介：遗</a:t>
            </a:r>
            <a:r>
              <a:rPr lang="zh-CN" altLang="en-US" sz="1200" b="1" dirty="0">
                <a:solidFill>
                  <a:srgbClr val="2D2D2D"/>
                </a:solidFill>
                <a:latin typeface="Microsoft YaHei" pitchFamily="34" charset="0"/>
                <a:ea typeface="Microsoft YaHei" pitchFamily="34" charset="-122"/>
                <a:cs typeface="Microsoft YaHei" pitchFamily="34" charset="-120"/>
              </a:rPr>
              <a:t>传算法是一种模拟“</a:t>
            </a:r>
            <a:r>
              <a:rPr lang="zh-CN" altLang="en-US" sz="1200" b="1" dirty="0">
                <a:solidFill>
                  <a:srgbClr val="FF0000"/>
                </a:solidFill>
                <a:latin typeface="Microsoft YaHei" pitchFamily="34" charset="0"/>
                <a:ea typeface="Microsoft YaHei" pitchFamily="34" charset="-122"/>
                <a:cs typeface="Microsoft YaHei" pitchFamily="34" charset="-120"/>
              </a:rPr>
              <a:t>自然选择</a:t>
            </a:r>
            <a:r>
              <a:rPr lang="zh-CN" altLang="en-US" sz="1200" b="1" dirty="0">
                <a:solidFill>
                  <a:srgbClr val="2D2D2D"/>
                </a:solidFill>
                <a:latin typeface="Microsoft YaHei" pitchFamily="34" charset="0"/>
                <a:ea typeface="Microsoft YaHei" pitchFamily="34" charset="-122"/>
                <a:cs typeface="Microsoft YaHei" pitchFamily="34" charset="-120"/>
              </a:rPr>
              <a:t>”的全局优化方法。它先随机生成多组充电策略参数，再通过适应度函数评价每组方案的成本、等待时间和 </a:t>
            </a:r>
            <a:r>
              <a:rPr lang="en-US" sz="1200" b="1" dirty="0">
                <a:solidFill>
                  <a:srgbClr val="2D2D2D"/>
                </a:solidFill>
                <a:latin typeface="Microsoft YaHei" pitchFamily="34" charset="0"/>
                <a:ea typeface="Microsoft YaHei" pitchFamily="34" charset="-122"/>
                <a:cs typeface="Microsoft YaHei" pitchFamily="34" charset="-120"/>
              </a:rPr>
              <a:t>SOC </a:t>
            </a:r>
            <a:r>
              <a:rPr lang="zh-CN" altLang="en-US" sz="1200" b="1" dirty="0">
                <a:solidFill>
                  <a:srgbClr val="2D2D2D"/>
                </a:solidFill>
                <a:latin typeface="Microsoft YaHei" pitchFamily="34" charset="0"/>
                <a:ea typeface="Microsoft YaHei" pitchFamily="34" charset="-122"/>
                <a:cs typeface="Microsoft YaHei" pitchFamily="34" charset="-120"/>
              </a:rPr>
              <a:t>安全性；随后保留表现较好的方案，并通过</a:t>
            </a:r>
            <a:r>
              <a:rPr lang="zh-CN" altLang="en-US" sz="1200" b="1" dirty="0">
                <a:solidFill>
                  <a:srgbClr val="FF0000"/>
                </a:solidFill>
                <a:latin typeface="Microsoft YaHei" pitchFamily="34" charset="0"/>
                <a:ea typeface="Microsoft YaHei" pitchFamily="34" charset="-122"/>
                <a:cs typeface="Microsoft YaHei" pitchFamily="34" charset="-120"/>
              </a:rPr>
              <a:t>选择、交叉、变异</a:t>
            </a:r>
            <a:r>
              <a:rPr lang="zh-CN" altLang="en-US" sz="1200" b="1" dirty="0">
                <a:solidFill>
                  <a:srgbClr val="2D2D2D"/>
                </a:solidFill>
                <a:latin typeface="Microsoft YaHei" pitchFamily="34" charset="0"/>
                <a:ea typeface="Microsoft YaHei" pitchFamily="34" charset="-122"/>
                <a:cs typeface="Microsoft YaHei" pitchFamily="34" charset="-120"/>
              </a:rPr>
              <a:t>不断产生新方案，</a:t>
            </a:r>
            <a:r>
              <a:rPr lang="zh-CN" altLang="en-US" sz="1200" b="1" dirty="0">
                <a:solidFill>
                  <a:srgbClr val="FF0000"/>
                </a:solidFill>
                <a:latin typeface="Microsoft YaHei" pitchFamily="34" charset="0"/>
                <a:ea typeface="Microsoft YaHei" pitchFamily="34" charset="-122"/>
                <a:cs typeface="Microsoft YaHei" pitchFamily="34" charset="-120"/>
              </a:rPr>
              <a:t>逐代逼近更优调度策略</a:t>
            </a:r>
            <a:r>
              <a:rPr lang="zh-CN" altLang="en-US" sz="1200" b="1" dirty="0" smtClean="0">
                <a:solidFill>
                  <a:srgbClr val="2D2D2D"/>
                </a:solidFill>
                <a:latin typeface="Microsoft YaHei" pitchFamily="34" charset="0"/>
                <a:ea typeface="Microsoft YaHei" pitchFamily="34" charset="-122"/>
                <a:cs typeface="Microsoft YaHei" pitchFamily="34" charset="-120"/>
              </a:rPr>
              <a:t>。</a:t>
            </a:r>
            <a:endParaRPr lang="en-US" altLang="zh-CN" sz="1200" b="1" dirty="0" smtClean="0">
              <a:solidFill>
                <a:srgbClr val="2D2D2D"/>
              </a:solidFill>
              <a:latin typeface="Microsoft YaHei" pitchFamily="34" charset="0"/>
              <a:ea typeface="Microsoft YaHei" pitchFamily="34" charset="-122"/>
              <a:cs typeface="Microsoft YaHei" pitchFamily="34" charset="-120"/>
            </a:endParaRPr>
          </a:p>
          <a:p>
            <a:pPr marL="457189" indent="-457189">
              <a:lnSpc>
                <a:spcPct val="130000"/>
              </a:lnSpc>
              <a:buSzPct val="100000"/>
              <a:buChar char="•"/>
            </a:pPr>
            <a:r>
              <a:rPr lang="zh-CN" altLang="en-US" sz="1200" b="1" dirty="0" smtClean="0">
                <a:solidFill>
                  <a:srgbClr val="2D2D2D"/>
                </a:solidFill>
                <a:latin typeface="Microsoft YaHei" pitchFamily="34" charset="0"/>
                <a:ea typeface="Microsoft YaHei" pitchFamily="34" charset="-122"/>
                <a:cs typeface="Microsoft YaHei" pitchFamily="34" charset="-120"/>
              </a:rPr>
              <a:t>相</a:t>
            </a:r>
            <a:r>
              <a:rPr lang="zh-CN" altLang="en-US" sz="1200" b="1" dirty="0">
                <a:solidFill>
                  <a:srgbClr val="2D2D2D"/>
                </a:solidFill>
                <a:latin typeface="Microsoft YaHei" pitchFamily="34" charset="0"/>
                <a:ea typeface="Microsoft YaHei" pitchFamily="34" charset="-122"/>
                <a:cs typeface="Microsoft YaHei" pitchFamily="34" charset="-120"/>
              </a:rPr>
              <a:t>比 </a:t>
            </a:r>
            <a:r>
              <a:rPr lang="en-US" altLang="zh-CN" sz="1200" b="1" dirty="0">
                <a:solidFill>
                  <a:srgbClr val="2D2D2D"/>
                </a:solidFill>
                <a:latin typeface="Microsoft YaHei" pitchFamily="34" charset="0"/>
                <a:ea typeface="Microsoft YaHei" pitchFamily="34" charset="-122"/>
                <a:cs typeface="Microsoft YaHei" pitchFamily="34" charset="-120"/>
              </a:rPr>
              <a:t>JSQ </a:t>
            </a:r>
            <a:r>
              <a:rPr lang="zh-CN" altLang="en-US" sz="1200" b="1" dirty="0">
                <a:solidFill>
                  <a:srgbClr val="2D2D2D"/>
                </a:solidFill>
                <a:latin typeface="Microsoft YaHei" pitchFamily="34" charset="0"/>
                <a:ea typeface="Microsoft YaHei" pitchFamily="34" charset="-122"/>
                <a:cs typeface="Microsoft YaHei" pitchFamily="34" charset="-120"/>
              </a:rPr>
              <a:t>的理论优势：</a:t>
            </a:r>
            <a:r>
              <a:rPr lang="en-US" altLang="zh-CN" sz="1200" b="1" dirty="0">
                <a:solidFill>
                  <a:srgbClr val="2D2D2D"/>
                </a:solidFill>
                <a:latin typeface="Microsoft YaHei" pitchFamily="34" charset="0"/>
                <a:ea typeface="Microsoft YaHei" pitchFamily="34" charset="-122"/>
                <a:cs typeface="Microsoft YaHei" pitchFamily="34" charset="-120"/>
              </a:rPr>
              <a:t>JSQ </a:t>
            </a:r>
            <a:r>
              <a:rPr lang="zh-CN" altLang="en-US" sz="1200" b="1" dirty="0">
                <a:solidFill>
                  <a:srgbClr val="2D2D2D"/>
                </a:solidFill>
                <a:latin typeface="Microsoft YaHei" pitchFamily="34" charset="0"/>
                <a:ea typeface="Microsoft YaHei" pitchFamily="34" charset="-122"/>
                <a:cs typeface="Microsoft YaHei" pitchFamily="34" charset="-120"/>
              </a:rPr>
              <a:t>只根据</a:t>
            </a:r>
            <a:r>
              <a:rPr lang="zh-CN" altLang="en-US" sz="1200" b="1" dirty="0">
                <a:solidFill>
                  <a:srgbClr val="FF0000"/>
                </a:solidFill>
                <a:latin typeface="Microsoft YaHei" pitchFamily="34" charset="0"/>
                <a:ea typeface="Microsoft YaHei" pitchFamily="34" charset="-122"/>
                <a:cs typeface="Microsoft YaHei" pitchFamily="34" charset="-120"/>
              </a:rPr>
              <a:t>当前队列状态</a:t>
            </a:r>
            <a:r>
              <a:rPr lang="zh-CN" altLang="en-US" sz="1200" b="1" dirty="0">
                <a:solidFill>
                  <a:srgbClr val="2D2D2D"/>
                </a:solidFill>
                <a:latin typeface="Microsoft YaHei" pitchFamily="34" charset="0"/>
                <a:ea typeface="Microsoft YaHei" pitchFamily="34" charset="-122"/>
                <a:cs typeface="Microsoft YaHei" pitchFamily="34" charset="-120"/>
              </a:rPr>
              <a:t>做局部选择，规则简单但容易陷入局部最优；</a:t>
            </a:r>
            <a:r>
              <a:rPr lang="en-US" altLang="zh-CN" sz="1200" b="1" dirty="0">
                <a:solidFill>
                  <a:srgbClr val="2D2D2D"/>
                </a:solidFill>
                <a:latin typeface="Microsoft YaHei" pitchFamily="34" charset="0"/>
                <a:ea typeface="Microsoft YaHei" pitchFamily="34" charset="-122"/>
                <a:cs typeface="Microsoft YaHei" pitchFamily="34" charset="-120"/>
              </a:rPr>
              <a:t>GA </a:t>
            </a:r>
            <a:r>
              <a:rPr lang="zh-CN" altLang="en-US" sz="1200" b="1" dirty="0">
                <a:solidFill>
                  <a:srgbClr val="2D2D2D"/>
                </a:solidFill>
                <a:latin typeface="Microsoft YaHei" pitchFamily="34" charset="0"/>
                <a:ea typeface="Microsoft YaHei" pitchFamily="34" charset="-122"/>
                <a:cs typeface="Microsoft YaHei" pitchFamily="34" charset="-120"/>
              </a:rPr>
              <a:t>可以</a:t>
            </a:r>
            <a:r>
              <a:rPr lang="zh-CN" altLang="en-US" sz="1200" b="1" dirty="0">
                <a:solidFill>
                  <a:srgbClr val="FF0000"/>
                </a:solidFill>
                <a:latin typeface="Microsoft YaHei" pitchFamily="34" charset="0"/>
                <a:ea typeface="Microsoft YaHei" pitchFamily="34" charset="-122"/>
                <a:cs typeface="Microsoft YaHei" pitchFamily="34" charset="-120"/>
              </a:rPr>
              <a:t>同时考虑全天班次、电价时段、</a:t>
            </a:r>
            <a:r>
              <a:rPr lang="en-US" altLang="zh-CN" sz="1200" b="1" dirty="0">
                <a:solidFill>
                  <a:srgbClr val="FF0000"/>
                </a:solidFill>
                <a:latin typeface="Microsoft YaHei" pitchFamily="34" charset="0"/>
                <a:ea typeface="Microsoft YaHei" pitchFamily="34" charset="-122"/>
                <a:cs typeface="Microsoft YaHei" pitchFamily="34" charset="-120"/>
              </a:rPr>
              <a:t>SOC </a:t>
            </a:r>
            <a:r>
              <a:rPr lang="zh-CN" altLang="en-US" sz="1200" b="1" dirty="0">
                <a:solidFill>
                  <a:srgbClr val="FF0000"/>
                </a:solidFill>
                <a:latin typeface="Microsoft YaHei" pitchFamily="34" charset="0"/>
                <a:ea typeface="Microsoft YaHei" pitchFamily="34" charset="-122"/>
                <a:cs typeface="Microsoft YaHei" pitchFamily="34" charset="-120"/>
              </a:rPr>
              <a:t>风险和排队成本</a:t>
            </a:r>
            <a:r>
              <a:rPr lang="zh-CN" altLang="en-US" sz="1200" b="1" dirty="0">
                <a:solidFill>
                  <a:srgbClr val="2D2D2D"/>
                </a:solidFill>
                <a:latin typeface="Microsoft YaHei" pitchFamily="34" charset="0"/>
                <a:ea typeface="Microsoft YaHei" pitchFamily="34" charset="-122"/>
                <a:cs typeface="Microsoft YaHei" pitchFamily="34" charset="-120"/>
              </a:rPr>
              <a:t>，在全局范围内搜索更优策略，因此更适合解决多约束、多目标的公交充电调度问题。</a:t>
            </a:r>
            <a:endParaRPr lang="en-US" sz="1200" b="1" dirty="0"/>
          </a:p>
        </p:txBody>
      </p:sp>
      <p:sp>
        <p:nvSpPr>
          <p:cNvPr id="60" name="Text 20"/>
          <p:cNvSpPr/>
          <p:nvPr/>
        </p:nvSpPr>
        <p:spPr>
          <a:xfrm>
            <a:off x="792480" y="4808942"/>
            <a:ext cx="4876800" cy="304800"/>
          </a:xfrm>
          <a:prstGeom prst="rect">
            <a:avLst/>
          </a:prstGeom>
          <a:noFill/>
          <a:ln/>
        </p:spPr>
        <p:txBody>
          <a:bodyPr wrap="square" rtlCol="0" anchor="ctr"/>
          <a:lstStyle/>
          <a:p>
            <a:r>
              <a:rPr lang="zh-CN" altLang="en-US" sz="1600" b="1" dirty="0">
                <a:solidFill>
                  <a:srgbClr val="15548D"/>
                </a:solidFill>
                <a:latin typeface="Microsoft YaHei" pitchFamily="34" charset="0"/>
                <a:ea typeface="Microsoft YaHei" pitchFamily="34" charset="-122"/>
                <a:cs typeface="Microsoft YaHei" pitchFamily="34" charset="-120"/>
              </a:rPr>
              <a:t>遗</a:t>
            </a:r>
            <a:r>
              <a:rPr lang="zh-CN" altLang="en-US" sz="1600" b="1" dirty="0" smtClean="0">
                <a:solidFill>
                  <a:srgbClr val="15548D"/>
                </a:solidFill>
                <a:latin typeface="Microsoft YaHei" pitchFamily="34" charset="0"/>
                <a:ea typeface="Microsoft YaHei" pitchFamily="34" charset="-122"/>
                <a:cs typeface="Microsoft YaHei" pitchFamily="34" charset="-120"/>
              </a:rPr>
              <a:t>传算法</a:t>
            </a:r>
            <a:r>
              <a:rPr lang="zh-CN" altLang="en-US" sz="1600" b="1" dirty="0">
                <a:solidFill>
                  <a:srgbClr val="15548D"/>
                </a:solidFill>
                <a:latin typeface="Microsoft YaHei" pitchFamily="34" charset="0"/>
                <a:ea typeface="Microsoft YaHei" pitchFamily="34" charset="-122"/>
                <a:cs typeface="Microsoft YaHei" pitchFamily="34" charset="-120"/>
              </a:rPr>
              <a:t>定位</a:t>
            </a:r>
            <a:r>
              <a:rPr lang="en-US" sz="1600" b="1" dirty="0" smtClean="0">
                <a:solidFill>
                  <a:srgbClr val="15548D"/>
                </a:solidFill>
                <a:latin typeface="Microsoft YaHei" pitchFamily="34" charset="0"/>
                <a:ea typeface="Microsoft YaHei" pitchFamily="34" charset="-122"/>
                <a:cs typeface="Microsoft YaHei" pitchFamily="34" charset="-120"/>
              </a:rPr>
              <a:t>：</a:t>
            </a:r>
            <a:endParaRPr lang="en-US" sz="1600" dirty="0">
              <a:solidFill>
                <a:srgbClr val="15548D"/>
              </a:solidFill>
            </a:endParaRPr>
          </a:p>
        </p:txBody>
      </p:sp>
      <p:pic>
        <p:nvPicPr>
          <p:cNvPr id="3" name="图片 2"/>
          <p:cNvPicPr>
            <a:picLocks noChangeAspect="1"/>
          </p:cNvPicPr>
          <p:nvPr/>
        </p:nvPicPr>
        <p:blipFill>
          <a:blip r:embed="rId4"/>
          <a:stretch>
            <a:fillRect/>
          </a:stretch>
        </p:blipFill>
        <p:spPr>
          <a:xfrm>
            <a:off x="7851747" y="1543990"/>
            <a:ext cx="3897717" cy="1740052"/>
          </a:xfrm>
          <a:prstGeom prst="rect">
            <a:avLst/>
          </a:prstGeom>
        </p:spPr>
      </p:pic>
      <p:sp>
        <p:nvSpPr>
          <p:cNvPr id="4" name="文本框 3"/>
          <p:cNvSpPr txBox="1"/>
          <p:nvPr/>
        </p:nvSpPr>
        <p:spPr>
          <a:xfrm>
            <a:off x="7851747" y="3404193"/>
            <a:ext cx="3897717" cy="830997"/>
          </a:xfrm>
          <a:prstGeom prst="rect">
            <a:avLst/>
          </a:prstGeom>
          <a:noFill/>
        </p:spPr>
        <p:txBody>
          <a:bodyPr wrap="square" rtlCol="0">
            <a:spAutoFit/>
          </a:bodyPr>
          <a:lstStyle/>
          <a:p>
            <a:pPr indent="216000"/>
            <a:r>
              <a:rPr lang="zh-CN" altLang="en-US" sz="1200" b="1" dirty="0">
                <a:solidFill>
                  <a:srgbClr val="2D2D2D"/>
                </a:solidFill>
                <a:latin typeface="Microsoft YaHei" pitchFamily="34" charset="0"/>
                <a:ea typeface="Microsoft YaHei" pitchFamily="34" charset="-122"/>
                <a:cs typeface="Microsoft YaHei" pitchFamily="34" charset="-120"/>
              </a:rPr>
              <a:t>该函数把一个充电策略的电费、等待、未完成班次和低 </a:t>
            </a:r>
            <a:r>
              <a:rPr lang="en-US" altLang="zh-CN" sz="1200" b="1" dirty="0">
                <a:solidFill>
                  <a:srgbClr val="2D2D2D"/>
                </a:solidFill>
                <a:latin typeface="Microsoft YaHei" pitchFamily="34" charset="0"/>
                <a:ea typeface="Microsoft YaHei" pitchFamily="34" charset="-122"/>
                <a:cs typeface="Microsoft YaHei" pitchFamily="34" charset="-120"/>
              </a:rPr>
              <a:t>SOC </a:t>
            </a:r>
            <a:r>
              <a:rPr lang="zh-CN" altLang="en-US" sz="1200" b="1" dirty="0">
                <a:solidFill>
                  <a:srgbClr val="2D2D2D"/>
                </a:solidFill>
                <a:latin typeface="Microsoft YaHei" pitchFamily="34" charset="0"/>
                <a:ea typeface="Microsoft YaHei" pitchFamily="34" charset="-122"/>
                <a:cs typeface="Microsoft YaHei" pitchFamily="34" charset="-120"/>
              </a:rPr>
              <a:t>风险统一折算为总成本。函数值越小，说明策略越优；其中 </a:t>
            </a:r>
            <a:r>
              <a:rPr lang="en-US" altLang="zh-CN" sz="1200" b="1" dirty="0">
                <a:solidFill>
                  <a:srgbClr val="2D2D2D"/>
                </a:solidFill>
                <a:latin typeface="Microsoft YaHei" pitchFamily="34" charset="0"/>
                <a:ea typeface="Microsoft YaHei" pitchFamily="34" charset="-122"/>
                <a:cs typeface="Microsoft YaHei" pitchFamily="34" charset="-120"/>
              </a:rPr>
              <a:t>10</a:t>
            </a:r>
            <a:r>
              <a:rPr lang="en-US" altLang="zh-CN" sz="1200" b="1" baseline="30000" dirty="0">
                <a:solidFill>
                  <a:srgbClr val="2D2D2D"/>
                </a:solidFill>
                <a:latin typeface="Microsoft YaHei" pitchFamily="34" charset="0"/>
                <a:ea typeface="Microsoft YaHei" pitchFamily="34" charset="-122"/>
                <a:cs typeface="Microsoft YaHei" pitchFamily="34" charset="-120"/>
              </a:rPr>
              <a:t>5</a:t>
            </a:r>
            <a:r>
              <a:rPr lang="zh-CN" altLang="en-US" sz="1200" b="1" dirty="0">
                <a:solidFill>
                  <a:srgbClr val="2D2D2D"/>
                </a:solidFill>
                <a:latin typeface="Microsoft YaHei" pitchFamily="34" charset="0"/>
                <a:ea typeface="Microsoft YaHei" pitchFamily="34" charset="-122"/>
                <a:cs typeface="Microsoft YaHei" pitchFamily="34" charset="-120"/>
              </a:rPr>
              <a:t>和 </a:t>
            </a:r>
            <a:r>
              <a:rPr lang="en-US" altLang="zh-CN" sz="1200" b="1" dirty="0">
                <a:solidFill>
                  <a:srgbClr val="2D2D2D"/>
                </a:solidFill>
                <a:latin typeface="Microsoft YaHei" pitchFamily="34" charset="0"/>
                <a:ea typeface="Microsoft YaHei" pitchFamily="34" charset="-122"/>
                <a:cs typeface="Microsoft YaHei" pitchFamily="34" charset="-120"/>
              </a:rPr>
              <a:t>10</a:t>
            </a:r>
            <a:r>
              <a:rPr lang="en-US" altLang="zh-CN" sz="1200" b="1" baseline="30000" dirty="0">
                <a:solidFill>
                  <a:srgbClr val="2D2D2D"/>
                </a:solidFill>
                <a:latin typeface="Microsoft YaHei" pitchFamily="34" charset="0"/>
                <a:ea typeface="Microsoft YaHei" pitchFamily="34" charset="-122"/>
                <a:cs typeface="Microsoft YaHei" pitchFamily="34" charset="-120"/>
              </a:rPr>
              <a:t>4</a:t>
            </a:r>
            <a:r>
              <a:rPr lang="zh-CN" altLang="en-US" sz="1200" b="1" dirty="0">
                <a:solidFill>
                  <a:srgbClr val="2D2D2D"/>
                </a:solidFill>
                <a:latin typeface="Microsoft YaHei" pitchFamily="34" charset="0"/>
                <a:ea typeface="Microsoft YaHei" pitchFamily="34" charset="-122"/>
                <a:cs typeface="Microsoft YaHei" pitchFamily="34" charset="-120"/>
              </a:rPr>
              <a:t>是大惩罚项，用来保证班次完成和 </a:t>
            </a:r>
            <a:r>
              <a:rPr lang="en-US" altLang="zh-CN" sz="1200" b="1" dirty="0">
                <a:solidFill>
                  <a:srgbClr val="2D2D2D"/>
                </a:solidFill>
                <a:latin typeface="Microsoft YaHei" pitchFamily="34" charset="0"/>
                <a:ea typeface="Microsoft YaHei" pitchFamily="34" charset="-122"/>
                <a:cs typeface="Microsoft YaHei" pitchFamily="34" charset="-120"/>
              </a:rPr>
              <a:t>SOC </a:t>
            </a:r>
            <a:r>
              <a:rPr lang="zh-CN" altLang="en-US" sz="1200" b="1" dirty="0">
                <a:solidFill>
                  <a:srgbClr val="2D2D2D"/>
                </a:solidFill>
                <a:latin typeface="Microsoft YaHei" pitchFamily="34" charset="0"/>
                <a:ea typeface="Microsoft YaHei" pitchFamily="34" charset="-122"/>
                <a:cs typeface="Microsoft YaHei" pitchFamily="34" charset="-120"/>
              </a:rPr>
              <a:t>安全优先于单纯省电费。</a:t>
            </a:r>
          </a:p>
        </p:txBody>
      </p:sp>
    </p:spTree>
    <p:extLst>
      <p:ext uri="{BB962C8B-B14F-4D97-AF65-F5344CB8AC3E}">
        <p14:creationId xmlns:p14="http://schemas.microsoft.com/office/powerpoint/2010/main" val="34406405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p:tgtEl>
                                          <p:spTgt spid="41"/>
                                        </p:tgtEl>
                                        <p:attrNameLst>
                                          <p:attrName>ppt_y</p:attrName>
                                        </p:attrNameLst>
                                      </p:cBhvr>
                                      <p:tavLst>
                                        <p:tav tm="0">
                                          <p:val>
                                            <p:strVal val="#ppt_y-#ppt_h*1.125000"/>
                                          </p:val>
                                        </p:tav>
                                        <p:tav tm="100000">
                                          <p:val>
                                            <p:strVal val="#ppt_y"/>
                                          </p:val>
                                        </p:tav>
                                      </p:tavLst>
                                    </p:anim>
                                    <p:animEffect transition="in" filter="wipe(down)">
                                      <p:cBhvr>
                                        <p:cTn id="12" dur="500"/>
                                        <p:tgtEl>
                                          <p:spTgt spid="41"/>
                                        </p:tgtEl>
                                      </p:cBhvr>
                                    </p:animEffect>
                                  </p:childTnLst>
                                </p:cTn>
                              </p:par>
                              <p:par>
                                <p:cTn id="13" presetID="12" presetClass="entr" presetSubtype="2"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p:tgtEl>
                                          <p:spTgt spid="42"/>
                                        </p:tgtEl>
                                        <p:attrNameLst>
                                          <p:attrName>ppt_x</p:attrName>
                                        </p:attrNameLst>
                                      </p:cBhvr>
                                      <p:tavLst>
                                        <p:tav tm="0">
                                          <p:val>
                                            <p:strVal val="#ppt_x+#ppt_w*1.125000"/>
                                          </p:val>
                                        </p:tav>
                                        <p:tav tm="100000">
                                          <p:val>
                                            <p:strVal val="#ppt_x"/>
                                          </p:val>
                                        </p:tav>
                                      </p:tavLst>
                                    </p:anim>
                                    <p:animEffect transition="in" filter="wipe(left)">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37"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03  </a:t>
            </a:r>
            <a:r>
              <a:rPr lang="zh-CN" altLang="en-US" sz="1200" dirty="0">
                <a:solidFill>
                  <a:srgbClr val="C4A35A"/>
                </a:solidFill>
                <a:latin typeface="Microsoft YaHei" pitchFamily="34" charset="0"/>
                <a:ea typeface="Microsoft YaHei" pitchFamily="34" charset="-122"/>
                <a:cs typeface="Microsoft YaHei" pitchFamily="34" charset="-120"/>
              </a:rPr>
              <a:t>代</a:t>
            </a:r>
            <a:r>
              <a:rPr lang="zh-CN" altLang="en-US" sz="1200" dirty="0" smtClean="0">
                <a:solidFill>
                  <a:srgbClr val="C4A35A"/>
                </a:solidFill>
                <a:latin typeface="Microsoft YaHei" pitchFamily="34" charset="0"/>
                <a:ea typeface="Microsoft YaHei" pitchFamily="34" charset="-122"/>
                <a:cs typeface="Microsoft YaHei" pitchFamily="34" charset="-120"/>
              </a:rPr>
              <a:t>码结构与核心算法</a:t>
            </a:r>
            <a:endParaRPr lang="en-US" sz="1200" dirty="0"/>
          </a:p>
        </p:txBody>
      </p:sp>
      <p:grpSp>
        <p:nvGrpSpPr>
          <p:cNvPr id="38" name="组合 37"/>
          <p:cNvGrpSpPr/>
          <p:nvPr/>
        </p:nvGrpSpPr>
        <p:grpSpPr>
          <a:xfrm>
            <a:off x="-254000" y="201683"/>
            <a:ext cx="898070" cy="523220"/>
            <a:chOff x="-254000" y="201683"/>
            <a:chExt cx="898070" cy="523220"/>
          </a:xfrm>
        </p:grpSpPr>
        <p:sp>
          <p:nvSpPr>
            <p:cNvPr id="39"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41"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代</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码算法</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2527582" y="217491"/>
            <a:ext cx="10153315" cy="2703458"/>
            <a:chOff x="2527582" y="217491"/>
            <a:chExt cx="10153315" cy="2703458"/>
          </a:xfrm>
        </p:grpSpPr>
        <p:sp>
          <p:nvSpPr>
            <p:cNvPr id="43"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淘宝-想搞设计PPT(倒卖必究)-30"/>
            <p:cNvSpPr/>
            <p:nvPr/>
          </p:nvSpPr>
          <p:spPr>
            <a:xfrm>
              <a:off x="2527582" y="243297"/>
              <a:ext cx="4192037" cy="2677652"/>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可</a:t>
              </a:r>
              <a:r>
                <a:rPr lang="zh-CN" altLang="en-US" sz="1200" dirty="0">
                  <a:solidFill>
                    <a:schemeClr val="bg1"/>
                  </a:solidFill>
                  <a:latin typeface="微软雅黑" panose="020B0503020204020204" pitchFamily="34" charset="-122"/>
                  <a:ea typeface="微软雅黑" panose="020B0503020204020204" pitchFamily="34" charset="-122"/>
                </a:rPr>
                <a:t>复现工程：</a:t>
              </a:r>
              <a:r>
                <a:rPr lang="en-US" altLang="zh-CN" sz="1200" dirty="0">
                  <a:solidFill>
                    <a:schemeClr val="bg1"/>
                  </a:solidFill>
                  <a:latin typeface="微软雅黑" panose="020B0503020204020204" pitchFamily="34" charset="-122"/>
                  <a:ea typeface="微软雅黑" panose="020B0503020204020204" pitchFamily="34" charset="-122"/>
                </a:rPr>
                <a:t>Makefile </a:t>
              </a:r>
              <a:r>
                <a:rPr lang="zh-CN" altLang="en-US" sz="1200" dirty="0">
                  <a:solidFill>
                    <a:schemeClr val="bg1"/>
                  </a:solidFill>
                  <a:latin typeface="微软雅黑" panose="020B0503020204020204" pitchFamily="34" charset="-122"/>
                  <a:ea typeface="微软雅黑" panose="020B0503020204020204" pitchFamily="34" charset="-122"/>
                </a:rPr>
                <a:t>统一入口 </a:t>
              </a:r>
              <a:r>
                <a:rPr lang="en-US" altLang="zh-CN" sz="1200" dirty="0">
                  <a:solidFill>
                    <a:schemeClr val="bg1"/>
                  </a:solidFill>
                  <a:latin typeface="微软雅黑" panose="020B0503020204020204" pitchFamily="34" charset="-122"/>
                  <a:ea typeface="微软雅黑" panose="020B0503020204020204" pitchFamily="34" charset="-122"/>
                </a:rPr>
                <a:t>+ SCENARIO </a:t>
              </a:r>
              <a:r>
                <a:rPr lang="zh-CN" altLang="en-US" sz="1200" dirty="0">
                  <a:solidFill>
                    <a:schemeClr val="bg1"/>
                  </a:solidFill>
                  <a:latin typeface="微软雅黑" panose="020B0503020204020204" pitchFamily="34" charset="-122"/>
                  <a:ea typeface="微软雅黑" panose="020B0503020204020204" pitchFamily="34" charset="-122"/>
                </a:rPr>
                <a:t>参数切换</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6" name="Shape 8"/>
          <p:cNvSpPr/>
          <p:nvPr/>
        </p:nvSpPr>
        <p:spPr>
          <a:xfrm>
            <a:off x="609600" y="846227"/>
            <a:ext cx="5486400" cy="2908909"/>
          </a:xfrm>
          <a:prstGeom prst="roundRect">
            <a:avLst>
              <a:gd name="adj" fmla="val 2609"/>
            </a:avLst>
          </a:prstGeom>
          <a:solidFill>
            <a:srgbClr val="F8F5F0"/>
          </a:solidFill>
          <a:ln w="5080">
            <a:solidFill>
              <a:srgbClr val="C4A35A">
                <a:alpha val="30000"/>
              </a:srgbClr>
            </a:solidFill>
            <a:prstDash val="solid"/>
          </a:ln>
        </p:spPr>
      </p:sp>
      <p:sp>
        <p:nvSpPr>
          <p:cNvPr id="47" name="Text 9"/>
          <p:cNvSpPr/>
          <p:nvPr/>
        </p:nvSpPr>
        <p:spPr>
          <a:xfrm>
            <a:off x="792480" y="943502"/>
            <a:ext cx="3657600" cy="341376"/>
          </a:xfrm>
          <a:prstGeom prst="rect">
            <a:avLst/>
          </a:prstGeom>
          <a:noFill/>
          <a:ln/>
        </p:spPr>
        <p:txBody>
          <a:bodyPr wrap="square" rtlCol="0" anchor="ctr"/>
          <a:lstStyle/>
          <a:p>
            <a:r>
              <a:rPr lang="en-US" sz="1867" b="1" dirty="0">
                <a:solidFill>
                  <a:srgbClr val="15548D"/>
                </a:solidFill>
                <a:latin typeface="Microsoft YaHei" pitchFamily="34" charset="0"/>
                <a:ea typeface="Microsoft YaHei" pitchFamily="34" charset="-122"/>
                <a:cs typeface="Microsoft YaHei" pitchFamily="34" charset="-120"/>
              </a:rPr>
              <a:t>一键命令</a:t>
            </a:r>
            <a:endParaRPr lang="en-US" sz="1867" dirty="0">
              <a:solidFill>
                <a:srgbClr val="15548D"/>
              </a:solidFill>
            </a:endParaRPr>
          </a:p>
        </p:txBody>
      </p:sp>
      <p:sp>
        <p:nvSpPr>
          <p:cNvPr id="48" name="Text 10"/>
          <p:cNvSpPr/>
          <p:nvPr/>
        </p:nvSpPr>
        <p:spPr>
          <a:xfrm>
            <a:off x="975360" y="1394606"/>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data</a:t>
            </a:r>
            <a:endParaRPr lang="en-US" sz="1467" dirty="0"/>
          </a:p>
        </p:txBody>
      </p:sp>
      <p:sp>
        <p:nvSpPr>
          <p:cNvPr id="49" name="Text 11"/>
          <p:cNvSpPr/>
          <p:nvPr/>
        </p:nvSpPr>
        <p:spPr>
          <a:xfrm>
            <a:off x="4142407" y="1316972"/>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下载 GTFS + 生成全量数据</a:t>
            </a:r>
            <a:endParaRPr lang="en-US" sz="1333" dirty="0"/>
          </a:p>
        </p:txBody>
      </p:sp>
      <p:sp>
        <p:nvSpPr>
          <p:cNvPr id="51" name="Text 12"/>
          <p:cNvSpPr/>
          <p:nvPr/>
        </p:nvSpPr>
        <p:spPr>
          <a:xfrm>
            <a:off x="975360" y="1735982"/>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train</a:t>
            </a:r>
            <a:endParaRPr lang="en-US" sz="1467" dirty="0"/>
          </a:p>
        </p:txBody>
      </p:sp>
      <p:sp>
        <p:nvSpPr>
          <p:cNvPr id="52" name="Text 13"/>
          <p:cNvSpPr/>
          <p:nvPr/>
        </p:nvSpPr>
        <p:spPr>
          <a:xfrm>
            <a:off x="4142407" y="1692852"/>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训练 MLP 能耗预测模型</a:t>
            </a:r>
            <a:endParaRPr lang="en-US" sz="1333" dirty="0"/>
          </a:p>
        </p:txBody>
      </p:sp>
      <p:sp>
        <p:nvSpPr>
          <p:cNvPr id="53" name="Text 14"/>
          <p:cNvSpPr/>
          <p:nvPr/>
        </p:nvSpPr>
        <p:spPr>
          <a:xfrm>
            <a:off x="975360" y="2077358"/>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jsq SCENARIO=full</a:t>
            </a:r>
            <a:endParaRPr lang="en-US" sz="1467" dirty="0"/>
          </a:p>
        </p:txBody>
      </p:sp>
      <p:sp>
        <p:nvSpPr>
          <p:cNvPr id="54" name="Text 15"/>
          <p:cNvSpPr/>
          <p:nvPr/>
        </p:nvSpPr>
        <p:spPr>
          <a:xfrm>
            <a:off x="4142407" y="2077358"/>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JSQ 基线 (current/planned/full)</a:t>
            </a:r>
            <a:endParaRPr lang="en-US" sz="1333" dirty="0"/>
          </a:p>
        </p:txBody>
      </p:sp>
      <p:sp>
        <p:nvSpPr>
          <p:cNvPr id="55" name="Text 16"/>
          <p:cNvSpPr/>
          <p:nvPr/>
        </p:nvSpPr>
        <p:spPr>
          <a:xfrm>
            <a:off x="975360" y="2418734"/>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ga SCENARIO=full</a:t>
            </a:r>
            <a:endParaRPr lang="en-US" sz="1467" dirty="0"/>
          </a:p>
        </p:txBody>
      </p:sp>
      <p:sp>
        <p:nvSpPr>
          <p:cNvPr id="56" name="Text 17"/>
          <p:cNvSpPr/>
          <p:nvPr/>
        </p:nvSpPr>
        <p:spPr>
          <a:xfrm>
            <a:off x="4142407" y="2418734"/>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GA 优化 (10 核并行)</a:t>
            </a:r>
            <a:endParaRPr lang="en-US" sz="1333" dirty="0"/>
          </a:p>
        </p:txBody>
      </p:sp>
      <p:sp>
        <p:nvSpPr>
          <p:cNvPr id="57" name="Text 18"/>
          <p:cNvSpPr/>
          <p:nvPr/>
        </p:nvSpPr>
        <p:spPr>
          <a:xfrm>
            <a:off x="975360" y="2760110"/>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evaluate SCENARIO=full</a:t>
            </a:r>
            <a:endParaRPr lang="en-US" sz="1467" dirty="0"/>
          </a:p>
        </p:txBody>
      </p:sp>
      <p:sp>
        <p:nvSpPr>
          <p:cNvPr id="58" name="Text 19"/>
          <p:cNvSpPr/>
          <p:nvPr/>
        </p:nvSpPr>
        <p:spPr>
          <a:xfrm>
            <a:off x="4142407" y="2760110"/>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JSQ vs GA 指标对比</a:t>
            </a:r>
            <a:endParaRPr lang="en-US" sz="1333" dirty="0"/>
          </a:p>
        </p:txBody>
      </p:sp>
      <p:sp>
        <p:nvSpPr>
          <p:cNvPr id="59" name="Text 20"/>
          <p:cNvSpPr/>
          <p:nvPr/>
        </p:nvSpPr>
        <p:spPr>
          <a:xfrm>
            <a:off x="975360" y="3101486"/>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scenario-summary</a:t>
            </a:r>
            <a:endParaRPr lang="en-US" sz="1467" dirty="0"/>
          </a:p>
        </p:txBody>
      </p:sp>
      <p:sp>
        <p:nvSpPr>
          <p:cNvPr id="60" name="Text 21"/>
          <p:cNvSpPr/>
          <p:nvPr/>
        </p:nvSpPr>
        <p:spPr>
          <a:xfrm>
            <a:off x="4142407" y="3101486"/>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三阶段 JSQ/GA 汇总表</a:t>
            </a:r>
            <a:endParaRPr lang="en-US" sz="1333" dirty="0"/>
          </a:p>
        </p:txBody>
      </p:sp>
      <p:sp>
        <p:nvSpPr>
          <p:cNvPr id="61" name="Text 22"/>
          <p:cNvSpPr/>
          <p:nvPr/>
        </p:nvSpPr>
        <p:spPr>
          <a:xfrm>
            <a:off x="975360" y="3442862"/>
            <a:ext cx="3657600" cy="292608"/>
          </a:xfrm>
          <a:prstGeom prst="rect">
            <a:avLst/>
          </a:prstGeom>
          <a:noFill/>
          <a:ln/>
        </p:spPr>
        <p:txBody>
          <a:bodyPr wrap="square" rtlCol="0" anchor="ctr"/>
          <a:lstStyle/>
          <a:p>
            <a:r>
              <a:rPr lang="en-US" sz="1467" b="1" dirty="0">
                <a:solidFill>
                  <a:srgbClr val="8B1A2B"/>
                </a:solidFill>
                <a:latin typeface="Consolas" pitchFamily="34" charset="0"/>
                <a:ea typeface="Consolas" pitchFamily="34" charset="-122"/>
                <a:cs typeface="Consolas" pitchFamily="34" charset="-120"/>
              </a:rPr>
              <a:t>make figures</a:t>
            </a:r>
            <a:endParaRPr lang="en-US" sz="1467" dirty="0"/>
          </a:p>
        </p:txBody>
      </p:sp>
      <p:sp>
        <p:nvSpPr>
          <p:cNvPr id="62" name="Text 23"/>
          <p:cNvSpPr/>
          <p:nvPr/>
        </p:nvSpPr>
        <p:spPr>
          <a:xfrm>
            <a:off x="4142407" y="3442862"/>
            <a:ext cx="1950720" cy="292608"/>
          </a:xfrm>
          <a:prstGeom prst="rect">
            <a:avLst/>
          </a:prstGeom>
          <a:noFill/>
          <a:ln/>
        </p:spPr>
        <p:txBody>
          <a:bodyPr wrap="square" rtlCol="0" anchor="ctr"/>
          <a:lstStyle/>
          <a:p>
            <a:r>
              <a:rPr lang="en-US" sz="1333" dirty="0">
                <a:solidFill>
                  <a:srgbClr val="9B9B9B"/>
                </a:solidFill>
                <a:latin typeface="Microsoft YaHei" pitchFamily="34" charset="0"/>
                <a:ea typeface="Microsoft YaHei" pitchFamily="34" charset="-122"/>
                <a:cs typeface="Microsoft YaHei" pitchFamily="34" charset="-120"/>
              </a:rPr>
              <a:t>生成全部汇报图表</a:t>
            </a:r>
            <a:endParaRPr lang="en-US" sz="1333" dirty="0"/>
          </a:p>
        </p:txBody>
      </p:sp>
      <p:sp>
        <p:nvSpPr>
          <p:cNvPr id="63" name="Shape 24"/>
          <p:cNvSpPr/>
          <p:nvPr/>
        </p:nvSpPr>
        <p:spPr>
          <a:xfrm>
            <a:off x="6461760" y="846227"/>
            <a:ext cx="5364480" cy="2908909"/>
          </a:xfrm>
          <a:prstGeom prst="roundRect">
            <a:avLst>
              <a:gd name="adj" fmla="val 2609"/>
            </a:avLst>
          </a:prstGeom>
          <a:solidFill>
            <a:srgbClr val="F8F5F0"/>
          </a:solidFill>
          <a:ln w="5080">
            <a:solidFill>
              <a:srgbClr val="C4A35A">
                <a:alpha val="30000"/>
              </a:srgbClr>
            </a:solidFill>
            <a:prstDash val="solid"/>
          </a:ln>
        </p:spPr>
      </p:sp>
      <p:sp>
        <p:nvSpPr>
          <p:cNvPr id="64" name="Text 25"/>
          <p:cNvSpPr/>
          <p:nvPr/>
        </p:nvSpPr>
        <p:spPr>
          <a:xfrm>
            <a:off x="6644640" y="943502"/>
            <a:ext cx="3657600" cy="341376"/>
          </a:xfrm>
          <a:prstGeom prst="rect">
            <a:avLst/>
          </a:prstGeom>
          <a:noFill/>
          <a:ln/>
        </p:spPr>
        <p:txBody>
          <a:bodyPr wrap="square" rtlCol="0" anchor="ctr"/>
          <a:lstStyle/>
          <a:p>
            <a:r>
              <a:rPr lang="en-US" sz="1867" b="1" dirty="0">
                <a:solidFill>
                  <a:srgbClr val="C4A35A"/>
                </a:solidFill>
                <a:latin typeface="Microsoft YaHei" pitchFamily="34" charset="0"/>
                <a:ea typeface="Microsoft YaHei" pitchFamily="34" charset="-122"/>
                <a:cs typeface="Microsoft YaHei" pitchFamily="34" charset="-120"/>
              </a:rPr>
              <a:t>可复现保证</a:t>
            </a:r>
            <a:endParaRPr lang="en-US" sz="1867" dirty="0"/>
          </a:p>
        </p:txBody>
      </p:sp>
      <p:sp>
        <p:nvSpPr>
          <p:cNvPr id="65" name="Text 26"/>
          <p:cNvSpPr/>
          <p:nvPr/>
        </p:nvSpPr>
        <p:spPr>
          <a:xfrm>
            <a:off x="6644640" y="1394606"/>
            <a:ext cx="4876800" cy="2072640"/>
          </a:xfrm>
          <a:prstGeom prst="rect">
            <a:avLst/>
          </a:prstGeom>
          <a:noFill/>
          <a:ln/>
        </p:spPr>
        <p:txBody>
          <a:bodyPr wrap="square" rtlCol="0" anchor="t"/>
          <a:lstStyle/>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统一 SCENARIO 参数</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random_seed=42 固定</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全部图表代码自动生成</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指标含 input_paths + runtime</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make run-scenarios 一键跑三场景</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outputs/metrics 数值即汇报数值</a:t>
            </a:r>
            <a:endParaRPr lang="en-US" sz="1467" dirty="0"/>
          </a:p>
        </p:txBody>
      </p:sp>
      <p:pic>
        <p:nvPicPr>
          <p:cNvPr id="66" name="Image 0" descr="C:\Users\Administrator\Desktop\greenlowcarbon\plannin\PPT\images\code_js.jpg"/>
          <p:cNvPicPr>
            <a:picLocks noChangeAspect="1"/>
          </p:cNvPicPr>
          <p:nvPr/>
        </p:nvPicPr>
        <p:blipFill>
          <a:blip r:embed="rId4"/>
          <a:srcRect/>
          <a:stretch/>
        </p:blipFill>
        <p:spPr>
          <a:xfrm>
            <a:off x="609600" y="4084320"/>
            <a:ext cx="4632960" cy="2133600"/>
          </a:xfrm>
          <a:prstGeom prst="rect">
            <a:avLst/>
          </a:prstGeom>
        </p:spPr>
      </p:pic>
      <p:sp>
        <p:nvSpPr>
          <p:cNvPr id="67" name="Shape 27"/>
          <p:cNvSpPr/>
          <p:nvPr/>
        </p:nvSpPr>
        <p:spPr>
          <a:xfrm>
            <a:off x="5608320" y="4084320"/>
            <a:ext cx="6217920" cy="2133600"/>
          </a:xfrm>
          <a:prstGeom prst="roundRect">
            <a:avLst>
              <a:gd name="adj" fmla="val 3429"/>
            </a:avLst>
          </a:prstGeom>
          <a:solidFill>
            <a:srgbClr val="F8F5F0"/>
          </a:solidFill>
          <a:ln w="5080">
            <a:solidFill>
              <a:srgbClr val="C4A35A">
                <a:alpha val="30000"/>
              </a:srgbClr>
            </a:solidFill>
            <a:prstDash val="solid"/>
          </a:ln>
        </p:spPr>
      </p:sp>
      <p:sp>
        <p:nvSpPr>
          <p:cNvPr id="68" name="Text 28"/>
          <p:cNvSpPr/>
          <p:nvPr/>
        </p:nvSpPr>
        <p:spPr>
          <a:xfrm>
            <a:off x="5852160" y="4169664"/>
            <a:ext cx="3657600" cy="304800"/>
          </a:xfrm>
          <a:prstGeom prst="rect">
            <a:avLst/>
          </a:prstGeom>
          <a:noFill/>
          <a:ln/>
        </p:spPr>
        <p:txBody>
          <a:bodyPr wrap="square" rtlCol="0" anchor="ctr"/>
          <a:lstStyle/>
          <a:p>
            <a:r>
              <a:rPr lang="en-US" sz="1733" b="1" dirty="0">
                <a:solidFill>
                  <a:srgbClr val="15548D"/>
                </a:solidFill>
                <a:latin typeface="Microsoft YaHei" pitchFamily="34" charset="0"/>
                <a:ea typeface="Microsoft YaHei" pitchFamily="34" charset="-122"/>
                <a:cs typeface="Microsoft YaHei" pitchFamily="34" charset="-120"/>
              </a:rPr>
              <a:t>输出目录结构</a:t>
            </a:r>
            <a:endParaRPr lang="en-US" sz="1733" dirty="0">
              <a:solidFill>
                <a:srgbClr val="15548D"/>
              </a:solidFill>
            </a:endParaRPr>
          </a:p>
        </p:txBody>
      </p:sp>
      <p:sp>
        <p:nvSpPr>
          <p:cNvPr id="69" name="Text 29"/>
          <p:cNvSpPr/>
          <p:nvPr/>
        </p:nvSpPr>
        <p:spPr>
          <a:xfrm>
            <a:off x="5852160" y="4572000"/>
            <a:ext cx="5730240" cy="1341120"/>
          </a:xfrm>
          <a:prstGeom prst="rect">
            <a:avLst/>
          </a:prstGeom>
          <a:noFill/>
          <a:ln/>
        </p:spPr>
        <p:txBody>
          <a:bodyPr wrap="square" rtlCol="0" anchor="t"/>
          <a:lstStyle/>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outputs/models/ — 训练好的模型</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outputs/schedules/ — JSQ/GA 排程 CSV</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outputs/metrics/ — 指标 JSON/CSV</a:t>
            </a:r>
            <a:endParaRPr lang="en-US" sz="1467" dirty="0"/>
          </a:p>
          <a:p>
            <a:pPr marL="457189" indent="-457189">
              <a:lnSpc>
                <a:spcPct val="125000"/>
              </a:lnSpc>
              <a:buSzPct val="100000"/>
              <a:buChar char="•"/>
            </a:pPr>
            <a:r>
              <a:rPr lang="en-US" sz="1467" dirty="0">
                <a:solidFill>
                  <a:srgbClr val="2D2D2D"/>
                </a:solidFill>
                <a:latin typeface="Microsoft YaHei" pitchFamily="34" charset="0"/>
                <a:ea typeface="Microsoft YaHei" pitchFamily="34" charset="-122"/>
                <a:cs typeface="Microsoft YaHei" pitchFamily="34" charset="-120"/>
              </a:rPr>
              <a:t>outputs/figures/ — 汇报图表 PNG</a:t>
            </a:r>
            <a:endParaRPr lang="en-US" sz="1467" dirty="0"/>
          </a:p>
        </p:txBody>
      </p:sp>
    </p:spTree>
    <p:extLst>
      <p:ext uri="{BB962C8B-B14F-4D97-AF65-F5344CB8AC3E}">
        <p14:creationId xmlns:p14="http://schemas.microsoft.com/office/powerpoint/2010/main" val="32288635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p:tgtEl>
                                          <p:spTgt spid="41"/>
                                        </p:tgtEl>
                                        <p:attrNameLst>
                                          <p:attrName>ppt_y</p:attrName>
                                        </p:attrNameLst>
                                      </p:cBhvr>
                                      <p:tavLst>
                                        <p:tav tm="0">
                                          <p:val>
                                            <p:strVal val="#ppt_y-#ppt_h*1.125000"/>
                                          </p:val>
                                        </p:tav>
                                        <p:tav tm="100000">
                                          <p:val>
                                            <p:strVal val="#ppt_y"/>
                                          </p:val>
                                        </p:tav>
                                      </p:tavLst>
                                    </p:anim>
                                    <p:animEffect transition="in" filter="wipe(down)">
                                      <p:cBhvr>
                                        <p:cTn id="12" dur="500"/>
                                        <p:tgtEl>
                                          <p:spTgt spid="41"/>
                                        </p:tgtEl>
                                      </p:cBhvr>
                                    </p:animEffect>
                                  </p:childTnLst>
                                </p:cTn>
                              </p:par>
                              <p:par>
                                <p:cTn id="13" presetID="12" presetClass="entr" presetSubtype="2"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p:tgtEl>
                                          <p:spTgt spid="42"/>
                                        </p:tgtEl>
                                        <p:attrNameLst>
                                          <p:attrName>ppt_x</p:attrName>
                                        </p:attrNameLst>
                                      </p:cBhvr>
                                      <p:tavLst>
                                        <p:tav tm="0">
                                          <p:val>
                                            <p:strVal val="#ppt_x+#ppt_w*1.125000"/>
                                          </p:val>
                                        </p:tav>
                                        <p:tav tm="100000">
                                          <p:val>
                                            <p:strVal val="#ppt_x"/>
                                          </p:val>
                                        </p:tav>
                                      </p:tavLst>
                                    </p:anim>
                                    <p:animEffect transition="in" filter="wipe(left)">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淘宝-想搞设计PPT(倒卖必究)-8"/>
          <p:cNvSpPr/>
          <p:nvPr/>
        </p:nvSpPr>
        <p:spPr>
          <a:xfrm>
            <a:off x="2857500" y="2686050"/>
            <a:ext cx="9334500" cy="12954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2857500" y="4133850"/>
            <a:ext cx="8210550" cy="952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123950" y="2686050"/>
            <a:ext cx="1543050" cy="1543050"/>
            <a:chOff x="1123950" y="2686050"/>
            <a:chExt cx="1543050" cy="1543050"/>
          </a:xfrm>
        </p:grpSpPr>
        <p:sp>
          <p:nvSpPr>
            <p:cNvPr id="7" name="淘宝-想搞设计PPT(倒卖必究)-7"/>
            <p:cNvSpPr/>
            <p:nvPr/>
          </p:nvSpPr>
          <p:spPr>
            <a:xfrm>
              <a:off x="1123950" y="2686050"/>
              <a:ext cx="1543050" cy="15430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1407285" y="2903577"/>
              <a:ext cx="976380" cy="1107996"/>
            </a:xfrm>
            <a:prstGeom prst="rect">
              <a:avLst/>
            </a:prstGeom>
            <a:no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4</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0" name="淘宝-想搞设计PPT(倒卖必究)-10"/>
          <p:cNvSpPr txBox="1"/>
          <p:nvPr/>
        </p:nvSpPr>
        <p:spPr>
          <a:xfrm>
            <a:off x="2950335" y="2750022"/>
            <a:ext cx="2646870" cy="830993"/>
          </a:xfrm>
          <a:prstGeom prst="rect">
            <a:avLst/>
          </a:prstGeom>
          <a:noFill/>
        </p:spPr>
        <p:txBody>
          <a:bodyPr wrap="none" lIns="91436" tIns="45718" rIns="91436" bIns="45718" rtlCol="0">
            <a:spAutoFit/>
          </a:bodyPr>
          <a:lstStyle>
            <a:defPPr>
              <a:defRPr lang="zh-CN"/>
            </a:defPPr>
            <a:lvl1pP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solidFill>
                  <a:srgbClr val="FFFFFF"/>
                </a:solidFill>
              </a:rPr>
              <a:t>实</a:t>
            </a:r>
            <a:r>
              <a:rPr lang="zh-CN" altLang="en-US" dirty="0" smtClean="0">
                <a:solidFill>
                  <a:srgbClr val="FFFFFF"/>
                </a:solidFill>
              </a:rPr>
              <a:t>验结果</a:t>
            </a:r>
            <a:endParaRPr lang="zh-CN" altLang="en-US" dirty="0">
              <a:solidFill>
                <a:srgbClr val="FFFFFF"/>
              </a:solidFill>
            </a:endParaRPr>
          </a:p>
        </p:txBody>
      </p:sp>
      <p:sp>
        <p:nvSpPr>
          <p:cNvPr id="12" name="淘宝-想搞设计PPT(倒卖必究)-12"/>
          <p:cNvSpPr/>
          <p:nvPr/>
        </p:nvSpPr>
        <p:spPr>
          <a:xfrm>
            <a:off x="3118969" y="3541758"/>
            <a:ext cx="2262151" cy="369328"/>
          </a:xfrm>
          <a:prstGeom prst="rect">
            <a:avLst/>
          </a:prstGeom>
        </p:spPr>
        <p:txBody>
          <a:bodyPr wrap="none" lIns="91436" tIns="45718" rIns="91436" bIns="45718">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实</a:t>
            </a:r>
            <a:r>
              <a:rPr lang="zh-CN" altLang="en-US" dirty="0" smtClean="0">
                <a:solidFill>
                  <a:schemeClr val="bg1"/>
                </a:solidFill>
                <a:latin typeface="微软雅黑" panose="020B0503020204020204" pitchFamily="34" charset="-122"/>
                <a:ea typeface="微软雅黑" panose="020B0503020204020204" pitchFamily="34" charset="-122"/>
              </a:rPr>
              <a:t>验结果与图表解读</a:t>
            </a:r>
            <a:endParaRPr lang="en-US" altLang="zh-CN"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drap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par>
                                <p:cTn id="11" presetID="12" presetClass="entr" presetSubtype="2" fill="hold" grpId="0" nodeType="withEffect">
                                  <p:stCondLst>
                                    <p:cond delay="50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p:tgtEl>
                                          <p:spTgt spid="10"/>
                                        </p:tgtEl>
                                        <p:attrNameLst>
                                          <p:attrName>ppt_x</p:attrName>
                                        </p:attrNameLst>
                                      </p:cBhvr>
                                      <p:tavLst>
                                        <p:tav tm="0">
                                          <p:val>
                                            <p:strVal val="#ppt_x+#ppt_w*1.125000"/>
                                          </p:val>
                                        </p:tav>
                                        <p:tav tm="100000">
                                          <p:val>
                                            <p:strVal val="#ppt_x"/>
                                          </p:val>
                                        </p:tav>
                                      </p:tavLst>
                                    </p:anim>
                                    <p:animEffect transition="in" filter="wipe(left)">
                                      <p:cBhvr>
                                        <p:cTn id="14" dur="500"/>
                                        <p:tgtEl>
                                          <p:spTgt spid="10"/>
                                        </p:tgtEl>
                                      </p:cBhvr>
                                    </p:animEffect>
                                  </p:childTnLst>
                                </p:cTn>
                              </p:par>
                              <p:par>
                                <p:cTn id="15" presetID="12" presetClass="entr" presetSubtype="2" fill="hold" grpId="0" nodeType="withEffect">
                                  <p:stCondLst>
                                    <p:cond delay="90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p:tgtEl>
                                          <p:spTgt spid="12"/>
                                        </p:tgtEl>
                                        <p:attrNameLst>
                                          <p:attrName>ppt_x</p:attrName>
                                        </p:attrNameLst>
                                      </p:cBhvr>
                                      <p:tavLst>
                                        <p:tav tm="0">
                                          <p:val>
                                            <p:strVal val="#ppt_x+#ppt_w*1.125000"/>
                                          </p:val>
                                        </p:tav>
                                        <p:tav tm="100000">
                                          <p:val>
                                            <p:strVal val="#ppt_x"/>
                                          </p:val>
                                        </p:tav>
                                      </p:tavLst>
                                    </p:anim>
                                    <p:animEffect transition="in" filter="wipe(left)">
                                      <p:cBhvr>
                                        <p:cTn id="18" dur="500"/>
                                        <p:tgtEl>
                                          <p:spTgt spid="12"/>
                                        </p:tgtEl>
                                      </p:cBhvr>
                                    </p:animEffect>
                                  </p:childTnLst>
                                </p:cTn>
                              </p:par>
                              <p:par>
                                <p:cTn id="19" presetID="12" presetClass="entr" presetSubtype="2"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p:tgtEl>
                                          <p:spTgt spid="8"/>
                                        </p:tgtEl>
                                        <p:attrNameLst>
                                          <p:attrName>ppt_x</p:attrName>
                                        </p:attrNameLst>
                                      </p:cBhvr>
                                      <p:tavLst>
                                        <p:tav tm="0">
                                          <p:val>
                                            <p:strVal val="#ppt_x+#ppt_w*1.125000"/>
                                          </p:val>
                                        </p:tav>
                                        <p:tav tm="100000">
                                          <p:val>
                                            <p:strVal val="#ppt_x"/>
                                          </p:val>
                                        </p:tav>
                                      </p:tavLst>
                                    </p:anim>
                                    <p:animEffect transition="in" filter="wipe(left)">
                                      <p:cBhvr>
                                        <p:cTn id="22" dur="500"/>
                                        <p:tgtEl>
                                          <p:spTgt spid="8"/>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p:tgtEl>
                                          <p:spTgt spid="9"/>
                                        </p:tgtEl>
                                        <p:attrNameLst>
                                          <p:attrName>ppt_x</p:attrName>
                                        </p:attrNameLst>
                                      </p:cBhvr>
                                      <p:tavLst>
                                        <p:tav tm="0">
                                          <p:val>
                                            <p:strVal val="#ppt_x-#ppt_w*1.125000"/>
                                          </p:val>
                                        </p:tav>
                                        <p:tav tm="100000">
                                          <p:val>
                                            <p:strVal val="#ppt_x"/>
                                          </p:val>
                                        </p:tav>
                                      </p:tavLst>
                                    </p:anim>
                                    <p:animEffect transition="in" filter="wipe(right)">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2888124"/>
            <a:chOff x="2584397" y="217491"/>
            <a:chExt cx="10096500" cy="2888124"/>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40753" y="243297"/>
              <a:ext cx="2441686" cy="2862318"/>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能</a:t>
              </a:r>
              <a:r>
                <a:rPr lang="zh-CN" altLang="en-US" sz="1200" dirty="0">
                  <a:solidFill>
                    <a:schemeClr val="bg1"/>
                  </a:solidFill>
                  <a:latin typeface="微软雅黑" panose="020B0503020204020204" pitchFamily="34" charset="-122"/>
                  <a:ea typeface="微软雅黑" panose="020B0503020204020204" pitchFamily="34" charset="-122"/>
                </a:rPr>
                <a:t>耗预测：</a:t>
              </a:r>
              <a:r>
                <a:rPr lang="en-US" altLang="zh-CN" sz="1200" dirty="0">
                  <a:solidFill>
                    <a:schemeClr val="bg1"/>
                  </a:solidFill>
                  <a:latin typeface="微软雅黑" panose="020B0503020204020204" pitchFamily="34" charset="-122"/>
                  <a:ea typeface="微软雅黑" panose="020B0503020204020204" pitchFamily="34" charset="-122"/>
                </a:rPr>
                <a:t>MLP vs </a:t>
              </a:r>
              <a:r>
                <a:rPr lang="zh-CN" altLang="en-US" sz="1200" dirty="0">
                  <a:solidFill>
                    <a:schemeClr val="bg1"/>
                  </a:solidFill>
                  <a:latin typeface="微软雅黑" panose="020B0503020204020204" pitchFamily="34" charset="-122"/>
                  <a:ea typeface="微软雅黑" panose="020B0503020204020204" pitchFamily="34" charset="-122"/>
                </a:rPr>
                <a:t>固定里程模型</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pic>
        <p:nvPicPr>
          <p:cNvPr id="42" name="Image 0" descr="C:\Users\Administrator\Desktop\greenlowcarbon\plannin\ebus\outputs\figures\energy_model_metric_comparison.png"/>
          <p:cNvPicPr>
            <a:picLocks noChangeAspect="1"/>
          </p:cNvPicPr>
          <p:nvPr/>
        </p:nvPicPr>
        <p:blipFill>
          <a:blip r:embed="rId4"/>
          <a:stretch>
            <a:fillRect/>
          </a:stretch>
        </p:blipFill>
        <p:spPr>
          <a:xfrm>
            <a:off x="609600" y="1078019"/>
            <a:ext cx="6096000" cy="2428155"/>
          </a:xfrm>
          <a:prstGeom prst="rect">
            <a:avLst/>
          </a:prstGeom>
        </p:spPr>
      </p:pic>
      <p:pic>
        <p:nvPicPr>
          <p:cNvPr id="43" name="Image 1" descr="C:\Users\Administrator\Desktop\greenlowcarbon\plannin\ebus\outputs\figures\energy_actual_vs_predicted.png"/>
          <p:cNvPicPr>
            <a:picLocks noChangeAspect="1"/>
          </p:cNvPicPr>
          <p:nvPr/>
        </p:nvPicPr>
        <p:blipFill>
          <a:blip r:embed="rId5"/>
          <a:stretch>
            <a:fillRect/>
          </a:stretch>
        </p:blipFill>
        <p:spPr>
          <a:xfrm>
            <a:off x="7678695" y="874525"/>
            <a:ext cx="3119020" cy="2682240"/>
          </a:xfrm>
          <a:prstGeom prst="rect">
            <a:avLst/>
          </a:prstGeom>
        </p:spPr>
      </p:pic>
      <p:sp>
        <p:nvSpPr>
          <p:cNvPr id="44" name="Shape 8"/>
          <p:cNvSpPr/>
          <p:nvPr/>
        </p:nvSpPr>
        <p:spPr>
          <a:xfrm>
            <a:off x="609600" y="3962400"/>
            <a:ext cx="11094720" cy="2194560"/>
          </a:xfrm>
          <a:prstGeom prst="roundRect">
            <a:avLst>
              <a:gd name="adj" fmla="val 3333"/>
            </a:avLst>
          </a:prstGeom>
          <a:solidFill>
            <a:srgbClr val="F8F5F0"/>
          </a:solidFill>
          <a:ln w="5080">
            <a:solidFill>
              <a:srgbClr val="C4A35A">
                <a:alpha val="30000"/>
              </a:srgbClr>
            </a:solidFill>
            <a:prstDash val="solid"/>
          </a:ln>
        </p:spPr>
      </p:sp>
      <p:sp>
        <p:nvSpPr>
          <p:cNvPr id="45" name="Text 9"/>
          <p:cNvSpPr/>
          <p:nvPr/>
        </p:nvSpPr>
        <p:spPr>
          <a:xfrm>
            <a:off x="792480" y="4047744"/>
            <a:ext cx="2438400" cy="304800"/>
          </a:xfrm>
          <a:prstGeom prst="rect">
            <a:avLst/>
          </a:prstGeom>
          <a:noFill/>
          <a:ln/>
        </p:spPr>
        <p:txBody>
          <a:bodyPr wrap="square" rtlCol="0" anchor="ctr"/>
          <a:lstStyle/>
          <a:p>
            <a:r>
              <a:rPr lang="en-US" sz="1867" b="1" dirty="0" smtClean="0">
                <a:solidFill>
                  <a:srgbClr val="15548D"/>
                </a:solidFill>
                <a:latin typeface="Microsoft YaHei" pitchFamily="34" charset="0"/>
                <a:ea typeface="Microsoft YaHei" pitchFamily="34" charset="-122"/>
                <a:cs typeface="Microsoft YaHei" pitchFamily="34" charset="-120"/>
              </a:rPr>
              <a:t>核心结论</a:t>
            </a:r>
            <a:r>
              <a:rPr lang="zh-CN" altLang="en-US" sz="1867" b="1" dirty="0" smtClean="0">
                <a:solidFill>
                  <a:srgbClr val="15548D"/>
                </a:solidFill>
                <a:latin typeface="Microsoft YaHei" pitchFamily="34" charset="0"/>
                <a:ea typeface="Microsoft YaHei" pitchFamily="34" charset="-122"/>
                <a:cs typeface="Microsoft YaHei" pitchFamily="34" charset="-120"/>
              </a:rPr>
              <a:t>：</a:t>
            </a:r>
            <a:endParaRPr lang="en-US" sz="1867" dirty="0">
              <a:solidFill>
                <a:srgbClr val="15548D"/>
              </a:solidFill>
            </a:endParaRPr>
          </a:p>
        </p:txBody>
      </p:sp>
      <p:sp>
        <p:nvSpPr>
          <p:cNvPr id="46" name="Text 10"/>
          <p:cNvSpPr/>
          <p:nvPr/>
        </p:nvSpPr>
        <p:spPr>
          <a:xfrm>
            <a:off x="792480" y="4450080"/>
            <a:ext cx="10728960" cy="1463040"/>
          </a:xfrm>
          <a:prstGeom prst="rect">
            <a:avLst/>
          </a:prstGeom>
          <a:noFill/>
          <a:ln/>
        </p:spPr>
        <p:txBody>
          <a:bodyPr wrap="square" rtlCol="0" anchor="ctr"/>
          <a:lstStyle/>
          <a:p>
            <a:pPr>
              <a:lnSpc>
                <a:spcPct val="125000"/>
              </a:lnSpc>
            </a:pPr>
            <a:r>
              <a:rPr lang="en-US" sz="1600" b="1" dirty="0">
                <a:solidFill>
                  <a:srgbClr val="2E7D32"/>
                </a:solidFill>
                <a:latin typeface="Microsoft YaHei" pitchFamily="34" charset="0"/>
                <a:ea typeface="Microsoft YaHei" pitchFamily="34" charset="-122"/>
                <a:cs typeface="Microsoft YaHei" pitchFamily="34" charset="-120"/>
              </a:rPr>
              <a:t>左图：MLP 三项指标全面领先 — MAE 2.85 vs 5.39 (-47%) · RMSE 4.76 vs 8.41 (-43%) · R² 0.94 vs 0.81 (+0.13)</a:t>
            </a:r>
            <a:endParaRPr lang="en-US" sz="1600" dirty="0"/>
          </a:p>
          <a:p>
            <a:pPr>
              <a:lnSpc>
                <a:spcPct val="125000"/>
              </a:lnSpc>
            </a:pPr>
            <a:r>
              <a:rPr lang="en-US" sz="1600" b="1" dirty="0">
                <a:solidFill>
                  <a:srgbClr val="2D2D2D"/>
                </a:solidFill>
                <a:latin typeface="Microsoft YaHei" pitchFamily="34" charset="0"/>
                <a:ea typeface="Microsoft YaHei" pitchFamily="34" charset="-122"/>
                <a:cs typeface="Microsoft YaHei" pitchFamily="34" charset="-120"/>
              </a:rPr>
              <a:t>右图：横轴=真实能耗，纵轴=预测值。MLP 预测点紧密贴合对角线，极端偏离少；固定模型呈系统性偏差</a:t>
            </a:r>
            <a:endParaRPr lang="en-US" sz="1600" b="1" dirty="0"/>
          </a:p>
          <a:p>
            <a:pPr>
              <a:lnSpc>
                <a:spcPct val="125000"/>
              </a:lnSpc>
            </a:pPr>
            <a:r>
              <a:rPr lang="en-US" sz="1600" b="1" dirty="0">
                <a:solidFill>
                  <a:srgbClr val="2D2D2D"/>
                </a:solidFill>
                <a:latin typeface="Microsoft YaHei" pitchFamily="34" charset="0"/>
                <a:ea typeface="Microsoft YaHei" pitchFamily="34" charset="-122"/>
                <a:cs typeface="Microsoft YaHei" pitchFamily="34" charset="-120"/>
              </a:rPr>
              <a:t>引入坡度、拥堵、速度、载客率、温度和高峰特征后，7 维 MLP 显著优于仅用距离的固定模型 → 为调度提供更可靠的 SOC 更新</a:t>
            </a:r>
            <a:endParaRPr lang="en-US" sz="1600" b="1" dirty="0"/>
          </a:p>
        </p:txBody>
      </p:sp>
      <p:sp>
        <p:nvSpPr>
          <p:cNvPr id="2" name="矩形 1"/>
          <p:cNvSpPr/>
          <p:nvPr/>
        </p:nvSpPr>
        <p:spPr>
          <a:xfrm>
            <a:off x="1907762" y="3583478"/>
            <a:ext cx="3594254"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smtClean="0">
                <a:latin typeface="微软雅黑" panose="020B0503020204020204" pitchFamily="34" charset="-122"/>
                <a:ea typeface="微软雅黑" panose="020B0503020204020204" pitchFamily="34" charset="-122"/>
              </a:rPr>
              <a:t>1</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MLP </a:t>
            </a:r>
            <a:r>
              <a:rPr lang="zh-CN" altLang="en-US" sz="1200" b="1" dirty="0">
                <a:latin typeface="微软雅黑" panose="020B0503020204020204" pitchFamily="34" charset="-122"/>
                <a:ea typeface="微软雅黑" panose="020B0503020204020204" pitchFamily="34" charset="-122"/>
              </a:rPr>
              <a:t>能耗预测模型与固定里程基线性能对比</a:t>
            </a:r>
          </a:p>
        </p:txBody>
      </p:sp>
      <p:sp>
        <p:nvSpPr>
          <p:cNvPr id="3" name="矩形 2"/>
          <p:cNvSpPr/>
          <p:nvPr/>
        </p:nvSpPr>
        <p:spPr>
          <a:xfrm>
            <a:off x="7772900" y="3589141"/>
            <a:ext cx="3025187"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smtClean="0">
                <a:latin typeface="微软雅黑" panose="020B0503020204020204" pitchFamily="34" charset="-122"/>
                <a:ea typeface="微软雅黑" panose="020B0503020204020204" pitchFamily="34" charset="-122"/>
              </a:rPr>
              <a:t>2</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真实能耗与 </a:t>
            </a:r>
            <a:r>
              <a:rPr lang="en-US" altLang="zh-CN" sz="1200" b="1" dirty="0">
                <a:latin typeface="微软雅黑" panose="020B0503020204020204" pitchFamily="34" charset="-122"/>
                <a:ea typeface="微软雅黑" panose="020B0503020204020204" pitchFamily="34" charset="-122"/>
              </a:rPr>
              <a:t>MLP </a:t>
            </a:r>
            <a:r>
              <a:rPr lang="zh-CN" altLang="en-US" sz="1200" b="1" dirty="0">
                <a:latin typeface="微软雅黑" panose="020B0503020204020204" pitchFamily="34" charset="-122"/>
                <a:ea typeface="微软雅黑" panose="020B0503020204020204" pitchFamily="34" charset="-122"/>
              </a:rPr>
              <a:t>预测能耗散点对比</a:t>
            </a:r>
          </a:p>
        </p:txBody>
      </p:sp>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3257456"/>
            <a:chOff x="2584397" y="217491"/>
            <a:chExt cx="10096500" cy="3257456"/>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29685" y="243297"/>
              <a:ext cx="3416312" cy="3231650"/>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三</a:t>
              </a:r>
              <a:r>
                <a:rPr lang="zh-CN" altLang="en-US" sz="1200" dirty="0">
                  <a:solidFill>
                    <a:schemeClr val="bg1"/>
                  </a:solidFill>
                  <a:latin typeface="微软雅黑" panose="020B0503020204020204" pitchFamily="34" charset="-122"/>
                  <a:ea typeface="微软雅黑" panose="020B0503020204020204" pitchFamily="34" charset="-122"/>
                </a:rPr>
                <a:t>阶段调度总览：规模越大，智能优化价值越高</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pic>
        <p:nvPicPr>
          <p:cNvPr id="24" name="Image 0" descr="C:\Users\Administrator\Desktop\greenlowcarbon\plannin\ebus\outputs\figures\scenario_report_dashboard.png"/>
          <p:cNvPicPr>
            <a:picLocks noChangeAspect="1"/>
          </p:cNvPicPr>
          <p:nvPr/>
        </p:nvPicPr>
        <p:blipFill>
          <a:blip r:embed="rId4"/>
          <a:stretch>
            <a:fillRect/>
          </a:stretch>
        </p:blipFill>
        <p:spPr>
          <a:xfrm>
            <a:off x="924863" y="809545"/>
            <a:ext cx="5946330" cy="3980877"/>
          </a:xfrm>
          <a:prstGeom prst="rect">
            <a:avLst/>
          </a:prstGeom>
        </p:spPr>
      </p:pic>
      <p:sp>
        <p:nvSpPr>
          <p:cNvPr id="25" name="Shape 8"/>
          <p:cNvSpPr/>
          <p:nvPr/>
        </p:nvSpPr>
        <p:spPr>
          <a:xfrm>
            <a:off x="7394737" y="809545"/>
            <a:ext cx="4126703" cy="3988032"/>
          </a:xfrm>
          <a:prstGeom prst="roundRect">
            <a:avLst>
              <a:gd name="adj" fmla="val 2143"/>
            </a:avLst>
          </a:prstGeom>
          <a:solidFill>
            <a:srgbClr val="F8F5F0"/>
          </a:solidFill>
          <a:ln w="5080">
            <a:solidFill>
              <a:srgbClr val="C4A35A">
                <a:alpha val="30000"/>
              </a:srgbClr>
            </a:solidFill>
            <a:prstDash val="solid"/>
          </a:ln>
        </p:spPr>
      </p:sp>
      <p:sp>
        <p:nvSpPr>
          <p:cNvPr id="27" name="Text 10"/>
          <p:cNvSpPr/>
          <p:nvPr/>
        </p:nvSpPr>
        <p:spPr>
          <a:xfrm>
            <a:off x="7463533" y="937448"/>
            <a:ext cx="2224963" cy="268224"/>
          </a:xfrm>
          <a:prstGeom prst="rect">
            <a:avLst/>
          </a:prstGeom>
          <a:noFill/>
          <a:ln/>
        </p:spPr>
        <p:txBody>
          <a:bodyPr wrap="square" rtlCol="0" anchor="ctr"/>
          <a:lstStyle/>
          <a:p>
            <a:r>
              <a:rPr lang="en-US" sz="1600" b="1" dirty="0" smtClean="0">
                <a:solidFill>
                  <a:srgbClr val="9B9B9B"/>
                </a:solidFill>
                <a:latin typeface="Microsoft YaHei" pitchFamily="34" charset="0"/>
                <a:ea typeface="Microsoft YaHei" pitchFamily="34" charset="-122"/>
                <a:cs typeface="Microsoft YaHei" pitchFamily="34" charset="-120"/>
              </a:rPr>
              <a:t>current </a:t>
            </a:r>
            <a:r>
              <a:rPr lang="zh-CN" altLang="en-US" sz="1600" b="1" dirty="0">
                <a:solidFill>
                  <a:srgbClr val="9B9B9B"/>
                </a:solidFill>
                <a:latin typeface="Microsoft YaHei" pitchFamily="34" charset="0"/>
                <a:ea typeface="Microsoft YaHei" pitchFamily="34" charset="-122"/>
                <a:cs typeface="Microsoft YaHei" pitchFamily="34" charset="-120"/>
              </a:rPr>
              <a:t>小规模试</a:t>
            </a:r>
            <a:r>
              <a:rPr lang="zh-CN" altLang="en-US" sz="1600" b="1" dirty="0" smtClean="0">
                <a:solidFill>
                  <a:srgbClr val="9B9B9B"/>
                </a:solidFill>
                <a:latin typeface="Microsoft YaHei" pitchFamily="34" charset="0"/>
                <a:ea typeface="Microsoft YaHei" pitchFamily="34" charset="-122"/>
                <a:cs typeface="Microsoft YaHei" pitchFamily="34" charset="-120"/>
              </a:rPr>
              <a:t>点：</a:t>
            </a:r>
            <a:endParaRPr lang="en-US" sz="1600" dirty="0"/>
          </a:p>
        </p:txBody>
      </p:sp>
      <p:sp>
        <p:nvSpPr>
          <p:cNvPr id="28" name="Text 11"/>
          <p:cNvSpPr/>
          <p:nvPr/>
        </p:nvSpPr>
        <p:spPr>
          <a:xfrm>
            <a:off x="7795260" y="1263322"/>
            <a:ext cx="3589020" cy="677879"/>
          </a:xfrm>
          <a:prstGeom prst="rect">
            <a:avLst/>
          </a:prstGeom>
          <a:noFill/>
          <a:ln/>
        </p:spPr>
        <p:txBody>
          <a:bodyPr wrap="square" rtlCol="0" anchor="ctr"/>
          <a:lstStyle/>
          <a:p>
            <a:r>
              <a:rPr lang="en-US" altLang="zh-CN" sz="1333" b="1" dirty="0" smtClean="0">
                <a:solidFill>
                  <a:srgbClr val="2D2D2D"/>
                </a:solidFill>
                <a:latin typeface="Microsoft YaHei" pitchFamily="34" charset="0"/>
                <a:ea typeface="Microsoft YaHei" pitchFamily="34" charset="-122"/>
                <a:cs typeface="Microsoft YaHei" pitchFamily="34" charset="-120"/>
              </a:rPr>
              <a:t>150 </a:t>
            </a:r>
            <a:r>
              <a:rPr lang="zh-CN" altLang="en-US" sz="1333" b="1" dirty="0">
                <a:solidFill>
                  <a:srgbClr val="2D2D2D"/>
                </a:solidFill>
                <a:latin typeface="Microsoft YaHei" pitchFamily="34" charset="0"/>
                <a:ea typeface="Microsoft YaHei" pitchFamily="34" charset="-122"/>
                <a:cs typeface="Microsoft YaHei" pitchFamily="34" charset="-120"/>
              </a:rPr>
              <a:t>辆 </a:t>
            </a:r>
            <a:r>
              <a:rPr lang="en-US" altLang="zh-CN" sz="1333" b="1" dirty="0">
                <a:solidFill>
                  <a:srgbClr val="2D2D2D"/>
                </a:solidFill>
                <a:latin typeface="Microsoft YaHei" pitchFamily="34" charset="0"/>
                <a:ea typeface="Microsoft YaHei" pitchFamily="34" charset="-122"/>
                <a:cs typeface="Microsoft YaHei" pitchFamily="34" charset="-120"/>
              </a:rPr>
              <a:t>/ 1,713 </a:t>
            </a:r>
            <a:r>
              <a:rPr lang="zh-CN" altLang="en-US" sz="1333" b="1" dirty="0">
                <a:solidFill>
                  <a:srgbClr val="2D2D2D"/>
                </a:solidFill>
                <a:latin typeface="Microsoft YaHei" pitchFamily="34" charset="0"/>
                <a:ea typeface="Microsoft YaHei" pitchFamily="34" charset="-122"/>
                <a:cs typeface="Microsoft YaHei" pitchFamily="34" charset="-120"/>
              </a:rPr>
              <a:t>班</a:t>
            </a:r>
            <a:r>
              <a:rPr lang="zh-CN" altLang="en-US" sz="1333" b="1" dirty="0" smtClean="0">
                <a:solidFill>
                  <a:srgbClr val="2D2D2D"/>
                </a:solidFill>
                <a:latin typeface="Microsoft YaHei" pitchFamily="34" charset="0"/>
                <a:ea typeface="Microsoft YaHei" pitchFamily="34" charset="-122"/>
                <a:cs typeface="Microsoft YaHei" pitchFamily="34" charset="-120"/>
              </a:rPr>
              <a:t>次</a:t>
            </a:r>
            <a:endParaRPr lang="en-US" altLang="zh-CN" sz="1333" b="1" dirty="0" smtClean="0">
              <a:solidFill>
                <a:srgbClr val="2D2D2D"/>
              </a:solidFill>
              <a:latin typeface="Microsoft YaHei" pitchFamily="34" charset="0"/>
              <a:ea typeface="Microsoft YaHei" pitchFamily="34" charset="-122"/>
              <a:cs typeface="Microsoft YaHei" pitchFamily="34" charset="-120"/>
            </a:endParaRPr>
          </a:p>
          <a:p>
            <a:r>
              <a:rPr lang="en-US" sz="1333" b="1" dirty="0" smtClean="0">
                <a:solidFill>
                  <a:srgbClr val="2D2D2D"/>
                </a:solidFill>
                <a:latin typeface="Microsoft YaHei" pitchFamily="34" charset="0"/>
                <a:ea typeface="Microsoft YaHei" pitchFamily="34" charset="-122"/>
                <a:cs typeface="Microsoft YaHei" pitchFamily="34" charset="-120"/>
              </a:rPr>
              <a:t>SOC </a:t>
            </a:r>
            <a:r>
              <a:rPr lang="zh-CN" altLang="en-US" sz="1333" b="1" dirty="0">
                <a:solidFill>
                  <a:srgbClr val="2D2D2D"/>
                </a:solidFill>
                <a:latin typeface="Microsoft YaHei" pitchFamily="34" charset="0"/>
                <a:ea typeface="Microsoft YaHei" pitchFamily="34" charset="-122"/>
                <a:cs typeface="Microsoft YaHei" pitchFamily="34" charset="-120"/>
              </a:rPr>
              <a:t>全程充足，几乎无充电冲</a:t>
            </a:r>
            <a:r>
              <a:rPr lang="zh-CN" altLang="en-US" sz="1333" b="1" dirty="0" smtClean="0">
                <a:solidFill>
                  <a:srgbClr val="2D2D2D"/>
                </a:solidFill>
                <a:latin typeface="Microsoft YaHei" pitchFamily="34" charset="0"/>
                <a:ea typeface="Microsoft YaHei" pitchFamily="34" charset="-122"/>
                <a:cs typeface="Microsoft YaHei" pitchFamily="34" charset="-120"/>
              </a:rPr>
              <a:t>突</a:t>
            </a:r>
            <a:endParaRPr lang="en-US" altLang="zh-CN" sz="1333" b="1" dirty="0" smtClean="0">
              <a:solidFill>
                <a:srgbClr val="2D2D2D"/>
              </a:solidFill>
              <a:latin typeface="Microsoft YaHei" pitchFamily="34" charset="0"/>
              <a:ea typeface="Microsoft YaHei" pitchFamily="34" charset="-122"/>
              <a:cs typeface="Microsoft YaHei" pitchFamily="34" charset="-120"/>
            </a:endParaRPr>
          </a:p>
          <a:p>
            <a:r>
              <a:rPr lang="zh-CN" altLang="en-US" sz="1333" b="1" dirty="0" smtClean="0">
                <a:solidFill>
                  <a:srgbClr val="2D2D2D"/>
                </a:solidFill>
                <a:latin typeface="Microsoft YaHei" pitchFamily="34" charset="0"/>
                <a:ea typeface="Microsoft YaHei" pitchFamily="34" charset="-122"/>
                <a:cs typeface="Microsoft YaHei" pitchFamily="34" charset="-120"/>
              </a:rPr>
              <a:t>主</a:t>
            </a:r>
            <a:r>
              <a:rPr lang="zh-CN" altLang="en-US" sz="1333" b="1" dirty="0">
                <a:solidFill>
                  <a:srgbClr val="2D2D2D"/>
                </a:solidFill>
                <a:latin typeface="Microsoft YaHei" pitchFamily="34" charset="0"/>
                <a:ea typeface="Microsoft YaHei" pitchFamily="34" charset="-122"/>
                <a:cs typeface="Microsoft YaHei" pitchFamily="34" charset="-120"/>
              </a:rPr>
              <a:t>要用于验证流程可运行</a:t>
            </a:r>
            <a:endParaRPr lang="en-US" sz="1333" b="1" dirty="0"/>
          </a:p>
        </p:txBody>
      </p:sp>
      <p:sp>
        <p:nvSpPr>
          <p:cNvPr id="30" name="Text 13"/>
          <p:cNvSpPr/>
          <p:nvPr/>
        </p:nvSpPr>
        <p:spPr>
          <a:xfrm>
            <a:off x="7493936" y="2165680"/>
            <a:ext cx="2194560" cy="268224"/>
          </a:xfrm>
          <a:prstGeom prst="rect">
            <a:avLst/>
          </a:prstGeom>
          <a:noFill/>
          <a:ln/>
        </p:spPr>
        <p:txBody>
          <a:bodyPr wrap="square" rtlCol="0" anchor="ctr"/>
          <a:lstStyle/>
          <a:p>
            <a:r>
              <a:rPr lang="en-US" sz="1600" b="1" dirty="0" smtClean="0">
                <a:solidFill>
                  <a:srgbClr val="2E7D32"/>
                </a:solidFill>
                <a:latin typeface="Microsoft YaHei" pitchFamily="34" charset="0"/>
                <a:ea typeface="Microsoft YaHei" pitchFamily="34" charset="-122"/>
                <a:cs typeface="Microsoft YaHei" pitchFamily="34" charset="-120"/>
              </a:rPr>
              <a:t>planned </a:t>
            </a:r>
            <a:r>
              <a:rPr lang="zh-CN" altLang="en-US" sz="1600" b="1" dirty="0">
                <a:solidFill>
                  <a:srgbClr val="2E7D32"/>
                </a:solidFill>
                <a:latin typeface="Microsoft YaHei" pitchFamily="34" charset="0"/>
                <a:ea typeface="Microsoft YaHei" pitchFamily="34" charset="-122"/>
                <a:cs typeface="Microsoft YaHei" pitchFamily="34" charset="-120"/>
              </a:rPr>
              <a:t>近期拓</a:t>
            </a:r>
            <a:r>
              <a:rPr lang="zh-CN" altLang="en-US" sz="1600" b="1" dirty="0" smtClean="0">
                <a:solidFill>
                  <a:srgbClr val="2E7D32"/>
                </a:solidFill>
                <a:latin typeface="Microsoft YaHei" pitchFamily="34" charset="0"/>
                <a:ea typeface="Microsoft YaHei" pitchFamily="34" charset="-122"/>
                <a:cs typeface="Microsoft YaHei" pitchFamily="34" charset="-120"/>
              </a:rPr>
              <a:t>展：</a:t>
            </a:r>
            <a:endParaRPr lang="en-US" sz="1600" dirty="0"/>
          </a:p>
        </p:txBody>
      </p:sp>
      <p:sp>
        <p:nvSpPr>
          <p:cNvPr id="43" name="Text 16"/>
          <p:cNvSpPr/>
          <p:nvPr/>
        </p:nvSpPr>
        <p:spPr>
          <a:xfrm>
            <a:off x="7493936" y="3470425"/>
            <a:ext cx="1644015" cy="268224"/>
          </a:xfrm>
          <a:prstGeom prst="rect">
            <a:avLst/>
          </a:prstGeom>
          <a:noFill/>
          <a:ln/>
        </p:spPr>
        <p:txBody>
          <a:bodyPr wrap="square" rtlCol="0" anchor="ctr"/>
          <a:lstStyle/>
          <a:p>
            <a:r>
              <a:rPr lang="en-US" sz="1600" b="1" dirty="0" smtClean="0">
                <a:solidFill>
                  <a:srgbClr val="E65100"/>
                </a:solidFill>
                <a:latin typeface="Microsoft YaHei" pitchFamily="34" charset="0"/>
                <a:ea typeface="Microsoft YaHei" pitchFamily="34" charset="-122"/>
                <a:cs typeface="Microsoft YaHei" pitchFamily="34" charset="-120"/>
              </a:rPr>
              <a:t>full </a:t>
            </a:r>
            <a:r>
              <a:rPr lang="zh-CN" altLang="en-US" sz="1600" b="1" dirty="0">
                <a:solidFill>
                  <a:srgbClr val="E65100"/>
                </a:solidFill>
                <a:latin typeface="Microsoft YaHei" pitchFamily="34" charset="0"/>
                <a:ea typeface="Microsoft YaHei" pitchFamily="34" charset="-122"/>
                <a:cs typeface="Microsoft YaHei" pitchFamily="34" charset="-120"/>
              </a:rPr>
              <a:t>全面覆</a:t>
            </a:r>
            <a:r>
              <a:rPr lang="zh-CN" altLang="en-US" sz="1600" b="1" dirty="0" smtClean="0">
                <a:solidFill>
                  <a:srgbClr val="E65100"/>
                </a:solidFill>
                <a:latin typeface="Microsoft YaHei" pitchFamily="34" charset="0"/>
                <a:ea typeface="Microsoft YaHei" pitchFamily="34" charset="-122"/>
                <a:cs typeface="Microsoft YaHei" pitchFamily="34" charset="-120"/>
              </a:rPr>
              <a:t>盖：</a:t>
            </a:r>
            <a:endParaRPr lang="en-US" sz="1600" dirty="0"/>
          </a:p>
        </p:txBody>
      </p:sp>
      <p:sp>
        <p:nvSpPr>
          <p:cNvPr id="44" name="Text 17"/>
          <p:cNvSpPr/>
          <p:nvPr/>
        </p:nvSpPr>
        <p:spPr>
          <a:xfrm>
            <a:off x="7795259" y="3775366"/>
            <a:ext cx="3589021" cy="890243"/>
          </a:xfrm>
          <a:prstGeom prst="rect">
            <a:avLst/>
          </a:prstGeom>
          <a:noFill/>
          <a:ln/>
        </p:spPr>
        <p:txBody>
          <a:bodyPr wrap="square" rtlCol="0" anchor="ctr"/>
          <a:lstStyle/>
          <a:p>
            <a:r>
              <a:rPr lang="en-US" altLang="zh-CN" sz="1333" b="1" dirty="0" smtClean="0">
                <a:solidFill>
                  <a:srgbClr val="2D2D2D"/>
                </a:solidFill>
                <a:latin typeface="Microsoft YaHei" pitchFamily="34" charset="0"/>
                <a:ea typeface="Microsoft YaHei" pitchFamily="34" charset="-122"/>
                <a:cs typeface="Microsoft YaHei" pitchFamily="34" charset="-120"/>
              </a:rPr>
              <a:t>5,870 </a:t>
            </a:r>
            <a:r>
              <a:rPr lang="zh-CN" altLang="en-US" sz="1333" b="1" dirty="0">
                <a:solidFill>
                  <a:srgbClr val="2D2D2D"/>
                </a:solidFill>
                <a:latin typeface="Microsoft YaHei" pitchFamily="34" charset="0"/>
                <a:ea typeface="Microsoft YaHei" pitchFamily="34" charset="-122"/>
                <a:cs typeface="Microsoft YaHei" pitchFamily="34" charset="-120"/>
              </a:rPr>
              <a:t>辆 </a:t>
            </a:r>
            <a:r>
              <a:rPr lang="en-US" altLang="zh-CN" sz="1333" b="1" dirty="0">
                <a:solidFill>
                  <a:srgbClr val="2D2D2D"/>
                </a:solidFill>
                <a:latin typeface="Microsoft YaHei" pitchFamily="34" charset="0"/>
                <a:ea typeface="Microsoft YaHei" pitchFamily="34" charset="-122"/>
                <a:cs typeface="Microsoft YaHei" pitchFamily="34" charset="-120"/>
              </a:rPr>
              <a:t>/ 77,120 </a:t>
            </a:r>
            <a:r>
              <a:rPr lang="zh-CN" altLang="en-US" sz="1333" b="1" dirty="0">
                <a:solidFill>
                  <a:srgbClr val="2D2D2D"/>
                </a:solidFill>
                <a:latin typeface="Microsoft YaHei" pitchFamily="34" charset="0"/>
                <a:ea typeface="Microsoft YaHei" pitchFamily="34" charset="-122"/>
                <a:cs typeface="Microsoft YaHei" pitchFamily="34" charset="-120"/>
              </a:rPr>
              <a:t>班</a:t>
            </a:r>
            <a:r>
              <a:rPr lang="zh-CN" altLang="en-US" sz="1333" b="1" dirty="0" smtClean="0">
                <a:solidFill>
                  <a:srgbClr val="2D2D2D"/>
                </a:solidFill>
                <a:latin typeface="Microsoft YaHei" pitchFamily="34" charset="0"/>
                <a:ea typeface="Microsoft YaHei" pitchFamily="34" charset="-122"/>
                <a:cs typeface="Microsoft YaHei" pitchFamily="34" charset="-120"/>
              </a:rPr>
              <a:t>次</a:t>
            </a:r>
            <a:endParaRPr lang="en-US" altLang="zh-CN" sz="1333" b="1" dirty="0" smtClean="0">
              <a:solidFill>
                <a:srgbClr val="2D2D2D"/>
              </a:solidFill>
              <a:latin typeface="Microsoft YaHei" pitchFamily="34" charset="0"/>
              <a:ea typeface="Microsoft YaHei" pitchFamily="34" charset="-122"/>
              <a:cs typeface="Microsoft YaHei" pitchFamily="34" charset="-120"/>
            </a:endParaRPr>
          </a:p>
          <a:p>
            <a:r>
              <a:rPr lang="zh-CN" altLang="en-US" sz="1333" b="1" dirty="0" smtClean="0">
                <a:solidFill>
                  <a:srgbClr val="2D2D2D"/>
                </a:solidFill>
                <a:latin typeface="Microsoft YaHei" pitchFamily="34" charset="0"/>
                <a:ea typeface="Microsoft YaHei" pitchFamily="34" charset="-122"/>
                <a:cs typeface="Microsoft YaHei" pitchFamily="34" charset="-120"/>
              </a:rPr>
              <a:t>充</a:t>
            </a:r>
            <a:r>
              <a:rPr lang="zh-CN" altLang="en-US" sz="1333" b="1" dirty="0">
                <a:solidFill>
                  <a:srgbClr val="2D2D2D"/>
                </a:solidFill>
                <a:latin typeface="Microsoft YaHei" pitchFamily="34" charset="0"/>
                <a:ea typeface="Microsoft YaHei" pitchFamily="34" charset="-122"/>
                <a:cs typeface="Microsoft YaHei" pitchFamily="34" charset="-120"/>
              </a:rPr>
              <a:t>电成为主要瓶</a:t>
            </a:r>
            <a:r>
              <a:rPr lang="zh-CN" altLang="en-US" sz="1333" b="1" dirty="0" smtClean="0">
                <a:solidFill>
                  <a:srgbClr val="2D2D2D"/>
                </a:solidFill>
                <a:latin typeface="Microsoft YaHei" pitchFamily="34" charset="0"/>
                <a:ea typeface="Microsoft YaHei" pitchFamily="34" charset="-122"/>
                <a:cs typeface="Microsoft YaHei" pitchFamily="34" charset="-120"/>
              </a:rPr>
              <a:t>颈</a:t>
            </a:r>
            <a:endParaRPr lang="en-US" altLang="zh-CN" sz="1333" b="1" dirty="0" smtClean="0">
              <a:solidFill>
                <a:srgbClr val="2D2D2D"/>
              </a:solidFill>
              <a:latin typeface="Microsoft YaHei" pitchFamily="34" charset="0"/>
              <a:ea typeface="Microsoft YaHei" pitchFamily="34" charset="-122"/>
              <a:cs typeface="Microsoft YaHei" pitchFamily="34" charset="-120"/>
            </a:endParaRPr>
          </a:p>
          <a:p>
            <a:r>
              <a:rPr lang="en-US" sz="1333" b="1" dirty="0" smtClean="0">
                <a:solidFill>
                  <a:srgbClr val="2D2D2D"/>
                </a:solidFill>
                <a:latin typeface="Microsoft YaHei" pitchFamily="34" charset="0"/>
                <a:ea typeface="Microsoft YaHei" pitchFamily="34" charset="-122"/>
                <a:cs typeface="Microsoft YaHei" pitchFamily="34" charset="-120"/>
              </a:rPr>
              <a:t>GA </a:t>
            </a:r>
            <a:r>
              <a:rPr lang="zh-CN" altLang="en-US" sz="1333" b="1" dirty="0">
                <a:solidFill>
                  <a:srgbClr val="2D2D2D"/>
                </a:solidFill>
                <a:latin typeface="Microsoft YaHei" pitchFamily="34" charset="0"/>
                <a:ea typeface="Microsoft YaHei" pitchFamily="34" charset="-122"/>
                <a:cs typeface="Microsoft YaHei" pitchFamily="34" charset="-120"/>
              </a:rPr>
              <a:t>降成本 </a:t>
            </a:r>
            <a:r>
              <a:rPr lang="en-US" altLang="zh-CN" sz="1333" b="1" dirty="0">
                <a:solidFill>
                  <a:srgbClr val="2D2D2D"/>
                </a:solidFill>
                <a:latin typeface="Microsoft YaHei" pitchFamily="34" charset="0"/>
                <a:ea typeface="Microsoft YaHei" pitchFamily="34" charset="-122"/>
                <a:cs typeface="Microsoft YaHei" pitchFamily="34" charset="-120"/>
              </a:rPr>
              <a:t>35.8%</a:t>
            </a:r>
            <a:r>
              <a:rPr lang="zh-CN" altLang="en-US" sz="1333" b="1" dirty="0">
                <a:solidFill>
                  <a:srgbClr val="2D2D2D"/>
                </a:solidFill>
                <a:latin typeface="Microsoft YaHei" pitchFamily="34" charset="0"/>
                <a:ea typeface="Microsoft YaHei" pitchFamily="34" charset="-122"/>
                <a:cs typeface="Microsoft YaHei" pitchFamily="34" charset="-120"/>
              </a:rPr>
              <a:t>，平均等待降低 </a:t>
            </a:r>
            <a:r>
              <a:rPr lang="en-US" altLang="zh-CN" sz="1333" b="1" dirty="0">
                <a:solidFill>
                  <a:srgbClr val="2D2D2D"/>
                </a:solidFill>
                <a:latin typeface="Microsoft YaHei" pitchFamily="34" charset="0"/>
                <a:ea typeface="Microsoft YaHei" pitchFamily="34" charset="-122"/>
                <a:cs typeface="Microsoft YaHei" pitchFamily="34" charset="-120"/>
              </a:rPr>
              <a:t>74.5%</a:t>
            </a:r>
            <a:endParaRPr lang="en-US" sz="1333" b="1" dirty="0"/>
          </a:p>
        </p:txBody>
      </p:sp>
      <p:sp>
        <p:nvSpPr>
          <p:cNvPr id="46" name="Shape 19"/>
          <p:cNvSpPr/>
          <p:nvPr/>
        </p:nvSpPr>
        <p:spPr>
          <a:xfrm>
            <a:off x="609600" y="5099177"/>
            <a:ext cx="11094720" cy="1057782"/>
          </a:xfrm>
          <a:prstGeom prst="roundRect">
            <a:avLst>
              <a:gd name="adj" fmla="val 5000"/>
            </a:avLst>
          </a:prstGeom>
          <a:solidFill>
            <a:srgbClr val="F8F5F0"/>
          </a:solidFill>
          <a:ln w="5080">
            <a:solidFill>
              <a:srgbClr val="C4A35A">
                <a:alpha val="30000"/>
              </a:srgbClr>
            </a:solidFill>
            <a:prstDash val="solid"/>
          </a:ln>
        </p:spPr>
      </p:sp>
      <p:sp>
        <p:nvSpPr>
          <p:cNvPr id="47" name="Text 20"/>
          <p:cNvSpPr/>
          <p:nvPr/>
        </p:nvSpPr>
        <p:spPr>
          <a:xfrm>
            <a:off x="792480" y="5026498"/>
            <a:ext cx="10728960" cy="1219200"/>
          </a:xfrm>
          <a:prstGeom prst="rect">
            <a:avLst/>
          </a:prstGeom>
          <a:noFill/>
          <a:ln/>
        </p:spPr>
        <p:txBody>
          <a:bodyPr wrap="square" rtlCol="0" anchor="ctr"/>
          <a:lstStyle/>
          <a:p>
            <a:pPr>
              <a:lnSpc>
                <a:spcPct val="125000"/>
              </a:lnSpc>
            </a:pPr>
            <a:r>
              <a:rPr lang="zh-CN" altLang="en-US" sz="1600" b="1" dirty="0" smtClean="0">
                <a:solidFill>
                  <a:srgbClr val="2D2D2D"/>
                </a:solidFill>
                <a:latin typeface="Microsoft YaHei" pitchFamily="34" charset="0"/>
                <a:ea typeface="Microsoft YaHei" pitchFamily="34" charset="-122"/>
                <a:cs typeface="Microsoft YaHei" pitchFamily="34" charset="-120"/>
              </a:rPr>
              <a:t>从 </a:t>
            </a:r>
            <a:r>
              <a:rPr lang="en-US" sz="1600" b="1" dirty="0">
                <a:solidFill>
                  <a:srgbClr val="2D2D2D"/>
                </a:solidFill>
                <a:latin typeface="Microsoft YaHei" pitchFamily="34" charset="0"/>
                <a:ea typeface="Microsoft YaHei" pitchFamily="34" charset="-122"/>
                <a:cs typeface="Microsoft YaHei" pitchFamily="34" charset="-120"/>
              </a:rPr>
              <a:t>current </a:t>
            </a:r>
            <a:r>
              <a:rPr lang="zh-CN" altLang="en-US" sz="1600" b="1" dirty="0">
                <a:solidFill>
                  <a:srgbClr val="2D2D2D"/>
                </a:solidFill>
                <a:latin typeface="Microsoft YaHei" pitchFamily="34" charset="0"/>
                <a:ea typeface="Microsoft YaHei" pitchFamily="34" charset="-122"/>
                <a:cs typeface="Microsoft YaHei" pitchFamily="34" charset="-120"/>
              </a:rPr>
              <a:t>到 </a:t>
            </a:r>
            <a:r>
              <a:rPr lang="en-US" sz="1600" b="1" dirty="0">
                <a:solidFill>
                  <a:srgbClr val="2D2D2D"/>
                </a:solidFill>
                <a:latin typeface="Microsoft YaHei" pitchFamily="34" charset="0"/>
                <a:ea typeface="Microsoft YaHei" pitchFamily="34" charset="-122"/>
                <a:cs typeface="Microsoft YaHei" pitchFamily="34" charset="-120"/>
              </a:rPr>
              <a:t>full，</a:t>
            </a:r>
            <a:r>
              <a:rPr lang="zh-CN" altLang="en-US" sz="1600" b="1" dirty="0">
                <a:solidFill>
                  <a:srgbClr val="2D2D2D"/>
                </a:solidFill>
                <a:latin typeface="Microsoft YaHei" pitchFamily="34" charset="0"/>
                <a:ea typeface="Microsoft YaHei" pitchFamily="34" charset="-122"/>
                <a:cs typeface="Microsoft YaHei" pitchFamily="34" charset="-120"/>
              </a:rPr>
              <a:t>场景规模逐步扩大，调度难点也从“是否需要充电”转向“如何错峰充电、降低成本和减少排队”。结果表明，</a:t>
            </a:r>
            <a:r>
              <a:rPr lang="en-US" sz="1600" b="1" dirty="0">
                <a:solidFill>
                  <a:srgbClr val="2D2D2D"/>
                </a:solidFill>
                <a:latin typeface="Microsoft YaHei" pitchFamily="34" charset="0"/>
                <a:ea typeface="Microsoft YaHei" pitchFamily="34" charset="-122"/>
                <a:cs typeface="Microsoft YaHei" pitchFamily="34" charset="-120"/>
              </a:rPr>
              <a:t>GA </a:t>
            </a:r>
            <a:r>
              <a:rPr lang="zh-CN" altLang="en-US" sz="1600" b="1" dirty="0">
                <a:solidFill>
                  <a:srgbClr val="2D2D2D"/>
                </a:solidFill>
                <a:latin typeface="Microsoft YaHei" pitchFamily="34" charset="0"/>
                <a:ea typeface="Microsoft YaHei" pitchFamily="34" charset="-122"/>
                <a:cs typeface="Microsoft YaHei" pitchFamily="34" charset="-120"/>
              </a:rPr>
              <a:t>在中大规模场景下能够利用低电价窗口和全局搜索能力，降低充电成本并缓解排队等待，说明智能优化在规模化电动公交运营中更有价值。</a:t>
            </a:r>
            <a:endParaRPr lang="en-US" sz="1600" dirty="0">
              <a:solidFill>
                <a:srgbClr val="2D2D2D"/>
              </a:solidFill>
            </a:endParaRPr>
          </a:p>
        </p:txBody>
      </p:sp>
      <p:sp>
        <p:nvSpPr>
          <p:cNvPr id="2" name="矩形 1"/>
          <p:cNvSpPr/>
          <p:nvPr/>
        </p:nvSpPr>
        <p:spPr>
          <a:xfrm>
            <a:off x="2527300" y="4797577"/>
            <a:ext cx="2741456"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3</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三阶段电动化调度优化结果总览</a:t>
            </a:r>
          </a:p>
        </p:txBody>
      </p:sp>
      <p:sp>
        <p:nvSpPr>
          <p:cNvPr id="52" name="Text 11"/>
          <p:cNvSpPr/>
          <p:nvPr/>
        </p:nvSpPr>
        <p:spPr>
          <a:xfrm>
            <a:off x="7795260" y="2518246"/>
            <a:ext cx="3589020" cy="677879"/>
          </a:xfrm>
          <a:prstGeom prst="rect">
            <a:avLst/>
          </a:prstGeom>
          <a:noFill/>
          <a:ln/>
        </p:spPr>
        <p:txBody>
          <a:bodyPr wrap="square" rtlCol="0" anchor="ctr"/>
          <a:lstStyle/>
          <a:p>
            <a:r>
              <a:rPr lang="en-US" altLang="zh-CN" sz="1333" b="1" dirty="0" smtClean="0">
                <a:solidFill>
                  <a:srgbClr val="2D2D2D"/>
                </a:solidFill>
                <a:latin typeface="Microsoft YaHei" pitchFamily="34" charset="0"/>
                <a:ea typeface="Microsoft YaHei" pitchFamily="34" charset="-122"/>
                <a:cs typeface="Microsoft YaHei" pitchFamily="34" charset="-120"/>
              </a:rPr>
              <a:t>750 </a:t>
            </a:r>
            <a:r>
              <a:rPr lang="zh-CN" altLang="en-US" sz="1333" b="1" dirty="0">
                <a:solidFill>
                  <a:srgbClr val="2D2D2D"/>
                </a:solidFill>
                <a:latin typeface="Microsoft YaHei" pitchFamily="34" charset="0"/>
                <a:ea typeface="Microsoft YaHei" pitchFamily="34" charset="-122"/>
                <a:cs typeface="Microsoft YaHei" pitchFamily="34" charset="-120"/>
              </a:rPr>
              <a:t>辆 </a:t>
            </a:r>
            <a:r>
              <a:rPr lang="en-US" altLang="zh-CN" sz="1333" b="1" dirty="0">
                <a:solidFill>
                  <a:srgbClr val="2D2D2D"/>
                </a:solidFill>
                <a:latin typeface="Microsoft YaHei" pitchFamily="34" charset="0"/>
                <a:ea typeface="Microsoft YaHei" pitchFamily="34" charset="-122"/>
                <a:cs typeface="Microsoft YaHei" pitchFamily="34" charset="-120"/>
              </a:rPr>
              <a:t>/ 9,717 </a:t>
            </a:r>
            <a:r>
              <a:rPr lang="zh-CN" altLang="en-US" sz="1333" b="1" dirty="0">
                <a:solidFill>
                  <a:srgbClr val="2D2D2D"/>
                </a:solidFill>
                <a:latin typeface="Microsoft YaHei" pitchFamily="34" charset="0"/>
                <a:ea typeface="Microsoft YaHei" pitchFamily="34" charset="-122"/>
                <a:cs typeface="Microsoft YaHei" pitchFamily="34" charset="-120"/>
              </a:rPr>
              <a:t>班</a:t>
            </a:r>
            <a:r>
              <a:rPr lang="zh-CN" altLang="en-US" sz="1333" b="1" dirty="0" smtClean="0">
                <a:solidFill>
                  <a:srgbClr val="2D2D2D"/>
                </a:solidFill>
                <a:latin typeface="Microsoft YaHei" pitchFamily="34" charset="0"/>
                <a:ea typeface="Microsoft YaHei" pitchFamily="34" charset="-122"/>
                <a:cs typeface="Microsoft YaHei" pitchFamily="34" charset="-120"/>
              </a:rPr>
              <a:t>次</a:t>
            </a:r>
            <a:endParaRPr lang="en-US" altLang="zh-CN" sz="1333" b="1" dirty="0" smtClean="0">
              <a:solidFill>
                <a:srgbClr val="2D2D2D"/>
              </a:solidFill>
              <a:latin typeface="Microsoft YaHei" pitchFamily="34" charset="0"/>
              <a:ea typeface="Microsoft YaHei" pitchFamily="34" charset="-122"/>
              <a:cs typeface="Microsoft YaHei" pitchFamily="34" charset="-120"/>
            </a:endParaRPr>
          </a:p>
          <a:p>
            <a:r>
              <a:rPr lang="zh-CN" altLang="en-US" sz="1333" b="1" dirty="0" smtClean="0">
                <a:solidFill>
                  <a:srgbClr val="2D2D2D"/>
                </a:solidFill>
                <a:latin typeface="Microsoft YaHei" pitchFamily="34" charset="0"/>
                <a:ea typeface="Microsoft YaHei" pitchFamily="34" charset="-122"/>
                <a:cs typeface="Microsoft YaHei" pitchFamily="34" charset="-120"/>
              </a:rPr>
              <a:t>充</a:t>
            </a:r>
            <a:r>
              <a:rPr lang="zh-CN" altLang="en-US" sz="1333" b="1" dirty="0">
                <a:solidFill>
                  <a:srgbClr val="2D2D2D"/>
                </a:solidFill>
                <a:latin typeface="Microsoft YaHei" pitchFamily="34" charset="0"/>
                <a:ea typeface="Microsoft YaHei" pitchFamily="34" charset="-122"/>
                <a:cs typeface="Microsoft YaHei" pitchFamily="34" charset="-120"/>
              </a:rPr>
              <a:t>电需求开始出</a:t>
            </a:r>
            <a:r>
              <a:rPr lang="zh-CN" altLang="en-US" sz="1333" b="1" dirty="0" smtClean="0">
                <a:solidFill>
                  <a:srgbClr val="2D2D2D"/>
                </a:solidFill>
                <a:latin typeface="Microsoft YaHei" pitchFamily="34" charset="0"/>
                <a:ea typeface="Microsoft YaHei" pitchFamily="34" charset="-122"/>
                <a:cs typeface="Microsoft YaHei" pitchFamily="34" charset="-120"/>
              </a:rPr>
              <a:t>现</a:t>
            </a:r>
            <a:endParaRPr lang="en-US" altLang="zh-CN" sz="1333" b="1" dirty="0" smtClean="0">
              <a:solidFill>
                <a:srgbClr val="2D2D2D"/>
              </a:solidFill>
              <a:latin typeface="Microsoft YaHei" pitchFamily="34" charset="0"/>
              <a:ea typeface="Microsoft YaHei" pitchFamily="34" charset="-122"/>
              <a:cs typeface="Microsoft YaHei" pitchFamily="34" charset="-120"/>
            </a:endParaRPr>
          </a:p>
          <a:p>
            <a:r>
              <a:rPr lang="en-US" altLang="zh-CN" sz="1333" b="1" dirty="0" smtClean="0">
                <a:solidFill>
                  <a:srgbClr val="2D2D2D"/>
                </a:solidFill>
                <a:latin typeface="Microsoft YaHei" pitchFamily="34" charset="0"/>
                <a:ea typeface="Microsoft YaHei" pitchFamily="34" charset="-122"/>
                <a:cs typeface="Microsoft YaHei" pitchFamily="34" charset="-120"/>
              </a:rPr>
              <a:t>GA </a:t>
            </a:r>
            <a:r>
              <a:rPr lang="zh-CN" altLang="en-US" sz="1333" b="1" dirty="0">
                <a:solidFill>
                  <a:srgbClr val="2D2D2D"/>
                </a:solidFill>
                <a:latin typeface="Microsoft YaHei" pitchFamily="34" charset="0"/>
                <a:ea typeface="Microsoft YaHei" pitchFamily="34" charset="-122"/>
                <a:cs typeface="Microsoft YaHei" pitchFamily="34" charset="-120"/>
              </a:rPr>
              <a:t>利用低电价窗口，成本降低 </a:t>
            </a:r>
            <a:r>
              <a:rPr lang="en-US" altLang="zh-CN" sz="1333" b="1" dirty="0">
                <a:solidFill>
                  <a:srgbClr val="2D2D2D"/>
                </a:solidFill>
                <a:latin typeface="Microsoft YaHei" pitchFamily="34" charset="0"/>
                <a:ea typeface="Microsoft YaHei" pitchFamily="34" charset="-122"/>
                <a:cs typeface="Microsoft YaHei" pitchFamily="34" charset="-120"/>
              </a:rPr>
              <a:t>49.9%</a:t>
            </a:r>
            <a:endParaRPr lang="en-US" sz="1333" b="1" dirty="0"/>
          </a:p>
        </p:txBody>
      </p:sp>
    </p:spTree>
    <p:extLst>
      <p:ext uri="{BB962C8B-B14F-4D97-AF65-F5344CB8AC3E}">
        <p14:creationId xmlns:p14="http://schemas.microsoft.com/office/powerpoint/2010/main" val="4275026989"/>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3442122"/>
            <a:chOff x="2584397" y="217491"/>
            <a:chExt cx="10096500" cy="3442122"/>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38612" y="243297"/>
              <a:ext cx="1569652" cy="3416316"/>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成</a:t>
              </a:r>
              <a:r>
                <a:rPr lang="zh-CN" altLang="en-US" sz="1200" dirty="0">
                  <a:solidFill>
                    <a:schemeClr val="bg1"/>
                  </a:solidFill>
                  <a:latin typeface="微软雅黑" panose="020B0503020204020204" pitchFamily="34" charset="-122"/>
                  <a:ea typeface="微软雅黑" panose="020B0503020204020204" pitchFamily="34" charset="-122"/>
                </a:rPr>
                <a:t>本节省与等待改善</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pic>
        <p:nvPicPr>
          <p:cNvPr id="48" name="Image 0" descr="C:\Users\Administrator\Desktop\greenlowcarbon\plannin\ebus\outputs\figures\scenario_cost_savings.png"/>
          <p:cNvPicPr>
            <a:picLocks noChangeAspect="1"/>
          </p:cNvPicPr>
          <p:nvPr/>
        </p:nvPicPr>
        <p:blipFill>
          <a:blip r:embed="rId4"/>
          <a:stretch>
            <a:fillRect/>
          </a:stretch>
        </p:blipFill>
        <p:spPr>
          <a:xfrm>
            <a:off x="278866" y="836675"/>
            <a:ext cx="5473352" cy="3198308"/>
          </a:xfrm>
          <a:prstGeom prst="rect">
            <a:avLst/>
          </a:prstGeom>
        </p:spPr>
      </p:pic>
      <p:pic>
        <p:nvPicPr>
          <p:cNvPr id="49" name="Image 1" descr="C:\Users\Administrator\Desktop\greenlowcarbon\plannin\ebus\outputs\figures\scenario_full_wait_reduction.png"/>
          <p:cNvPicPr>
            <a:picLocks noChangeAspect="1"/>
          </p:cNvPicPr>
          <p:nvPr/>
        </p:nvPicPr>
        <p:blipFill>
          <a:blip r:embed="rId5"/>
          <a:stretch>
            <a:fillRect/>
          </a:stretch>
        </p:blipFill>
        <p:spPr>
          <a:xfrm>
            <a:off x="6145824" y="836676"/>
            <a:ext cx="5829574" cy="3241408"/>
          </a:xfrm>
          <a:prstGeom prst="rect">
            <a:avLst/>
          </a:prstGeom>
        </p:spPr>
      </p:pic>
      <p:sp>
        <p:nvSpPr>
          <p:cNvPr id="50" name="Shape 8"/>
          <p:cNvSpPr/>
          <p:nvPr/>
        </p:nvSpPr>
        <p:spPr>
          <a:xfrm>
            <a:off x="609600" y="4384262"/>
            <a:ext cx="11094720" cy="1772698"/>
          </a:xfrm>
          <a:prstGeom prst="roundRect">
            <a:avLst>
              <a:gd name="adj" fmla="val 3529"/>
            </a:avLst>
          </a:prstGeom>
          <a:solidFill>
            <a:srgbClr val="F8F5F0"/>
          </a:solidFill>
          <a:ln w="5080">
            <a:solidFill>
              <a:srgbClr val="C4A35A">
                <a:alpha val="30000"/>
              </a:srgbClr>
            </a:solidFill>
            <a:prstDash val="solid"/>
          </a:ln>
        </p:spPr>
      </p:sp>
      <p:sp>
        <p:nvSpPr>
          <p:cNvPr id="51" name="Text 9"/>
          <p:cNvSpPr/>
          <p:nvPr/>
        </p:nvSpPr>
        <p:spPr>
          <a:xfrm>
            <a:off x="792480" y="5139052"/>
            <a:ext cx="10728960" cy="487680"/>
          </a:xfrm>
          <a:prstGeom prst="rect">
            <a:avLst/>
          </a:prstGeom>
          <a:noFill/>
          <a:ln/>
        </p:spPr>
        <p:txBody>
          <a:bodyPr wrap="square" rtlCol="0" anchor="ctr"/>
          <a:lstStyle/>
          <a:p>
            <a:pPr marL="285750" indent="-285750">
              <a:buFont typeface="Wingdings" panose="05000000000000000000" pitchFamily="2" charset="2"/>
              <a:buChar char="Ø"/>
            </a:pPr>
            <a:r>
              <a:rPr lang="zh-CN" altLang="en-US" sz="1600" b="1" dirty="0" smtClean="0">
                <a:solidFill>
                  <a:srgbClr val="2D2D2D"/>
                </a:solidFill>
                <a:latin typeface="Microsoft YaHei" pitchFamily="34" charset="0"/>
                <a:ea typeface="Microsoft YaHei" pitchFamily="34" charset="-122"/>
                <a:cs typeface="Microsoft YaHei" pitchFamily="34" charset="-120"/>
              </a:rPr>
              <a:t>左</a:t>
            </a:r>
            <a:r>
              <a:rPr lang="zh-CN" altLang="en-US" sz="1600" b="1" dirty="0">
                <a:solidFill>
                  <a:srgbClr val="2D2D2D"/>
                </a:solidFill>
                <a:latin typeface="Microsoft YaHei" pitchFamily="34" charset="0"/>
                <a:ea typeface="Microsoft YaHei" pitchFamily="34" charset="-122"/>
                <a:cs typeface="Microsoft YaHei" pitchFamily="34" charset="-120"/>
              </a:rPr>
              <a:t>图显</a:t>
            </a:r>
            <a:r>
              <a:rPr lang="zh-CN" altLang="en-US" sz="1600" b="1" dirty="0" smtClean="0">
                <a:solidFill>
                  <a:srgbClr val="2D2D2D"/>
                </a:solidFill>
                <a:latin typeface="Microsoft YaHei" pitchFamily="34" charset="0"/>
                <a:ea typeface="Microsoft YaHei" pitchFamily="34" charset="-122"/>
                <a:cs typeface="Microsoft YaHei" pitchFamily="34" charset="-120"/>
              </a:rPr>
              <a:t>示：</a:t>
            </a:r>
            <a:r>
              <a:rPr lang="en-US" sz="1600" b="1" dirty="0" smtClean="0">
                <a:solidFill>
                  <a:srgbClr val="2D2D2D"/>
                </a:solidFill>
                <a:latin typeface="Microsoft YaHei" pitchFamily="34" charset="0"/>
                <a:ea typeface="Microsoft YaHei" pitchFamily="34" charset="-122"/>
                <a:cs typeface="Microsoft YaHei" pitchFamily="34" charset="-120"/>
              </a:rPr>
              <a:t>GA </a:t>
            </a:r>
            <a:r>
              <a:rPr lang="zh-CN" altLang="en-US" sz="1600" b="1" dirty="0">
                <a:solidFill>
                  <a:srgbClr val="2D2D2D"/>
                </a:solidFill>
                <a:latin typeface="Microsoft YaHei" pitchFamily="34" charset="0"/>
                <a:ea typeface="Microsoft YaHei" pitchFamily="34" charset="-122"/>
                <a:cs typeface="Microsoft YaHei" pitchFamily="34" charset="-120"/>
              </a:rPr>
              <a:t>在 </a:t>
            </a:r>
            <a:r>
              <a:rPr lang="en-US" sz="1600" b="1" dirty="0">
                <a:solidFill>
                  <a:srgbClr val="2D2D2D"/>
                </a:solidFill>
                <a:latin typeface="Microsoft YaHei" pitchFamily="34" charset="0"/>
                <a:ea typeface="Microsoft YaHei" pitchFamily="34" charset="-122"/>
                <a:cs typeface="Microsoft YaHei" pitchFamily="34" charset="-120"/>
              </a:rPr>
              <a:t>planned </a:t>
            </a:r>
            <a:r>
              <a:rPr lang="zh-CN" altLang="en-US" sz="1600" b="1" dirty="0">
                <a:solidFill>
                  <a:srgbClr val="2D2D2D"/>
                </a:solidFill>
                <a:latin typeface="Microsoft YaHei" pitchFamily="34" charset="0"/>
                <a:ea typeface="Microsoft YaHei" pitchFamily="34" charset="-122"/>
                <a:cs typeface="Microsoft YaHei" pitchFamily="34" charset="-120"/>
              </a:rPr>
              <a:t>场景节省约 </a:t>
            </a:r>
            <a:r>
              <a:rPr lang="en-US" sz="1600" b="1" dirty="0">
                <a:solidFill>
                  <a:srgbClr val="2D2D2D"/>
                </a:solidFill>
                <a:latin typeface="Microsoft YaHei" pitchFamily="34" charset="0"/>
                <a:ea typeface="Microsoft YaHei" pitchFamily="34" charset="-122"/>
                <a:cs typeface="Microsoft YaHei" pitchFamily="34" charset="-120"/>
              </a:rPr>
              <a:t>HK$ 59,715，</a:t>
            </a:r>
            <a:r>
              <a:rPr lang="zh-CN" altLang="en-US" sz="1600" b="1" dirty="0">
                <a:solidFill>
                  <a:srgbClr val="2D2D2D"/>
                </a:solidFill>
                <a:latin typeface="Microsoft YaHei" pitchFamily="34" charset="0"/>
                <a:ea typeface="Microsoft YaHei" pitchFamily="34" charset="-122"/>
                <a:cs typeface="Microsoft YaHei" pitchFamily="34" charset="-120"/>
              </a:rPr>
              <a:t>成本降低 </a:t>
            </a:r>
            <a:r>
              <a:rPr lang="en-US" altLang="zh-CN" sz="1600" b="1" dirty="0">
                <a:solidFill>
                  <a:srgbClr val="FF0000"/>
                </a:solidFill>
                <a:latin typeface="Microsoft YaHei" pitchFamily="34" charset="0"/>
                <a:ea typeface="Microsoft YaHei" pitchFamily="34" charset="-122"/>
                <a:cs typeface="Microsoft YaHei" pitchFamily="34" charset="-120"/>
              </a:rPr>
              <a:t>49.9%</a:t>
            </a:r>
            <a:r>
              <a:rPr lang="zh-CN" altLang="en-US" sz="1600" b="1" dirty="0">
                <a:solidFill>
                  <a:srgbClr val="2D2D2D"/>
                </a:solidFill>
                <a:latin typeface="Microsoft YaHei" pitchFamily="34" charset="0"/>
                <a:ea typeface="Microsoft YaHei" pitchFamily="34" charset="-122"/>
                <a:cs typeface="Microsoft YaHei" pitchFamily="34" charset="-120"/>
              </a:rPr>
              <a:t>；在 </a:t>
            </a:r>
            <a:r>
              <a:rPr lang="en-US" sz="1600" b="1" dirty="0">
                <a:solidFill>
                  <a:srgbClr val="2D2D2D"/>
                </a:solidFill>
                <a:latin typeface="Microsoft YaHei" pitchFamily="34" charset="0"/>
                <a:ea typeface="Microsoft YaHei" pitchFamily="34" charset="-122"/>
                <a:cs typeface="Microsoft YaHei" pitchFamily="34" charset="-120"/>
              </a:rPr>
              <a:t>full </a:t>
            </a:r>
            <a:r>
              <a:rPr lang="zh-CN" altLang="en-US" sz="1600" b="1" dirty="0">
                <a:solidFill>
                  <a:srgbClr val="2D2D2D"/>
                </a:solidFill>
                <a:latin typeface="Microsoft YaHei" pitchFamily="34" charset="0"/>
                <a:ea typeface="Microsoft YaHei" pitchFamily="34" charset="-122"/>
                <a:cs typeface="Microsoft YaHei" pitchFamily="34" charset="-120"/>
              </a:rPr>
              <a:t>场景节省约 </a:t>
            </a:r>
            <a:r>
              <a:rPr lang="en-US" sz="1600" b="1" dirty="0">
                <a:solidFill>
                  <a:srgbClr val="2D2D2D"/>
                </a:solidFill>
                <a:latin typeface="Microsoft YaHei" pitchFamily="34" charset="0"/>
                <a:ea typeface="Microsoft YaHei" pitchFamily="34" charset="-122"/>
                <a:cs typeface="Microsoft YaHei" pitchFamily="34" charset="-120"/>
              </a:rPr>
              <a:t>HK$ 565,895，</a:t>
            </a:r>
            <a:r>
              <a:rPr lang="zh-CN" altLang="en-US" sz="1600" b="1" dirty="0">
                <a:solidFill>
                  <a:srgbClr val="2D2D2D"/>
                </a:solidFill>
                <a:latin typeface="Microsoft YaHei" pitchFamily="34" charset="0"/>
                <a:ea typeface="Microsoft YaHei" pitchFamily="34" charset="-122"/>
                <a:cs typeface="Microsoft YaHei" pitchFamily="34" charset="-120"/>
              </a:rPr>
              <a:t>成本降低 </a:t>
            </a:r>
            <a:r>
              <a:rPr lang="en-US" altLang="zh-CN" sz="1600" b="1" dirty="0">
                <a:solidFill>
                  <a:srgbClr val="FF0000"/>
                </a:solidFill>
                <a:latin typeface="Microsoft YaHei" pitchFamily="34" charset="0"/>
                <a:ea typeface="Microsoft YaHei" pitchFamily="34" charset="-122"/>
                <a:cs typeface="Microsoft YaHei" pitchFamily="34" charset="-120"/>
              </a:rPr>
              <a:t>35.8%</a:t>
            </a:r>
            <a:r>
              <a:rPr lang="zh-CN" altLang="en-US" sz="1600" b="1" dirty="0" smtClean="0">
                <a:solidFill>
                  <a:srgbClr val="2D2D2D"/>
                </a:solidFill>
                <a:latin typeface="Microsoft YaHei" pitchFamily="34" charset="0"/>
                <a:ea typeface="Microsoft YaHei" pitchFamily="34" charset="-122"/>
                <a:cs typeface="Microsoft YaHei" pitchFamily="34" charset="-120"/>
              </a:rPr>
              <a:t>。</a:t>
            </a:r>
            <a:endParaRPr lang="en-US" altLang="zh-CN" sz="1600" b="1" dirty="0" smtClean="0">
              <a:solidFill>
                <a:srgbClr val="2D2D2D"/>
              </a:solidFill>
              <a:latin typeface="Microsoft YaHei" pitchFamily="34" charset="0"/>
              <a:ea typeface="Microsoft YaHei" pitchFamily="34" charset="-122"/>
              <a:cs typeface="Microsoft YaHei" pitchFamily="34" charset="-120"/>
            </a:endParaRPr>
          </a:p>
          <a:p>
            <a:pPr marL="285750" indent="-285750">
              <a:buFont typeface="Wingdings" panose="05000000000000000000" pitchFamily="2" charset="2"/>
              <a:buChar char="Ø"/>
            </a:pPr>
            <a:r>
              <a:rPr lang="zh-CN" altLang="en-US" sz="1600" b="1" dirty="0" smtClean="0">
                <a:solidFill>
                  <a:srgbClr val="2D2D2D"/>
                </a:solidFill>
                <a:latin typeface="Microsoft YaHei" pitchFamily="34" charset="0"/>
                <a:ea typeface="Microsoft YaHei" pitchFamily="34" charset="-122"/>
                <a:cs typeface="Microsoft YaHei" pitchFamily="34" charset="-120"/>
              </a:rPr>
              <a:t>右</a:t>
            </a:r>
            <a:r>
              <a:rPr lang="zh-CN" altLang="en-US" sz="1600" b="1" dirty="0">
                <a:solidFill>
                  <a:srgbClr val="2D2D2D"/>
                </a:solidFill>
                <a:latin typeface="Microsoft YaHei" pitchFamily="34" charset="0"/>
                <a:ea typeface="Microsoft YaHei" pitchFamily="34" charset="-122"/>
                <a:cs typeface="Microsoft YaHei" pitchFamily="34" charset="-120"/>
              </a:rPr>
              <a:t>图显</a:t>
            </a:r>
            <a:r>
              <a:rPr lang="zh-CN" altLang="en-US" sz="1600" b="1" dirty="0" smtClean="0">
                <a:solidFill>
                  <a:srgbClr val="2D2D2D"/>
                </a:solidFill>
                <a:latin typeface="Microsoft YaHei" pitchFamily="34" charset="0"/>
                <a:ea typeface="Microsoft YaHei" pitchFamily="34" charset="-122"/>
                <a:cs typeface="Microsoft YaHei" pitchFamily="34" charset="-120"/>
              </a:rPr>
              <a:t>示：</a:t>
            </a:r>
            <a:r>
              <a:rPr lang="en-US" sz="1600" b="1" dirty="0" smtClean="0">
                <a:solidFill>
                  <a:srgbClr val="2D2D2D"/>
                </a:solidFill>
                <a:latin typeface="Microsoft YaHei" pitchFamily="34" charset="0"/>
                <a:ea typeface="Microsoft YaHei" pitchFamily="34" charset="-122"/>
                <a:cs typeface="Microsoft YaHei" pitchFamily="34" charset="-120"/>
              </a:rPr>
              <a:t>GA </a:t>
            </a:r>
            <a:r>
              <a:rPr lang="zh-CN" altLang="en-US" sz="1600" b="1" dirty="0">
                <a:solidFill>
                  <a:srgbClr val="2D2D2D"/>
                </a:solidFill>
                <a:latin typeface="Microsoft YaHei" pitchFamily="34" charset="0"/>
                <a:ea typeface="Microsoft YaHei" pitchFamily="34" charset="-122"/>
                <a:cs typeface="Microsoft YaHei" pitchFamily="34" charset="-120"/>
              </a:rPr>
              <a:t>将平均等待时间从 </a:t>
            </a:r>
            <a:r>
              <a:rPr lang="en-US" altLang="zh-CN" sz="1600" b="1" dirty="0">
                <a:solidFill>
                  <a:srgbClr val="2D2D2D"/>
                </a:solidFill>
                <a:latin typeface="Microsoft YaHei" pitchFamily="34" charset="0"/>
                <a:ea typeface="Microsoft YaHei" pitchFamily="34" charset="-122"/>
                <a:cs typeface="Microsoft YaHei" pitchFamily="34" charset="-120"/>
              </a:rPr>
              <a:t>11.5 </a:t>
            </a:r>
            <a:r>
              <a:rPr lang="en-US" sz="1600" b="1" dirty="0">
                <a:solidFill>
                  <a:srgbClr val="2D2D2D"/>
                </a:solidFill>
                <a:latin typeface="Microsoft YaHei" pitchFamily="34" charset="0"/>
                <a:ea typeface="Microsoft YaHei" pitchFamily="34" charset="-122"/>
                <a:cs typeface="Microsoft YaHei" pitchFamily="34" charset="-120"/>
              </a:rPr>
              <a:t>min </a:t>
            </a:r>
            <a:r>
              <a:rPr lang="zh-CN" altLang="en-US" sz="1600" b="1" dirty="0">
                <a:solidFill>
                  <a:srgbClr val="2D2D2D"/>
                </a:solidFill>
                <a:latin typeface="Microsoft YaHei" pitchFamily="34" charset="0"/>
                <a:ea typeface="Microsoft YaHei" pitchFamily="34" charset="-122"/>
                <a:cs typeface="Microsoft YaHei" pitchFamily="34" charset="-120"/>
              </a:rPr>
              <a:t>降至 </a:t>
            </a:r>
            <a:r>
              <a:rPr lang="en-US" altLang="zh-CN" sz="1600" b="1" dirty="0">
                <a:solidFill>
                  <a:srgbClr val="2D2D2D"/>
                </a:solidFill>
                <a:latin typeface="Microsoft YaHei" pitchFamily="34" charset="0"/>
                <a:ea typeface="Microsoft YaHei" pitchFamily="34" charset="-122"/>
                <a:cs typeface="Microsoft YaHei" pitchFamily="34" charset="-120"/>
              </a:rPr>
              <a:t>2.9 </a:t>
            </a:r>
            <a:r>
              <a:rPr lang="en-US" sz="1600" b="1" dirty="0">
                <a:solidFill>
                  <a:srgbClr val="2D2D2D"/>
                </a:solidFill>
                <a:latin typeface="Microsoft YaHei" pitchFamily="34" charset="0"/>
                <a:ea typeface="Microsoft YaHei" pitchFamily="34" charset="-122"/>
                <a:cs typeface="Microsoft YaHei" pitchFamily="34" charset="-120"/>
              </a:rPr>
              <a:t>min，</a:t>
            </a:r>
            <a:r>
              <a:rPr lang="zh-CN" altLang="en-US" sz="1600" b="1" dirty="0">
                <a:solidFill>
                  <a:srgbClr val="2D2D2D"/>
                </a:solidFill>
                <a:latin typeface="Microsoft YaHei" pitchFamily="34" charset="0"/>
                <a:ea typeface="Microsoft YaHei" pitchFamily="34" charset="-122"/>
                <a:cs typeface="Microsoft YaHei" pitchFamily="34" charset="-120"/>
              </a:rPr>
              <a:t>将最大等待时间从 </a:t>
            </a:r>
            <a:r>
              <a:rPr lang="en-US" altLang="zh-CN" sz="1600" b="1" dirty="0">
                <a:solidFill>
                  <a:srgbClr val="2D2D2D"/>
                </a:solidFill>
                <a:latin typeface="Microsoft YaHei" pitchFamily="34" charset="0"/>
                <a:ea typeface="Microsoft YaHei" pitchFamily="34" charset="-122"/>
                <a:cs typeface="Microsoft YaHei" pitchFamily="34" charset="-120"/>
              </a:rPr>
              <a:t>92.9 </a:t>
            </a:r>
            <a:r>
              <a:rPr lang="en-US" sz="1600" b="1" dirty="0">
                <a:solidFill>
                  <a:srgbClr val="2D2D2D"/>
                </a:solidFill>
                <a:latin typeface="Microsoft YaHei" pitchFamily="34" charset="0"/>
                <a:ea typeface="Microsoft YaHei" pitchFamily="34" charset="-122"/>
                <a:cs typeface="Microsoft YaHei" pitchFamily="34" charset="-120"/>
              </a:rPr>
              <a:t>min </a:t>
            </a:r>
            <a:r>
              <a:rPr lang="zh-CN" altLang="en-US" sz="1600" b="1" dirty="0">
                <a:solidFill>
                  <a:srgbClr val="2D2D2D"/>
                </a:solidFill>
                <a:latin typeface="Microsoft YaHei" pitchFamily="34" charset="0"/>
                <a:ea typeface="Microsoft YaHei" pitchFamily="34" charset="-122"/>
                <a:cs typeface="Microsoft YaHei" pitchFamily="34" charset="-120"/>
              </a:rPr>
              <a:t>降至 </a:t>
            </a:r>
            <a:r>
              <a:rPr lang="en-US" altLang="zh-CN" sz="1600" b="1" dirty="0">
                <a:solidFill>
                  <a:srgbClr val="2D2D2D"/>
                </a:solidFill>
                <a:latin typeface="Microsoft YaHei" pitchFamily="34" charset="0"/>
                <a:ea typeface="Microsoft YaHei" pitchFamily="34" charset="-122"/>
                <a:cs typeface="Microsoft YaHei" pitchFamily="34" charset="-120"/>
              </a:rPr>
              <a:t>51.4 </a:t>
            </a:r>
            <a:r>
              <a:rPr lang="en-US" sz="1600" b="1" dirty="0">
                <a:solidFill>
                  <a:srgbClr val="2D2D2D"/>
                </a:solidFill>
                <a:latin typeface="Microsoft YaHei" pitchFamily="34" charset="0"/>
                <a:ea typeface="Microsoft YaHei" pitchFamily="34" charset="-122"/>
                <a:cs typeface="Microsoft YaHei" pitchFamily="34" charset="-120"/>
              </a:rPr>
              <a:t>min，</a:t>
            </a:r>
            <a:r>
              <a:rPr lang="zh-CN" altLang="en-US" sz="1600" b="1" dirty="0">
                <a:solidFill>
                  <a:srgbClr val="2D2D2D"/>
                </a:solidFill>
                <a:latin typeface="Microsoft YaHei" pitchFamily="34" charset="0"/>
                <a:ea typeface="Microsoft YaHei" pitchFamily="34" charset="-122"/>
                <a:cs typeface="Microsoft YaHei" pitchFamily="34" charset="-120"/>
              </a:rPr>
              <a:t>说明其不仅能</a:t>
            </a:r>
            <a:r>
              <a:rPr lang="zh-CN" altLang="en-US" sz="1600" b="1" dirty="0">
                <a:solidFill>
                  <a:srgbClr val="FF0000"/>
                </a:solidFill>
                <a:latin typeface="Microsoft YaHei" pitchFamily="34" charset="0"/>
                <a:ea typeface="Microsoft YaHei" pitchFamily="34" charset="-122"/>
                <a:cs typeface="Microsoft YaHei" pitchFamily="34" charset="-120"/>
              </a:rPr>
              <a:t>降本</a:t>
            </a:r>
            <a:r>
              <a:rPr lang="zh-CN" altLang="en-US" sz="1600" b="1" dirty="0">
                <a:solidFill>
                  <a:srgbClr val="2D2D2D"/>
                </a:solidFill>
                <a:latin typeface="Microsoft YaHei" pitchFamily="34" charset="0"/>
                <a:ea typeface="Microsoft YaHei" pitchFamily="34" charset="-122"/>
                <a:cs typeface="Microsoft YaHei" pitchFamily="34" charset="-120"/>
              </a:rPr>
              <a:t>，也能</a:t>
            </a:r>
            <a:r>
              <a:rPr lang="zh-CN" altLang="en-US" sz="1600" b="1" dirty="0">
                <a:solidFill>
                  <a:srgbClr val="FF0000"/>
                </a:solidFill>
                <a:latin typeface="Microsoft YaHei" pitchFamily="34" charset="0"/>
                <a:ea typeface="Microsoft YaHei" pitchFamily="34" charset="-122"/>
                <a:cs typeface="Microsoft YaHei" pitchFamily="34" charset="-120"/>
              </a:rPr>
              <a:t>缓解大规模充电排队</a:t>
            </a:r>
            <a:r>
              <a:rPr lang="zh-CN" altLang="en-US" sz="1600" b="1" dirty="0" smtClean="0">
                <a:solidFill>
                  <a:srgbClr val="2D2D2D"/>
                </a:solidFill>
                <a:latin typeface="Microsoft YaHei" pitchFamily="34" charset="0"/>
                <a:ea typeface="Microsoft YaHei" pitchFamily="34" charset="-122"/>
                <a:cs typeface="Microsoft YaHei" pitchFamily="34" charset="-120"/>
              </a:rPr>
              <a:t>。</a:t>
            </a:r>
            <a:endParaRPr lang="en-US" altLang="zh-CN" sz="1600" b="1" dirty="0" smtClean="0">
              <a:solidFill>
                <a:srgbClr val="2D2D2D"/>
              </a:solidFill>
              <a:latin typeface="Microsoft YaHei" pitchFamily="34" charset="0"/>
              <a:ea typeface="Microsoft YaHei" pitchFamily="34" charset="-122"/>
              <a:cs typeface="Microsoft YaHei" pitchFamily="34" charset="-120"/>
            </a:endParaRPr>
          </a:p>
          <a:p>
            <a:pPr marL="285750" indent="-285750">
              <a:buFont typeface="Wingdings" panose="05000000000000000000" pitchFamily="2" charset="2"/>
              <a:buChar char="Ø"/>
            </a:pPr>
            <a:r>
              <a:rPr lang="zh-CN" altLang="en-US" sz="1600" b="1" dirty="0">
                <a:solidFill>
                  <a:srgbClr val="2D2D2D"/>
                </a:solidFill>
                <a:latin typeface="Microsoft YaHei" pitchFamily="34" charset="0"/>
                <a:ea typeface="Microsoft YaHei" pitchFamily="34" charset="-122"/>
                <a:cs typeface="Microsoft YaHei" pitchFamily="34" charset="-120"/>
              </a:rPr>
              <a:t>现象成因：</a:t>
            </a:r>
            <a:r>
              <a:rPr lang="en-US" altLang="zh-CN" sz="1600" b="1" dirty="0">
                <a:solidFill>
                  <a:srgbClr val="2D2D2D"/>
                </a:solidFill>
                <a:latin typeface="Microsoft YaHei" pitchFamily="34" charset="0"/>
                <a:ea typeface="Microsoft YaHei" pitchFamily="34" charset="-122"/>
                <a:cs typeface="Microsoft YaHei" pitchFamily="34" charset="-120"/>
              </a:rPr>
              <a:t>Planned 阶段 GA 主要通过降低 </a:t>
            </a:r>
            <a:r>
              <a:rPr lang="en-US" altLang="zh-CN" sz="1600" b="1" dirty="0">
                <a:solidFill>
                  <a:srgbClr val="FF0000"/>
                </a:solidFill>
                <a:latin typeface="Microsoft YaHei" pitchFamily="34" charset="0"/>
                <a:ea typeface="Microsoft YaHei" pitchFamily="34" charset="-122"/>
                <a:cs typeface="Microsoft YaHei" pitchFamily="34" charset="-120"/>
              </a:rPr>
              <a:t>SOC 阈值</a:t>
            </a:r>
            <a:r>
              <a:rPr lang="en-US" altLang="zh-CN" sz="1600" b="1" dirty="0">
                <a:solidFill>
                  <a:srgbClr val="2D2D2D"/>
                </a:solidFill>
                <a:latin typeface="Microsoft YaHei" pitchFamily="34" charset="0"/>
                <a:ea typeface="Microsoft YaHei" pitchFamily="34" charset="-122"/>
                <a:cs typeface="Microsoft YaHei" pitchFamily="34" charset="-120"/>
              </a:rPr>
              <a:t>和</a:t>
            </a:r>
            <a:r>
              <a:rPr lang="en-US" altLang="zh-CN" sz="1600" b="1" dirty="0">
                <a:solidFill>
                  <a:srgbClr val="FF0000"/>
                </a:solidFill>
                <a:latin typeface="Microsoft YaHei" pitchFamily="34" charset="0"/>
                <a:ea typeface="Microsoft YaHei" pitchFamily="34" charset="-122"/>
                <a:cs typeface="Microsoft YaHei" pitchFamily="34" charset="-120"/>
              </a:rPr>
              <a:t>优先低电价充电</a:t>
            </a:r>
            <a:r>
              <a:rPr lang="en-US" altLang="zh-CN" sz="1600" b="1" dirty="0">
                <a:solidFill>
                  <a:srgbClr val="2D2D2D"/>
                </a:solidFill>
                <a:latin typeface="Microsoft YaHei" pitchFamily="34" charset="0"/>
                <a:ea typeface="Microsoft YaHei" pitchFamily="34" charset="-122"/>
                <a:cs typeface="Microsoft YaHei" pitchFamily="34" charset="-120"/>
              </a:rPr>
              <a:t>实现降本；Full 阶段大规模充电排队出现后，GA 的</a:t>
            </a:r>
            <a:r>
              <a:rPr lang="en-US" altLang="zh-CN" sz="1600" b="1" dirty="0">
                <a:solidFill>
                  <a:srgbClr val="FF0000"/>
                </a:solidFill>
                <a:latin typeface="Microsoft YaHei" pitchFamily="34" charset="0"/>
                <a:ea typeface="Microsoft YaHei" pitchFamily="34" charset="-122"/>
                <a:cs typeface="Microsoft YaHei" pitchFamily="34" charset="-120"/>
              </a:rPr>
              <a:t>全局协调</a:t>
            </a:r>
            <a:r>
              <a:rPr lang="en-US" altLang="zh-CN" sz="1600" b="1" dirty="0">
                <a:solidFill>
                  <a:srgbClr val="2D2D2D"/>
                </a:solidFill>
                <a:latin typeface="Microsoft YaHei" pitchFamily="34" charset="0"/>
                <a:ea typeface="Microsoft YaHei" pitchFamily="34" charset="-122"/>
                <a:cs typeface="Microsoft YaHei" pitchFamily="34" charset="-120"/>
              </a:rPr>
              <a:t>能力（削峰填谷、分散负荷）成为降低等待时间和峰值的关键。</a:t>
            </a:r>
            <a:endParaRPr lang="en-US" altLang="zh-CN" sz="1600" b="1" dirty="0"/>
          </a:p>
          <a:p>
            <a:pPr marL="285750" indent="-285750">
              <a:buFont typeface="Wingdings" panose="05000000000000000000" pitchFamily="2" charset="2"/>
              <a:buChar char="Ø"/>
            </a:pPr>
            <a:endParaRPr lang="en-US" sz="1600" dirty="0"/>
          </a:p>
        </p:txBody>
      </p:sp>
      <p:sp>
        <p:nvSpPr>
          <p:cNvPr id="2" name="矩形 1"/>
          <p:cNvSpPr/>
          <p:nvPr/>
        </p:nvSpPr>
        <p:spPr>
          <a:xfrm>
            <a:off x="7292665" y="4068287"/>
            <a:ext cx="3882794"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5</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Full </a:t>
            </a:r>
            <a:r>
              <a:rPr lang="zh-CN" altLang="en-US" sz="1200" b="1" dirty="0">
                <a:latin typeface="微软雅黑" panose="020B0503020204020204" pitchFamily="34" charset="-122"/>
                <a:ea typeface="微软雅黑" panose="020B0503020204020204" pitchFamily="34" charset="-122"/>
              </a:rPr>
              <a:t>场景下 </a:t>
            </a:r>
            <a:r>
              <a:rPr lang="en-US" altLang="zh-CN" sz="1200" b="1" dirty="0">
                <a:latin typeface="微软雅黑" panose="020B0503020204020204" pitchFamily="34" charset="-122"/>
                <a:ea typeface="微软雅黑" panose="020B0503020204020204" pitchFamily="34" charset="-122"/>
              </a:rPr>
              <a:t>JSQ </a:t>
            </a:r>
            <a:r>
              <a:rPr lang="zh-CN" altLang="en-US" sz="1200" b="1" dirty="0">
                <a:latin typeface="微软雅黑" panose="020B0503020204020204" pitchFamily="34" charset="-122"/>
                <a:ea typeface="微软雅黑" panose="020B0503020204020204" pitchFamily="34" charset="-122"/>
              </a:rPr>
              <a:t>与 </a:t>
            </a:r>
            <a:r>
              <a:rPr lang="en-US" altLang="zh-CN" sz="1200" b="1" dirty="0">
                <a:latin typeface="微软雅黑" panose="020B0503020204020204" pitchFamily="34" charset="-122"/>
                <a:ea typeface="微软雅黑" panose="020B0503020204020204" pitchFamily="34" charset="-122"/>
              </a:rPr>
              <a:t>GA </a:t>
            </a:r>
            <a:r>
              <a:rPr lang="zh-CN" altLang="en-US" sz="1200" b="1" dirty="0">
                <a:latin typeface="微软雅黑" panose="020B0503020204020204" pitchFamily="34" charset="-122"/>
                <a:ea typeface="微软雅黑" panose="020B0503020204020204" pitchFamily="34" charset="-122"/>
              </a:rPr>
              <a:t>的充电负荷及 </a:t>
            </a:r>
            <a:r>
              <a:rPr lang="en-US" altLang="zh-CN" sz="1200" b="1" dirty="0">
                <a:latin typeface="微软雅黑" panose="020B0503020204020204" pitchFamily="34" charset="-122"/>
                <a:ea typeface="微软雅黑" panose="020B0503020204020204" pitchFamily="34" charset="-122"/>
              </a:rPr>
              <a:t>SOC </a:t>
            </a:r>
            <a:r>
              <a:rPr lang="zh-CN" altLang="en-US" sz="1200" b="1" dirty="0">
                <a:latin typeface="微软雅黑" panose="020B0503020204020204" pitchFamily="34" charset="-122"/>
                <a:ea typeface="微软雅黑" panose="020B0503020204020204" pitchFamily="34" charset="-122"/>
              </a:rPr>
              <a:t>变化</a:t>
            </a:r>
          </a:p>
        </p:txBody>
      </p:sp>
      <p:sp>
        <p:nvSpPr>
          <p:cNvPr id="3" name="矩形 2"/>
          <p:cNvSpPr/>
          <p:nvPr/>
        </p:nvSpPr>
        <p:spPr>
          <a:xfrm>
            <a:off x="1333281" y="4073959"/>
            <a:ext cx="3712876"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4</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GA </a:t>
            </a:r>
            <a:r>
              <a:rPr lang="zh-CN" altLang="en-US" sz="1200" b="1" dirty="0">
                <a:latin typeface="微软雅黑" panose="020B0503020204020204" pitchFamily="34" charset="-122"/>
                <a:ea typeface="微软雅黑" panose="020B0503020204020204" pitchFamily="34" charset="-122"/>
              </a:rPr>
              <a:t>相比 </a:t>
            </a:r>
            <a:r>
              <a:rPr lang="en-US" altLang="zh-CN" sz="1200" b="1" dirty="0">
                <a:latin typeface="微软雅黑" panose="020B0503020204020204" pitchFamily="34" charset="-122"/>
                <a:ea typeface="微软雅黑" panose="020B0503020204020204" pitchFamily="34" charset="-122"/>
              </a:rPr>
              <a:t>JSQ </a:t>
            </a:r>
            <a:r>
              <a:rPr lang="zh-CN" altLang="en-US" sz="1200" b="1" dirty="0">
                <a:latin typeface="微软雅黑" panose="020B0503020204020204" pitchFamily="34" charset="-122"/>
                <a:ea typeface="微软雅黑" panose="020B0503020204020204" pitchFamily="34" charset="-122"/>
              </a:rPr>
              <a:t>的充电成本节省与等待时间改善</a:t>
            </a:r>
          </a:p>
        </p:txBody>
      </p:sp>
    </p:spTree>
    <p:extLst>
      <p:ext uri="{BB962C8B-B14F-4D97-AF65-F5344CB8AC3E}">
        <p14:creationId xmlns:p14="http://schemas.microsoft.com/office/powerpoint/2010/main" val="3194243816"/>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3626788"/>
            <a:chOff x="2584397" y="217491"/>
            <a:chExt cx="10096500" cy="3626788"/>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07280" y="243297"/>
              <a:ext cx="1975213" cy="3600982"/>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充</a:t>
              </a:r>
              <a:r>
                <a:rPr lang="zh-CN" altLang="en-US" sz="1200" dirty="0">
                  <a:solidFill>
                    <a:schemeClr val="bg1"/>
                  </a:solidFill>
                  <a:latin typeface="微软雅黑" panose="020B0503020204020204" pitchFamily="34" charset="-122"/>
                  <a:ea typeface="微软雅黑" panose="020B0503020204020204" pitchFamily="34" charset="-122"/>
                </a:rPr>
                <a:t>电负荷曲线与 </a:t>
              </a:r>
              <a:r>
                <a:rPr lang="en-US" altLang="zh-CN" sz="1200" dirty="0">
                  <a:solidFill>
                    <a:schemeClr val="bg1"/>
                  </a:solidFill>
                  <a:latin typeface="微软雅黑" panose="020B0503020204020204" pitchFamily="34" charset="-122"/>
                  <a:ea typeface="微软雅黑" panose="020B0503020204020204" pitchFamily="34" charset="-122"/>
                </a:rPr>
                <a:t>SOC </a:t>
              </a:r>
              <a:r>
                <a:rPr lang="zh-CN" altLang="en-US" sz="1200" dirty="0">
                  <a:solidFill>
                    <a:schemeClr val="bg1"/>
                  </a:solidFill>
                  <a:latin typeface="微软雅黑" panose="020B0503020204020204" pitchFamily="34" charset="-122"/>
                  <a:ea typeface="微软雅黑" panose="020B0503020204020204" pitchFamily="34" charset="-122"/>
                </a:rPr>
                <a:t>变化</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pic>
        <p:nvPicPr>
          <p:cNvPr id="17" name="Image 0" descr="C:\Users\Administrator\Desktop\greenlowcarbon\plannin\ebus\outputs\figures\charging_load_curve_full.png"/>
          <p:cNvPicPr>
            <a:picLocks noChangeAspect="1"/>
          </p:cNvPicPr>
          <p:nvPr/>
        </p:nvPicPr>
        <p:blipFill>
          <a:blip r:embed="rId4"/>
          <a:stretch>
            <a:fillRect/>
          </a:stretch>
        </p:blipFill>
        <p:spPr>
          <a:xfrm>
            <a:off x="761998" y="921776"/>
            <a:ext cx="4771266" cy="2492147"/>
          </a:xfrm>
          <a:prstGeom prst="rect">
            <a:avLst/>
          </a:prstGeom>
        </p:spPr>
      </p:pic>
      <p:sp>
        <p:nvSpPr>
          <p:cNvPr id="18" name="Shape 8"/>
          <p:cNvSpPr/>
          <p:nvPr/>
        </p:nvSpPr>
        <p:spPr>
          <a:xfrm>
            <a:off x="6196987" y="908525"/>
            <a:ext cx="5513630" cy="2744309"/>
          </a:xfrm>
          <a:prstGeom prst="roundRect">
            <a:avLst>
              <a:gd name="adj" fmla="val 2500"/>
            </a:avLst>
          </a:prstGeom>
          <a:solidFill>
            <a:srgbClr val="F8F5F0"/>
          </a:solidFill>
          <a:ln w="5080">
            <a:solidFill>
              <a:srgbClr val="C4A35A">
                <a:alpha val="30000"/>
              </a:srgbClr>
            </a:solidFill>
            <a:prstDash val="solid"/>
          </a:ln>
        </p:spPr>
      </p:sp>
      <p:sp>
        <p:nvSpPr>
          <p:cNvPr id="19" name="Text 9"/>
          <p:cNvSpPr/>
          <p:nvPr/>
        </p:nvSpPr>
        <p:spPr>
          <a:xfrm>
            <a:off x="6334575" y="1122382"/>
            <a:ext cx="3048000" cy="268224"/>
          </a:xfrm>
          <a:prstGeom prst="rect">
            <a:avLst/>
          </a:prstGeom>
          <a:noFill/>
          <a:ln/>
        </p:spPr>
        <p:txBody>
          <a:bodyPr wrap="square" rtlCol="0" anchor="ctr"/>
          <a:lstStyle/>
          <a:p>
            <a:r>
              <a:rPr lang="en-US" sz="1600" b="1" dirty="0" smtClean="0">
                <a:solidFill>
                  <a:srgbClr val="15548D"/>
                </a:solidFill>
                <a:latin typeface="Microsoft YaHei" pitchFamily="34" charset="0"/>
                <a:ea typeface="Microsoft YaHei" pitchFamily="34" charset="-122"/>
                <a:cs typeface="Microsoft YaHei" pitchFamily="34" charset="-120"/>
              </a:rPr>
              <a:t>负荷</a:t>
            </a:r>
            <a:r>
              <a:rPr lang="zh-CN" altLang="en-US" sz="1600" b="1" dirty="0" smtClean="0">
                <a:solidFill>
                  <a:srgbClr val="15548D"/>
                </a:solidFill>
                <a:latin typeface="Microsoft YaHei" pitchFamily="34" charset="0"/>
                <a:ea typeface="Microsoft YaHei" pitchFamily="34" charset="-122"/>
                <a:cs typeface="Microsoft YaHei" pitchFamily="34" charset="-120"/>
              </a:rPr>
              <a:t>与</a:t>
            </a:r>
            <a:r>
              <a:rPr lang="en-US" altLang="zh-CN" sz="1600" b="1" dirty="0" smtClean="0">
                <a:solidFill>
                  <a:srgbClr val="15548D"/>
                </a:solidFill>
                <a:latin typeface="Microsoft YaHei" pitchFamily="34" charset="0"/>
                <a:ea typeface="Microsoft YaHei" pitchFamily="34" charset="-122"/>
                <a:cs typeface="Microsoft YaHei" pitchFamily="34" charset="-120"/>
              </a:rPr>
              <a:t>SOC</a:t>
            </a:r>
            <a:r>
              <a:rPr lang="zh-CN" altLang="en-US" sz="1600" b="1" dirty="0" smtClean="0">
                <a:solidFill>
                  <a:srgbClr val="15548D"/>
                </a:solidFill>
                <a:latin typeface="Microsoft YaHei" pitchFamily="34" charset="0"/>
                <a:ea typeface="Microsoft YaHei" pitchFamily="34" charset="-122"/>
                <a:cs typeface="Microsoft YaHei" pitchFamily="34" charset="-120"/>
              </a:rPr>
              <a:t>变化</a:t>
            </a:r>
            <a:r>
              <a:rPr lang="en-US" sz="1600" b="1" dirty="0" smtClean="0">
                <a:solidFill>
                  <a:srgbClr val="15548D"/>
                </a:solidFill>
                <a:latin typeface="Microsoft YaHei" pitchFamily="34" charset="0"/>
                <a:ea typeface="Microsoft YaHei" pitchFamily="34" charset="-122"/>
                <a:cs typeface="Microsoft YaHei" pitchFamily="34" charset="-120"/>
              </a:rPr>
              <a:t>曲线解读:</a:t>
            </a:r>
          </a:p>
          <a:p>
            <a:pPr indent="457200"/>
            <a:endParaRPr lang="en-US" sz="1600" dirty="0">
              <a:solidFill>
                <a:srgbClr val="15548D"/>
              </a:solidFill>
            </a:endParaRPr>
          </a:p>
        </p:txBody>
      </p:sp>
      <p:sp>
        <p:nvSpPr>
          <p:cNvPr id="20" name="Text 10"/>
          <p:cNvSpPr/>
          <p:nvPr/>
        </p:nvSpPr>
        <p:spPr>
          <a:xfrm>
            <a:off x="6402642" y="1286916"/>
            <a:ext cx="5307975" cy="2367961"/>
          </a:xfrm>
          <a:prstGeom prst="rect">
            <a:avLst/>
          </a:prstGeom>
          <a:noFill/>
          <a:ln/>
        </p:spPr>
        <p:txBody>
          <a:bodyPr wrap="square" rtlCol="0" anchor="t"/>
          <a:lstStyle/>
          <a:p>
            <a:pPr marL="457189" indent="-457189">
              <a:lnSpc>
                <a:spcPct val="125000"/>
              </a:lnSpc>
              <a:buSzPct val="100000"/>
              <a:buChar char="•"/>
            </a:pPr>
            <a:r>
              <a:rPr lang="zh-CN" altLang="en-US" sz="1400" b="1" dirty="0">
                <a:solidFill>
                  <a:srgbClr val="2D2D2D"/>
                </a:solidFill>
                <a:latin typeface="微软雅黑" panose="020B0503020204020204" pitchFamily="34" charset="-122"/>
                <a:ea typeface="微软雅黑" panose="020B0503020204020204" pitchFamily="34" charset="-122"/>
              </a:rPr>
              <a:t>上图：蓝线为 </a:t>
            </a:r>
            <a:r>
              <a:rPr lang="en-US" sz="1400" b="1" dirty="0">
                <a:solidFill>
                  <a:srgbClr val="2D2D2D"/>
                </a:solidFill>
                <a:latin typeface="微软雅黑" panose="020B0503020204020204" pitchFamily="34" charset="-122"/>
                <a:ea typeface="微软雅黑" panose="020B0503020204020204" pitchFamily="34" charset="-122"/>
              </a:rPr>
              <a:t>JSQ，</a:t>
            </a:r>
            <a:r>
              <a:rPr lang="zh-CN" altLang="en-US" sz="1400" b="1" dirty="0">
                <a:solidFill>
                  <a:srgbClr val="2D2D2D"/>
                </a:solidFill>
                <a:latin typeface="微软雅黑" panose="020B0503020204020204" pitchFamily="34" charset="-122"/>
                <a:ea typeface="微软雅黑" panose="020B0503020204020204" pitchFamily="34" charset="-122"/>
              </a:rPr>
              <a:t>橙线为 </a:t>
            </a:r>
            <a:r>
              <a:rPr lang="en-US" sz="1400" b="1" dirty="0">
                <a:solidFill>
                  <a:srgbClr val="2D2D2D"/>
                </a:solidFill>
                <a:latin typeface="微软雅黑" panose="020B0503020204020204" pitchFamily="34" charset="-122"/>
                <a:ea typeface="微软雅黑" panose="020B0503020204020204" pitchFamily="34" charset="-122"/>
              </a:rPr>
              <a:t>GA  </a:t>
            </a:r>
            <a:endParaRPr lang="en-US" sz="1400" b="1" dirty="0" smtClean="0">
              <a:solidFill>
                <a:srgbClr val="2D2D2D"/>
              </a:solidFill>
              <a:latin typeface="微软雅黑" panose="020B0503020204020204" pitchFamily="34" charset="-122"/>
              <a:ea typeface="微软雅黑" panose="020B0503020204020204" pitchFamily="34" charset="-122"/>
            </a:endParaRPr>
          </a:p>
          <a:p>
            <a:pPr marL="457189" indent="-457189">
              <a:lnSpc>
                <a:spcPct val="125000"/>
              </a:lnSpc>
              <a:buSzPct val="100000"/>
              <a:buChar char="•"/>
            </a:pPr>
            <a:r>
              <a:rPr lang="en-US" sz="1400" b="1" dirty="0" smtClean="0">
                <a:solidFill>
                  <a:srgbClr val="2D2D2D"/>
                </a:solidFill>
                <a:latin typeface="微软雅黑" panose="020B0503020204020204" pitchFamily="34" charset="-122"/>
                <a:ea typeface="微软雅黑" panose="020B0503020204020204" pitchFamily="34" charset="-122"/>
              </a:rPr>
              <a:t>JSQ </a:t>
            </a:r>
            <a:r>
              <a:rPr lang="zh-CN" altLang="en-US" sz="1400" b="1" dirty="0">
                <a:solidFill>
                  <a:srgbClr val="2D2D2D"/>
                </a:solidFill>
                <a:latin typeface="微软雅黑" panose="020B0503020204020204" pitchFamily="34" charset="-122"/>
                <a:ea typeface="微软雅黑" panose="020B0503020204020204" pitchFamily="34" charset="-122"/>
              </a:rPr>
              <a:t>负荷持续</a:t>
            </a:r>
            <a:r>
              <a:rPr lang="zh-CN" altLang="en-US" sz="1400" b="1" dirty="0">
                <a:solidFill>
                  <a:srgbClr val="FF0000"/>
                </a:solidFill>
                <a:latin typeface="微软雅黑" panose="020B0503020204020204" pitchFamily="34" charset="-122"/>
                <a:ea typeface="微软雅黑" panose="020B0503020204020204" pitchFamily="34" charset="-122"/>
              </a:rPr>
              <a:t>偏高</a:t>
            </a:r>
            <a:r>
              <a:rPr lang="zh-CN" altLang="en-US" sz="1400" b="1" dirty="0">
                <a:solidFill>
                  <a:srgbClr val="2D2D2D"/>
                </a:solidFill>
                <a:latin typeface="微软雅黑" panose="020B0503020204020204" pitchFamily="34" charset="-122"/>
                <a:ea typeface="微软雅黑" panose="020B0503020204020204" pitchFamily="34" charset="-122"/>
              </a:rPr>
              <a:t>，车辆</a:t>
            </a:r>
            <a:r>
              <a:rPr lang="zh-CN" altLang="en-US" sz="1400" b="1" dirty="0">
                <a:solidFill>
                  <a:srgbClr val="FF0000"/>
                </a:solidFill>
                <a:latin typeface="微软雅黑" panose="020B0503020204020204" pitchFamily="34" charset="-122"/>
                <a:ea typeface="微软雅黑" panose="020B0503020204020204" pitchFamily="34" charset="-122"/>
              </a:rPr>
              <a:t>更早、更集中</a:t>
            </a:r>
            <a:r>
              <a:rPr lang="zh-CN" altLang="en-US" sz="1400" b="1" dirty="0">
                <a:solidFill>
                  <a:srgbClr val="2D2D2D"/>
                </a:solidFill>
                <a:latin typeface="微软雅黑" panose="020B0503020204020204" pitchFamily="34" charset="-122"/>
                <a:ea typeface="微软雅黑" panose="020B0503020204020204" pitchFamily="34" charset="-122"/>
              </a:rPr>
              <a:t>进入充电  </a:t>
            </a:r>
            <a:endParaRPr lang="en-US" altLang="zh-CN" sz="1400" b="1" dirty="0" smtClean="0">
              <a:solidFill>
                <a:srgbClr val="2D2D2D"/>
              </a:solidFill>
              <a:latin typeface="微软雅黑" panose="020B0503020204020204" pitchFamily="34" charset="-122"/>
              <a:ea typeface="微软雅黑" panose="020B0503020204020204" pitchFamily="34" charset="-122"/>
            </a:endParaRPr>
          </a:p>
          <a:p>
            <a:pPr marL="457189" indent="-457189">
              <a:lnSpc>
                <a:spcPct val="125000"/>
              </a:lnSpc>
              <a:buSzPct val="100000"/>
              <a:buChar char="•"/>
            </a:pPr>
            <a:r>
              <a:rPr lang="en-US" sz="1400" b="1" dirty="0" smtClean="0">
                <a:solidFill>
                  <a:srgbClr val="2D2D2D"/>
                </a:solidFill>
                <a:latin typeface="微软雅黑" panose="020B0503020204020204" pitchFamily="34" charset="-122"/>
                <a:ea typeface="微软雅黑" panose="020B0503020204020204" pitchFamily="34" charset="-122"/>
              </a:rPr>
              <a:t>GA </a:t>
            </a:r>
            <a:r>
              <a:rPr lang="zh-CN" altLang="en-US" sz="1400" b="1" dirty="0">
                <a:solidFill>
                  <a:srgbClr val="2D2D2D"/>
                </a:solidFill>
                <a:latin typeface="微软雅黑" panose="020B0503020204020204" pitchFamily="34" charset="-122"/>
                <a:ea typeface="微软雅黑" panose="020B0503020204020204" pitchFamily="34" charset="-122"/>
              </a:rPr>
              <a:t>负荷峰值更窄，更多任务后移到低电价时</a:t>
            </a:r>
            <a:r>
              <a:rPr lang="zh-CN" altLang="en-US" sz="1400" b="1" dirty="0" smtClean="0">
                <a:solidFill>
                  <a:srgbClr val="2D2D2D"/>
                </a:solidFill>
                <a:latin typeface="微软雅黑" panose="020B0503020204020204" pitchFamily="34" charset="-122"/>
                <a:ea typeface="微软雅黑" panose="020B0503020204020204" pitchFamily="34" charset="-122"/>
              </a:rPr>
              <a:t>段</a:t>
            </a:r>
            <a:endParaRPr lang="en-US" altLang="zh-CN" sz="1400" b="1" dirty="0" smtClean="0">
              <a:solidFill>
                <a:srgbClr val="2D2D2D"/>
              </a:solidFill>
              <a:latin typeface="微软雅黑" panose="020B0503020204020204" pitchFamily="34" charset="-122"/>
              <a:ea typeface="微软雅黑" panose="020B0503020204020204" pitchFamily="34" charset="-122"/>
            </a:endParaRPr>
          </a:p>
          <a:p>
            <a:pPr marL="457189" indent="-457189">
              <a:lnSpc>
                <a:spcPct val="125000"/>
              </a:lnSpc>
              <a:buSzPct val="100000"/>
              <a:buChar char="•"/>
            </a:pPr>
            <a:r>
              <a:rPr lang="zh-CN" altLang="en-US" sz="1400" b="1" dirty="0" smtClean="0">
                <a:solidFill>
                  <a:srgbClr val="2D2D2D"/>
                </a:solidFill>
                <a:latin typeface="微软雅黑" panose="020B0503020204020204" pitchFamily="34" charset="-122"/>
                <a:ea typeface="微软雅黑" panose="020B0503020204020204" pitchFamily="34" charset="-122"/>
              </a:rPr>
              <a:t>下</a:t>
            </a:r>
            <a:r>
              <a:rPr lang="zh-CN" altLang="en-US" sz="1400" b="1" dirty="0">
                <a:solidFill>
                  <a:srgbClr val="2D2D2D"/>
                </a:solidFill>
                <a:latin typeface="微软雅黑" panose="020B0503020204020204" pitchFamily="34" charset="-122"/>
                <a:ea typeface="微软雅黑" panose="020B0503020204020204" pitchFamily="34" charset="-122"/>
              </a:rPr>
              <a:t>图：</a:t>
            </a:r>
            <a:r>
              <a:rPr lang="en-US" sz="1400" b="1" dirty="0">
                <a:solidFill>
                  <a:srgbClr val="2D2D2D"/>
                </a:solidFill>
                <a:latin typeface="微软雅黑" panose="020B0503020204020204" pitchFamily="34" charset="-122"/>
                <a:ea typeface="微软雅黑" panose="020B0503020204020204" pitchFamily="34" charset="-122"/>
              </a:rPr>
              <a:t>SOC </a:t>
            </a:r>
            <a:r>
              <a:rPr lang="zh-CN" altLang="en-US" sz="1400" b="1" dirty="0">
                <a:solidFill>
                  <a:srgbClr val="2D2D2D"/>
                </a:solidFill>
                <a:latin typeface="微软雅黑" panose="020B0503020204020204" pitchFamily="34" charset="-122"/>
                <a:ea typeface="微软雅黑" panose="020B0503020204020204" pitchFamily="34" charset="-122"/>
              </a:rPr>
              <a:t>曲线显示 </a:t>
            </a:r>
            <a:r>
              <a:rPr lang="en-US" sz="1400" b="1" dirty="0">
                <a:solidFill>
                  <a:srgbClr val="2D2D2D"/>
                </a:solidFill>
                <a:latin typeface="微软雅黑" panose="020B0503020204020204" pitchFamily="34" charset="-122"/>
                <a:ea typeface="微软雅黑" panose="020B0503020204020204" pitchFamily="34" charset="-122"/>
              </a:rPr>
              <a:t>GA </a:t>
            </a:r>
            <a:r>
              <a:rPr lang="zh-CN" altLang="en-US" sz="1400" b="1" dirty="0">
                <a:solidFill>
                  <a:srgbClr val="2D2D2D"/>
                </a:solidFill>
                <a:latin typeface="微软雅黑" panose="020B0503020204020204" pitchFamily="34" charset="-122"/>
                <a:ea typeface="微软雅黑" panose="020B0503020204020204" pitchFamily="34" charset="-122"/>
              </a:rPr>
              <a:t>更接近阈值后再补能 </a:t>
            </a:r>
            <a:endParaRPr lang="en-US" altLang="zh-CN" sz="1400" b="1" dirty="0" smtClean="0">
              <a:solidFill>
                <a:srgbClr val="2D2D2D"/>
              </a:solidFill>
              <a:latin typeface="微软雅黑" panose="020B0503020204020204" pitchFamily="34" charset="-122"/>
              <a:ea typeface="微软雅黑" panose="020B0503020204020204" pitchFamily="34" charset="-122"/>
            </a:endParaRPr>
          </a:p>
          <a:p>
            <a:pPr marL="457189" indent="-457189">
              <a:lnSpc>
                <a:spcPct val="125000"/>
              </a:lnSpc>
              <a:buSzPct val="100000"/>
              <a:buChar char="•"/>
            </a:pPr>
            <a:r>
              <a:rPr lang="zh-CN" altLang="en-US" sz="1400" b="1" dirty="0" smtClean="0">
                <a:solidFill>
                  <a:srgbClr val="2D2D2D"/>
                </a:solidFill>
                <a:latin typeface="微软雅黑" panose="020B0503020204020204" pitchFamily="34" charset="-122"/>
                <a:ea typeface="微软雅黑" panose="020B0503020204020204" pitchFamily="34" charset="-122"/>
              </a:rPr>
              <a:t>成因分析：</a:t>
            </a:r>
            <a:r>
              <a:rPr lang="en-US" sz="1400" b="1" dirty="0">
                <a:solidFill>
                  <a:srgbClr val="2D2D2D"/>
                </a:solidFill>
                <a:latin typeface="微软雅黑" panose="020B0503020204020204" pitchFamily="34" charset="-122"/>
                <a:ea typeface="微软雅黑" panose="020B0503020204020204" pitchFamily="34" charset="-122"/>
              </a:rPr>
              <a:t>GA </a:t>
            </a:r>
            <a:r>
              <a:rPr lang="zh-CN" altLang="en-US" sz="1400" b="1" dirty="0">
                <a:solidFill>
                  <a:srgbClr val="FF0000"/>
                </a:solidFill>
                <a:latin typeface="微软雅黑" panose="020B0503020204020204" pitchFamily="34" charset="-122"/>
                <a:ea typeface="微软雅黑" panose="020B0503020204020204" pitchFamily="34" charset="-122"/>
              </a:rPr>
              <a:t>同时优化触发</a:t>
            </a:r>
            <a:r>
              <a:rPr lang="zh-CN" altLang="en-US" sz="1400" b="1" dirty="0">
                <a:solidFill>
                  <a:srgbClr val="2D2D2D"/>
                </a:solidFill>
                <a:latin typeface="微软雅黑" panose="020B0503020204020204" pitchFamily="34" charset="-122"/>
                <a:ea typeface="微软雅黑" panose="020B0503020204020204" pitchFamily="34" charset="-122"/>
              </a:rPr>
              <a:t> </a:t>
            </a:r>
            <a:r>
              <a:rPr lang="en-US" sz="1400" b="1" dirty="0">
                <a:solidFill>
                  <a:srgbClr val="2D2D2D"/>
                </a:solidFill>
                <a:latin typeface="微软雅黑" panose="020B0503020204020204" pitchFamily="34" charset="-122"/>
                <a:ea typeface="微软雅黑" panose="020B0503020204020204" pitchFamily="34" charset="-122"/>
              </a:rPr>
              <a:t>SOC、</a:t>
            </a:r>
            <a:r>
              <a:rPr lang="zh-CN" altLang="en-US" sz="1400" b="1" dirty="0">
                <a:solidFill>
                  <a:srgbClr val="2D2D2D"/>
                </a:solidFill>
                <a:latin typeface="微软雅黑" panose="020B0503020204020204" pitchFamily="34" charset="-122"/>
                <a:ea typeface="微软雅黑" panose="020B0503020204020204" pitchFamily="34" charset="-122"/>
              </a:rPr>
              <a:t>目标 </a:t>
            </a:r>
            <a:r>
              <a:rPr lang="en-US" sz="1400" b="1" dirty="0">
                <a:solidFill>
                  <a:srgbClr val="2D2D2D"/>
                </a:solidFill>
                <a:latin typeface="微软雅黑" panose="020B0503020204020204" pitchFamily="34" charset="-122"/>
                <a:ea typeface="微软雅黑" panose="020B0503020204020204" pitchFamily="34" charset="-122"/>
              </a:rPr>
              <a:t>SOC </a:t>
            </a:r>
            <a:r>
              <a:rPr lang="zh-CN" altLang="en-US" sz="1400" b="1" dirty="0">
                <a:solidFill>
                  <a:srgbClr val="2D2D2D"/>
                </a:solidFill>
                <a:latin typeface="微软雅黑" panose="020B0503020204020204" pitchFamily="34" charset="-122"/>
                <a:ea typeface="微软雅黑" panose="020B0503020204020204" pitchFamily="34" charset="-122"/>
              </a:rPr>
              <a:t>和等待</a:t>
            </a:r>
            <a:r>
              <a:rPr lang="en-US" altLang="zh-CN" sz="1400" b="1" dirty="0">
                <a:solidFill>
                  <a:srgbClr val="2D2D2D"/>
                </a:solidFill>
                <a:latin typeface="微软雅黑" panose="020B0503020204020204" pitchFamily="34" charset="-122"/>
                <a:ea typeface="微软雅黑" panose="020B0503020204020204" pitchFamily="34" charset="-122"/>
              </a:rPr>
              <a:t>/</a:t>
            </a:r>
            <a:r>
              <a:rPr lang="zh-CN" altLang="en-US" sz="1400" b="1" dirty="0">
                <a:solidFill>
                  <a:srgbClr val="2D2D2D"/>
                </a:solidFill>
                <a:latin typeface="微软雅黑" panose="020B0503020204020204" pitchFamily="34" charset="-122"/>
                <a:ea typeface="微软雅黑" panose="020B0503020204020204" pitchFamily="34" charset="-122"/>
              </a:rPr>
              <a:t>电价</a:t>
            </a:r>
            <a:r>
              <a:rPr lang="zh-CN" altLang="en-US" sz="1400" b="1" dirty="0">
                <a:solidFill>
                  <a:srgbClr val="FF0000"/>
                </a:solidFill>
                <a:latin typeface="微软雅黑" panose="020B0503020204020204" pitchFamily="34" charset="-122"/>
                <a:ea typeface="微软雅黑" panose="020B0503020204020204" pitchFamily="34" charset="-122"/>
              </a:rPr>
              <a:t>权重 </a:t>
            </a:r>
            <a:endParaRPr lang="en-US" altLang="zh-CN" sz="1400" b="1" dirty="0" smtClean="0">
              <a:solidFill>
                <a:srgbClr val="FF0000"/>
              </a:solidFill>
              <a:latin typeface="微软雅黑" panose="020B0503020204020204" pitchFamily="34" charset="-122"/>
              <a:ea typeface="微软雅黑" panose="020B0503020204020204" pitchFamily="34" charset="-122"/>
            </a:endParaRPr>
          </a:p>
          <a:p>
            <a:pPr marL="457189" indent="-457189">
              <a:lnSpc>
                <a:spcPct val="125000"/>
              </a:lnSpc>
              <a:buSzPct val="100000"/>
              <a:buChar char="•"/>
            </a:pPr>
            <a:r>
              <a:rPr lang="zh-CN" altLang="en-US" sz="1400" b="1" dirty="0" smtClean="0">
                <a:solidFill>
                  <a:srgbClr val="2D2D2D"/>
                </a:solidFill>
                <a:latin typeface="微软雅黑" panose="020B0503020204020204" pitchFamily="34" charset="-122"/>
                <a:ea typeface="微软雅黑" panose="020B0503020204020204" pitchFamily="34" charset="-122"/>
              </a:rPr>
              <a:t>优化结</a:t>
            </a:r>
            <a:r>
              <a:rPr lang="zh-CN" altLang="en-US" sz="1400" b="1" dirty="0">
                <a:solidFill>
                  <a:srgbClr val="2D2D2D"/>
                </a:solidFill>
                <a:latin typeface="微软雅黑" panose="020B0503020204020204" pitchFamily="34" charset="-122"/>
                <a:ea typeface="微软雅黑" panose="020B0503020204020204" pitchFamily="34" charset="-122"/>
              </a:rPr>
              <a:t>果</a:t>
            </a:r>
            <a:r>
              <a:rPr lang="zh-CN" altLang="en-US" sz="1400" b="1" dirty="0" smtClean="0">
                <a:solidFill>
                  <a:srgbClr val="2D2D2D"/>
                </a:solidFill>
                <a:latin typeface="微软雅黑" panose="020B0503020204020204" pitchFamily="34" charset="-122"/>
                <a:ea typeface="微软雅黑" panose="020B0503020204020204" pitchFamily="34" charset="-122"/>
              </a:rPr>
              <a:t>：</a:t>
            </a:r>
            <a:r>
              <a:rPr lang="en-US" altLang="zh-CN" sz="1400" b="1" dirty="0" smtClean="0">
                <a:solidFill>
                  <a:srgbClr val="2D2D2D"/>
                </a:solidFill>
                <a:latin typeface="微软雅黑" panose="020B0503020204020204" pitchFamily="34" charset="-122"/>
                <a:ea typeface="微软雅黑" panose="020B0503020204020204" pitchFamily="34" charset="-122"/>
              </a:rPr>
              <a:t>GA</a:t>
            </a:r>
            <a:r>
              <a:rPr lang="zh-CN" altLang="en-US" sz="1400" b="1" dirty="0" smtClean="0">
                <a:solidFill>
                  <a:srgbClr val="2D2D2D"/>
                </a:solidFill>
                <a:latin typeface="微软雅黑" panose="020B0503020204020204" pitchFamily="34" charset="-122"/>
                <a:ea typeface="微软雅黑" panose="020B0503020204020204" pitchFamily="34" charset="-122"/>
              </a:rPr>
              <a:t>调度下提</a:t>
            </a:r>
            <a:r>
              <a:rPr lang="zh-CN" altLang="en-US" sz="1400" b="1" dirty="0">
                <a:solidFill>
                  <a:srgbClr val="2D2D2D"/>
                </a:solidFill>
                <a:latin typeface="微软雅黑" panose="020B0503020204020204" pitchFamily="34" charset="-122"/>
                <a:ea typeface="微软雅黑" panose="020B0503020204020204" pitchFamily="34" charset="-122"/>
              </a:rPr>
              <a:t>前充</a:t>
            </a:r>
            <a:r>
              <a:rPr lang="zh-CN" altLang="en-US" sz="1400" b="1" dirty="0" smtClean="0">
                <a:solidFill>
                  <a:srgbClr val="2D2D2D"/>
                </a:solidFill>
                <a:latin typeface="微软雅黑" panose="020B0503020204020204" pitchFamily="34" charset="-122"/>
                <a:ea typeface="微软雅黑" panose="020B0503020204020204" pitchFamily="34" charset="-122"/>
              </a:rPr>
              <a:t>电</a:t>
            </a:r>
            <a:r>
              <a:rPr lang="zh-CN" altLang="en-US" sz="1400" b="1" dirty="0">
                <a:solidFill>
                  <a:srgbClr val="FF0000"/>
                </a:solidFill>
                <a:latin typeface="微软雅黑" panose="020B0503020204020204" pitchFamily="34" charset="-122"/>
                <a:ea typeface="微软雅黑" panose="020B0503020204020204" pitchFamily="34" charset="-122"/>
              </a:rPr>
              <a:t>减少</a:t>
            </a:r>
            <a:r>
              <a:rPr lang="zh-CN" altLang="en-US" sz="1400" b="1" dirty="0" smtClean="0">
                <a:solidFill>
                  <a:srgbClr val="2D2D2D"/>
                </a:solidFill>
                <a:latin typeface="微软雅黑" panose="020B0503020204020204" pitchFamily="34" charset="-122"/>
                <a:ea typeface="微软雅黑" panose="020B0503020204020204" pitchFamily="34" charset="-122"/>
              </a:rPr>
              <a:t>，</a:t>
            </a:r>
            <a:r>
              <a:rPr lang="zh-CN" altLang="en-US" sz="1400" b="1" dirty="0">
                <a:solidFill>
                  <a:srgbClr val="2D2D2D"/>
                </a:solidFill>
                <a:latin typeface="微软雅黑" panose="020B0503020204020204" pitchFamily="34" charset="-122"/>
                <a:ea typeface="微软雅黑" panose="020B0503020204020204" pitchFamily="34" charset="-122"/>
              </a:rPr>
              <a:t>降低充电量与排队</a:t>
            </a:r>
            <a:r>
              <a:rPr lang="zh-CN" altLang="en-US" sz="1400" b="1" dirty="0">
                <a:solidFill>
                  <a:srgbClr val="FF0000"/>
                </a:solidFill>
                <a:latin typeface="微软雅黑" panose="020B0503020204020204" pitchFamily="34" charset="-122"/>
                <a:ea typeface="微软雅黑" panose="020B0503020204020204" pitchFamily="34" charset="-122"/>
              </a:rPr>
              <a:t>压力</a:t>
            </a:r>
            <a:endParaRPr lang="en-US" sz="1400" b="1" dirty="0">
              <a:solidFill>
                <a:srgbClr val="FF0000"/>
              </a:solidFill>
              <a:latin typeface="微软雅黑" panose="020B0503020204020204" pitchFamily="34" charset="-122"/>
              <a:ea typeface="微软雅黑" panose="020B0503020204020204" pitchFamily="34" charset="-122"/>
            </a:endParaRPr>
          </a:p>
        </p:txBody>
      </p:sp>
      <p:pic>
        <p:nvPicPr>
          <p:cNvPr id="21" name="Image 1" descr="C:\Users\Administrator\Desktop\greenlowcarbon\plannin\ebus\outputs\figures\jsq_soc_curves_full.png"/>
          <p:cNvPicPr>
            <a:picLocks noChangeAspect="1"/>
          </p:cNvPicPr>
          <p:nvPr/>
        </p:nvPicPr>
        <p:blipFill>
          <a:blip r:embed="rId5"/>
          <a:stretch>
            <a:fillRect/>
          </a:stretch>
        </p:blipFill>
        <p:spPr>
          <a:xfrm>
            <a:off x="1140979" y="3824313"/>
            <a:ext cx="3887821" cy="2011680"/>
          </a:xfrm>
          <a:prstGeom prst="rect">
            <a:avLst/>
          </a:prstGeom>
        </p:spPr>
      </p:pic>
      <p:pic>
        <p:nvPicPr>
          <p:cNvPr id="22" name="Image 2" descr="C:\Users\Administrator\Desktop\greenlowcarbon\plannin\ebus\outputs\figures\ga_soc_curves_full.png"/>
          <p:cNvPicPr>
            <a:picLocks noChangeAspect="1"/>
          </p:cNvPicPr>
          <p:nvPr/>
        </p:nvPicPr>
        <p:blipFill>
          <a:blip r:embed="rId6"/>
          <a:stretch>
            <a:fillRect/>
          </a:stretch>
        </p:blipFill>
        <p:spPr>
          <a:xfrm>
            <a:off x="6983649" y="3863920"/>
            <a:ext cx="3887821" cy="2011680"/>
          </a:xfrm>
          <a:prstGeom prst="rect">
            <a:avLst/>
          </a:prstGeom>
        </p:spPr>
      </p:pic>
      <p:sp>
        <p:nvSpPr>
          <p:cNvPr id="23" name="矩形 22"/>
          <p:cNvSpPr/>
          <p:nvPr/>
        </p:nvSpPr>
        <p:spPr>
          <a:xfrm>
            <a:off x="1630005" y="3485019"/>
            <a:ext cx="2909771"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6</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Full </a:t>
            </a:r>
            <a:r>
              <a:rPr lang="zh-CN" altLang="en-US" sz="1200" b="1" dirty="0">
                <a:latin typeface="微软雅黑" panose="020B0503020204020204" pitchFamily="34" charset="-122"/>
                <a:ea typeface="微软雅黑" panose="020B0503020204020204" pitchFamily="34" charset="-122"/>
              </a:rPr>
              <a:t>场景下全天充电负荷曲线对比</a:t>
            </a:r>
            <a:endParaRPr lang="zh-CN" altLang="en-US" sz="1200" b="1" dirty="0">
              <a:latin typeface="微软雅黑" panose="020B0503020204020204" pitchFamily="34" charset="-122"/>
              <a:ea typeface="微软雅黑" panose="020B0503020204020204" pitchFamily="34" charset="-122"/>
            </a:endParaRPr>
          </a:p>
        </p:txBody>
      </p:sp>
      <p:sp>
        <p:nvSpPr>
          <p:cNvPr id="24" name="矩形 23"/>
          <p:cNvSpPr/>
          <p:nvPr/>
        </p:nvSpPr>
        <p:spPr>
          <a:xfrm>
            <a:off x="1721374" y="5875600"/>
            <a:ext cx="2727029"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7</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JSQ </a:t>
            </a:r>
            <a:r>
              <a:rPr lang="zh-CN" altLang="en-US" sz="1200" b="1" dirty="0">
                <a:latin typeface="微软雅黑" panose="020B0503020204020204" pitchFamily="34" charset="-122"/>
                <a:ea typeface="微软雅黑" panose="020B0503020204020204" pitchFamily="34" charset="-122"/>
              </a:rPr>
              <a:t>调度下车辆 </a:t>
            </a:r>
            <a:r>
              <a:rPr lang="en-US" altLang="zh-CN" sz="1200" b="1" dirty="0">
                <a:latin typeface="微软雅黑" panose="020B0503020204020204" pitchFamily="34" charset="-122"/>
                <a:ea typeface="微软雅黑" panose="020B0503020204020204" pitchFamily="34" charset="-122"/>
              </a:rPr>
              <a:t>SOC </a:t>
            </a:r>
            <a:r>
              <a:rPr lang="zh-CN" altLang="en-US" sz="1200" b="1" dirty="0">
                <a:latin typeface="微软雅黑" panose="020B0503020204020204" pitchFamily="34" charset="-122"/>
                <a:ea typeface="微软雅黑" panose="020B0503020204020204" pitchFamily="34" charset="-122"/>
              </a:rPr>
              <a:t>变化曲线</a:t>
            </a:r>
            <a:endParaRPr lang="zh-CN" altLang="en-US" sz="1200" b="1" dirty="0">
              <a:latin typeface="微软雅黑" panose="020B0503020204020204" pitchFamily="34" charset="-122"/>
              <a:ea typeface="微软雅黑" panose="020B0503020204020204" pitchFamily="34" charset="-122"/>
            </a:endParaRPr>
          </a:p>
        </p:txBody>
      </p:sp>
      <p:sp>
        <p:nvSpPr>
          <p:cNvPr id="25" name="矩形 24"/>
          <p:cNvSpPr/>
          <p:nvPr/>
        </p:nvSpPr>
        <p:spPr>
          <a:xfrm>
            <a:off x="7606401" y="5908140"/>
            <a:ext cx="2667718"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8</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GA </a:t>
            </a:r>
            <a:r>
              <a:rPr lang="zh-CN" altLang="en-US" sz="1200" b="1" dirty="0">
                <a:latin typeface="微软雅黑" panose="020B0503020204020204" pitchFamily="34" charset="-122"/>
                <a:ea typeface="微软雅黑" panose="020B0503020204020204" pitchFamily="34" charset="-122"/>
              </a:rPr>
              <a:t>调度下车辆 </a:t>
            </a:r>
            <a:r>
              <a:rPr lang="en-US" altLang="zh-CN" sz="1200" b="1" dirty="0">
                <a:latin typeface="微软雅黑" panose="020B0503020204020204" pitchFamily="34" charset="-122"/>
                <a:ea typeface="微软雅黑" panose="020B0503020204020204" pitchFamily="34" charset="-122"/>
              </a:rPr>
              <a:t>SOC </a:t>
            </a:r>
            <a:r>
              <a:rPr lang="zh-CN" altLang="en-US" sz="1200" b="1" dirty="0">
                <a:latin typeface="微软雅黑" panose="020B0503020204020204" pitchFamily="34" charset="-122"/>
                <a:ea typeface="微软雅黑" panose="020B0503020204020204" pitchFamily="34" charset="-122"/>
              </a:rPr>
              <a:t>变化曲线</a:t>
            </a:r>
            <a:endParaRPr lang="zh-CN" altLang="en-US" sz="1200" b="1"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9916A498-EE09-4368-B85C-2556B4111056}"/>
              </a:ext>
            </a:extLst>
          </p:cNvPr>
          <p:cNvSpPr/>
          <p:nvPr/>
        </p:nvSpPr>
        <p:spPr>
          <a:xfrm>
            <a:off x="299553" y="799340"/>
            <a:ext cx="11526687" cy="5387205"/>
          </a:xfrm>
          <a:prstGeom prst="rect">
            <a:avLst/>
          </a:prstGeom>
          <a:noFill/>
          <a:ln>
            <a:prstDash val="lgDash"/>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28" name="直接连接符 27"/>
          <p:cNvCxnSpPr>
            <a:stCxn id="26" idx="2"/>
            <a:endCxn id="26" idx="0"/>
          </p:cNvCxnSpPr>
          <p:nvPr/>
        </p:nvCxnSpPr>
        <p:spPr>
          <a:xfrm flipV="1">
            <a:off x="6062897" y="799340"/>
            <a:ext cx="0" cy="5387205"/>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99553" y="3762018"/>
            <a:ext cx="11526687" cy="0"/>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790460"/>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3996120"/>
            <a:chOff x="2584397" y="217491"/>
            <a:chExt cx="10096500" cy="3996120"/>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27592" y="243297"/>
              <a:ext cx="1877429" cy="3970314"/>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碳</a:t>
              </a:r>
              <a:r>
                <a:rPr lang="zh-CN" altLang="en-US" sz="1200" dirty="0">
                  <a:solidFill>
                    <a:schemeClr val="bg1"/>
                  </a:solidFill>
                  <a:latin typeface="微软雅黑" panose="020B0503020204020204" pitchFamily="34" charset="-122"/>
                  <a:ea typeface="微软雅黑" panose="020B0503020204020204" pitchFamily="34" charset="-122"/>
                </a:rPr>
                <a:t>排放与归一化效率对比</a:t>
              </a: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pic>
        <p:nvPicPr>
          <p:cNvPr id="18" name="Image 0" descr="C:\Users\Administrator\Desktop\greenlowcarbon\plannin\ebus\outputs\figures\scenario_normalized_efficiency.png"/>
          <p:cNvPicPr>
            <a:picLocks noChangeAspect="1"/>
          </p:cNvPicPr>
          <p:nvPr/>
        </p:nvPicPr>
        <p:blipFill>
          <a:blip r:embed="rId4"/>
          <a:stretch>
            <a:fillRect/>
          </a:stretch>
        </p:blipFill>
        <p:spPr>
          <a:xfrm>
            <a:off x="609600" y="1217157"/>
            <a:ext cx="5662749" cy="2510154"/>
          </a:xfrm>
          <a:prstGeom prst="rect">
            <a:avLst/>
          </a:prstGeom>
        </p:spPr>
      </p:pic>
      <p:pic>
        <p:nvPicPr>
          <p:cNvPr id="19" name="Image 1" descr="C:\Users\Administrator\Desktop\greenlowcarbon\plannin\ebus\outputs\figures\ga_convergence_full.png"/>
          <p:cNvPicPr>
            <a:picLocks noChangeAspect="1"/>
          </p:cNvPicPr>
          <p:nvPr/>
        </p:nvPicPr>
        <p:blipFill>
          <a:blip r:embed="rId5"/>
          <a:stretch>
            <a:fillRect/>
          </a:stretch>
        </p:blipFill>
        <p:spPr>
          <a:xfrm>
            <a:off x="6683850" y="928062"/>
            <a:ext cx="4837590" cy="2827074"/>
          </a:xfrm>
          <a:prstGeom prst="rect">
            <a:avLst/>
          </a:prstGeom>
        </p:spPr>
      </p:pic>
      <p:sp>
        <p:nvSpPr>
          <p:cNvPr id="20" name="Shape 8"/>
          <p:cNvSpPr/>
          <p:nvPr/>
        </p:nvSpPr>
        <p:spPr>
          <a:xfrm>
            <a:off x="609600" y="4185370"/>
            <a:ext cx="11094720" cy="1971589"/>
          </a:xfrm>
          <a:prstGeom prst="roundRect">
            <a:avLst>
              <a:gd name="adj" fmla="val 3529"/>
            </a:avLst>
          </a:prstGeom>
          <a:solidFill>
            <a:srgbClr val="F8F5F0"/>
          </a:solidFill>
          <a:ln w="5080">
            <a:solidFill>
              <a:srgbClr val="C4A35A">
                <a:alpha val="30000"/>
              </a:srgbClr>
            </a:solidFill>
            <a:prstDash val="solid"/>
          </a:ln>
        </p:spPr>
      </p:sp>
      <p:sp>
        <p:nvSpPr>
          <p:cNvPr id="22" name="Text 10"/>
          <p:cNvSpPr/>
          <p:nvPr/>
        </p:nvSpPr>
        <p:spPr>
          <a:xfrm>
            <a:off x="792480" y="4544453"/>
            <a:ext cx="10728960" cy="1219200"/>
          </a:xfrm>
          <a:prstGeom prst="rect">
            <a:avLst/>
          </a:prstGeom>
          <a:noFill/>
          <a:ln/>
        </p:spPr>
        <p:txBody>
          <a:bodyPr wrap="square" rtlCol="0" anchor="ctr"/>
          <a:lstStyle/>
          <a:p>
            <a:pPr marL="285750" indent="-285750">
              <a:lnSpc>
                <a:spcPct val="125000"/>
              </a:lnSpc>
              <a:buFont typeface="Wingdings" panose="05000000000000000000" pitchFamily="2" charset="2"/>
              <a:buChar char="Ø"/>
            </a:pPr>
            <a:r>
              <a:rPr lang="zh-CN" altLang="en-US" sz="1600" b="1" dirty="0">
                <a:solidFill>
                  <a:srgbClr val="2D2D2D"/>
                </a:solidFill>
                <a:latin typeface="Microsoft YaHei" pitchFamily="34" charset="0"/>
                <a:ea typeface="Microsoft YaHei" pitchFamily="34" charset="-122"/>
                <a:cs typeface="Microsoft YaHei" pitchFamily="34" charset="-120"/>
              </a:rPr>
              <a:t>左：以每 </a:t>
            </a:r>
            <a:r>
              <a:rPr lang="en-US" altLang="zh-CN" sz="1600" b="1" dirty="0">
                <a:solidFill>
                  <a:srgbClr val="2D2D2D"/>
                </a:solidFill>
                <a:latin typeface="Microsoft YaHei" pitchFamily="34" charset="0"/>
                <a:ea typeface="Microsoft YaHei" pitchFamily="34" charset="-122"/>
                <a:cs typeface="Microsoft YaHei" pitchFamily="34" charset="-120"/>
              </a:rPr>
              <a:t>1000 </a:t>
            </a:r>
            <a:r>
              <a:rPr lang="zh-CN" altLang="en-US" sz="1600" b="1" dirty="0">
                <a:solidFill>
                  <a:srgbClr val="2D2D2D"/>
                </a:solidFill>
                <a:latin typeface="Microsoft YaHei" pitchFamily="34" charset="0"/>
                <a:ea typeface="Microsoft YaHei" pitchFamily="34" charset="-122"/>
                <a:cs typeface="Microsoft YaHei" pitchFamily="34" charset="-120"/>
              </a:rPr>
              <a:t>班次为单位，对比 </a:t>
            </a:r>
            <a:r>
              <a:rPr lang="en-US" altLang="zh-CN" sz="1600" b="1" dirty="0">
                <a:solidFill>
                  <a:srgbClr val="2D2D2D"/>
                </a:solidFill>
                <a:latin typeface="Microsoft YaHei" pitchFamily="34" charset="0"/>
                <a:ea typeface="Microsoft YaHei" pitchFamily="34" charset="-122"/>
                <a:cs typeface="Microsoft YaHei" pitchFamily="34" charset="-120"/>
              </a:rPr>
              <a:t>JSQ </a:t>
            </a:r>
            <a:r>
              <a:rPr lang="zh-CN" altLang="en-US" sz="1600" b="1" dirty="0">
                <a:solidFill>
                  <a:srgbClr val="2D2D2D"/>
                </a:solidFill>
                <a:latin typeface="Microsoft YaHei" pitchFamily="34" charset="0"/>
                <a:ea typeface="Microsoft YaHei" pitchFamily="34" charset="-122"/>
                <a:cs typeface="Microsoft YaHei" pitchFamily="34" charset="-120"/>
              </a:rPr>
              <a:t>与 </a:t>
            </a:r>
            <a:r>
              <a:rPr lang="en-US" altLang="zh-CN" sz="1600" b="1" dirty="0">
                <a:solidFill>
                  <a:srgbClr val="2D2D2D"/>
                </a:solidFill>
                <a:latin typeface="Microsoft YaHei" pitchFamily="34" charset="0"/>
                <a:ea typeface="Microsoft YaHei" pitchFamily="34" charset="-122"/>
                <a:cs typeface="Microsoft YaHei" pitchFamily="34" charset="-120"/>
              </a:rPr>
              <a:t>GA </a:t>
            </a:r>
            <a:r>
              <a:rPr lang="zh-CN" altLang="en-US" sz="1600" b="1" dirty="0">
                <a:solidFill>
                  <a:srgbClr val="2D2D2D"/>
                </a:solidFill>
                <a:latin typeface="Microsoft YaHei" pitchFamily="34" charset="0"/>
                <a:ea typeface="Microsoft YaHei" pitchFamily="34" charset="-122"/>
                <a:cs typeface="Microsoft YaHei" pitchFamily="34" charset="-120"/>
              </a:rPr>
              <a:t>的</a:t>
            </a:r>
            <a:r>
              <a:rPr lang="zh-CN" altLang="en-US" sz="1600" b="1" dirty="0">
                <a:solidFill>
                  <a:srgbClr val="FF0000"/>
                </a:solidFill>
                <a:latin typeface="Microsoft YaHei" pitchFamily="34" charset="0"/>
                <a:ea typeface="Microsoft YaHei" pitchFamily="34" charset="-122"/>
                <a:cs typeface="Microsoft YaHei" pitchFamily="34" charset="-120"/>
              </a:rPr>
              <a:t>充电成本</a:t>
            </a:r>
            <a:r>
              <a:rPr lang="zh-CN" altLang="en-US" sz="1600" b="1" dirty="0">
                <a:solidFill>
                  <a:srgbClr val="2D2D2D"/>
                </a:solidFill>
                <a:latin typeface="Microsoft YaHei" pitchFamily="34" charset="0"/>
                <a:ea typeface="Microsoft YaHei" pitchFamily="34" charset="-122"/>
                <a:cs typeface="Microsoft YaHei" pitchFamily="34" charset="-120"/>
              </a:rPr>
              <a:t>和</a:t>
            </a:r>
            <a:r>
              <a:rPr lang="zh-CN" altLang="en-US" sz="1600" b="1" dirty="0">
                <a:solidFill>
                  <a:srgbClr val="FF0000"/>
                </a:solidFill>
                <a:latin typeface="Microsoft YaHei" pitchFamily="34" charset="0"/>
                <a:ea typeface="Microsoft YaHei" pitchFamily="34" charset="-122"/>
                <a:cs typeface="Microsoft YaHei" pitchFamily="34" charset="-120"/>
              </a:rPr>
              <a:t>充电量</a:t>
            </a:r>
            <a:r>
              <a:rPr lang="zh-CN" altLang="en-US" sz="1600" b="1" dirty="0">
                <a:solidFill>
                  <a:srgbClr val="2D2D2D"/>
                </a:solidFill>
                <a:latin typeface="Microsoft YaHei" pitchFamily="34" charset="0"/>
                <a:ea typeface="Microsoft YaHei" pitchFamily="34" charset="-122"/>
                <a:cs typeface="Microsoft YaHei" pitchFamily="34" charset="-120"/>
              </a:rPr>
              <a:t>，避免不同场景规模差异造成</a:t>
            </a:r>
            <a:r>
              <a:rPr lang="zh-CN" altLang="en-US" sz="1600" b="1" dirty="0">
                <a:solidFill>
                  <a:srgbClr val="FF0000"/>
                </a:solidFill>
                <a:latin typeface="Microsoft YaHei" pitchFamily="34" charset="0"/>
                <a:ea typeface="Microsoft YaHei" pitchFamily="34" charset="-122"/>
                <a:cs typeface="Microsoft YaHei" pitchFamily="34" charset="-120"/>
              </a:rPr>
              <a:t>直接比较失</a:t>
            </a:r>
            <a:r>
              <a:rPr lang="zh-CN" altLang="en-US" sz="1600" b="1" dirty="0" smtClean="0">
                <a:solidFill>
                  <a:srgbClr val="FF0000"/>
                </a:solidFill>
                <a:latin typeface="Microsoft YaHei" pitchFamily="34" charset="0"/>
                <a:ea typeface="Microsoft YaHei" pitchFamily="34" charset="-122"/>
                <a:cs typeface="Microsoft YaHei" pitchFamily="34" charset="-120"/>
              </a:rPr>
              <a:t>真</a:t>
            </a:r>
            <a:r>
              <a:rPr lang="zh-CN" altLang="en-US" sz="1600" b="1" dirty="0" smtClean="0">
                <a:solidFill>
                  <a:srgbClr val="2D2D2D"/>
                </a:solidFill>
                <a:latin typeface="Microsoft YaHei" pitchFamily="34" charset="0"/>
                <a:ea typeface="Microsoft YaHei" pitchFamily="34" charset="-122"/>
                <a:cs typeface="Microsoft YaHei" pitchFamily="34" charset="-120"/>
              </a:rPr>
              <a:t>。结</a:t>
            </a:r>
            <a:r>
              <a:rPr lang="zh-CN" altLang="en-US" sz="1600" b="1" dirty="0">
                <a:solidFill>
                  <a:srgbClr val="2D2D2D"/>
                </a:solidFill>
                <a:latin typeface="Microsoft YaHei" pitchFamily="34" charset="0"/>
                <a:ea typeface="Microsoft YaHei" pitchFamily="34" charset="-122"/>
                <a:cs typeface="Microsoft YaHei" pitchFamily="34" charset="-120"/>
              </a:rPr>
              <a:t>果显示，</a:t>
            </a:r>
            <a:r>
              <a:rPr lang="en-US" altLang="zh-CN" sz="1600" b="1" dirty="0">
                <a:solidFill>
                  <a:srgbClr val="2D2D2D"/>
                </a:solidFill>
                <a:latin typeface="Microsoft YaHei" pitchFamily="34" charset="0"/>
                <a:ea typeface="Microsoft YaHei" pitchFamily="34" charset="-122"/>
                <a:cs typeface="Microsoft YaHei" pitchFamily="34" charset="-120"/>
              </a:rPr>
              <a:t>GA </a:t>
            </a:r>
            <a:r>
              <a:rPr lang="zh-CN" altLang="en-US" sz="1600" b="1" dirty="0">
                <a:solidFill>
                  <a:srgbClr val="2D2D2D"/>
                </a:solidFill>
                <a:latin typeface="Microsoft YaHei" pitchFamily="34" charset="0"/>
                <a:ea typeface="Microsoft YaHei" pitchFamily="34" charset="-122"/>
                <a:cs typeface="Microsoft YaHei" pitchFamily="34" charset="-120"/>
              </a:rPr>
              <a:t>在 </a:t>
            </a:r>
            <a:r>
              <a:rPr lang="en-US" altLang="zh-CN" sz="1600" b="1" dirty="0">
                <a:solidFill>
                  <a:srgbClr val="2D2D2D"/>
                </a:solidFill>
                <a:latin typeface="Microsoft YaHei" pitchFamily="34" charset="0"/>
                <a:ea typeface="Microsoft YaHei" pitchFamily="34" charset="-122"/>
                <a:cs typeface="Microsoft YaHei" pitchFamily="34" charset="-120"/>
              </a:rPr>
              <a:t>planned </a:t>
            </a:r>
            <a:r>
              <a:rPr lang="zh-CN" altLang="en-US" sz="1600" b="1" dirty="0">
                <a:solidFill>
                  <a:srgbClr val="2D2D2D"/>
                </a:solidFill>
                <a:latin typeface="Microsoft YaHei" pitchFamily="34" charset="0"/>
                <a:ea typeface="Microsoft YaHei" pitchFamily="34" charset="-122"/>
                <a:cs typeface="Microsoft YaHei" pitchFamily="34" charset="-120"/>
              </a:rPr>
              <a:t>与 </a:t>
            </a:r>
            <a:r>
              <a:rPr lang="en-US" altLang="zh-CN" sz="1600" b="1" dirty="0">
                <a:solidFill>
                  <a:srgbClr val="2D2D2D"/>
                </a:solidFill>
                <a:latin typeface="Microsoft YaHei" pitchFamily="34" charset="0"/>
                <a:ea typeface="Microsoft YaHei" pitchFamily="34" charset="-122"/>
                <a:cs typeface="Microsoft YaHei" pitchFamily="34" charset="-120"/>
              </a:rPr>
              <a:t>full </a:t>
            </a:r>
            <a:r>
              <a:rPr lang="zh-CN" altLang="en-US" sz="1600" b="1" dirty="0">
                <a:solidFill>
                  <a:srgbClr val="2D2D2D"/>
                </a:solidFill>
                <a:latin typeface="Microsoft YaHei" pitchFamily="34" charset="0"/>
                <a:ea typeface="Microsoft YaHei" pitchFamily="34" charset="-122"/>
                <a:cs typeface="Microsoft YaHei" pitchFamily="34" charset="-120"/>
              </a:rPr>
              <a:t>场景下单位班次成本和充电量均</a:t>
            </a:r>
            <a:r>
              <a:rPr lang="zh-CN" altLang="en-US" sz="1600" b="1" dirty="0">
                <a:solidFill>
                  <a:srgbClr val="FF0000"/>
                </a:solidFill>
                <a:latin typeface="Microsoft YaHei" pitchFamily="34" charset="0"/>
                <a:ea typeface="Microsoft YaHei" pitchFamily="34" charset="-122"/>
                <a:cs typeface="Microsoft YaHei" pitchFamily="34" charset="-120"/>
              </a:rPr>
              <a:t>低于</a:t>
            </a:r>
            <a:r>
              <a:rPr lang="zh-CN" altLang="en-US" sz="1600" b="1" dirty="0">
                <a:solidFill>
                  <a:srgbClr val="2D2D2D"/>
                </a:solidFill>
                <a:latin typeface="Microsoft YaHei" pitchFamily="34" charset="0"/>
                <a:ea typeface="Microsoft YaHei" pitchFamily="34" charset="-122"/>
                <a:cs typeface="Microsoft YaHei" pitchFamily="34" charset="-120"/>
              </a:rPr>
              <a:t> </a:t>
            </a:r>
            <a:r>
              <a:rPr lang="en-US" altLang="zh-CN" sz="1600" b="1" dirty="0">
                <a:solidFill>
                  <a:srgbClr val="2D2D2D"/>
                </a:solidFill>
                <a:latin typeface="Microsoft YaHei" pitchFamily="34" charset="0"/>
                <a:ea typeface="Microsoft YaHei" pitchFamily="34" charset="-122"/>
                <a:cs typeface="Microsoft YaHei" pitchFamily="34" charset="-120"/>
              </a:rPr>
              <a:t>JSQ</a:t>
            </a:r>
            <a:r>
              <a:rPr lang="zh-CN" altLang="en-US" sz="1600" b="1" dirty="0">
                <a:solidFill>
                  <a:srgbClr val="2D2D2D"/>
                </a:solidFill>
                <a:latin typeface="Microsoft YaHei" pitchFamily="34" charset="0"/>
                <a:ea typeface="Microsoft YaHei" pitchFamily="34" charset="-122"/>
                <a:cs typeface="Microsoft YaHei" pitchFamily="34" charset="-120"/>
              </a:rPr>
              <a:t>。</a:t>
            </a:r>
            <a:endParaRPr lang="en-US" sz="1600" b="1" dirty="0" smtClean="0">
              <a:solidFill>
                <a:srgbClr val="2D2D2D"/>
              </a:solidFill>
              <a:latin typeface="Microsoft YaHei" pitchFamily="34" charset="0"/>
              <a:ea typeface="Microsoft YaHei" pitchFamily="34" charset="-122"/>
              <a:cs typeface="Microsoft YaHei" pitchFamily="34" charset="-120"/>
            </a:endParaRPr>
          </a:p>
          <a:p>
            <a:pPr marL="285750" indent="-285750">
              <a:lnSpc>
                <a:spcPct val="125000"/>
              </a:lnSpc>
              <a:buFont typeface="Wingdings" panose="05000000000000000000" pitchFamily="2" charset="2"/>
              <a:buChar char="Ø"/>
            </a:pPr>
            <a:r>
              <a:rPr lang="en-US" sz="1600" b="1" dirty="0">
                <a:solidFill>
                  <a:srgbClr val="2D2D2D"/>
                </a:solidFill>
                <a:latin typeface="Microsoft YaHei" pitchFamily="34" charset="0"/>
                <a:ea typeface="Microsoft YaHei" pitchFamily="34" charset="-122"/>
                <a:cs typeface="Microsoft YaHei" pitchFamily="34" charset="-120"/>
              </a:rPr>
              <a:t>右：GA </a:t>
            </a:r>
            <a:r>
              <a:rPr lang="zh-CN" altLang="en-US" sz="1600" b="1" dirty="0">
                <a:solidFill>
                  <a:srgbClr val="2D2D2D"/>
                </a:solidFill>
                <a:latin typeface="Microsoft YaHei" pitchFamily="34" charset="0"/>
                <a:ea typeface="Microsoft YaHei" pitchFamily="34" charset="-122"/>
                <a:cs typeface="Microsoft YaHei" pitchFamily="34" charset="-120"/>
              </a:rPr>
              <a:t>收敛曲线显示，</a:t>
            </a:r>
            <a:r>
              <a:rPr lang="zh-CN" altLang="en-US" sz="1600" b="1" dirty="0">
                <a:solidFill>
                  <a:srgbClr val="FF0000"/>
                </a:solidFill>
                <a:latin typeface="Microsoft YaHei" pitchFamily="34" charset="0"/>
                <a:ea typeface="Microsoft YaHei" pitchFamily="34" charset="-122"/>
                <a:cs typeface="Microsoft YaHei" pitchFamily="34" charset="-120"/>
              </a:rPr>
              <a:t>最优适应度</a:t>
            </a:r>
            <a:r>
              <a:rPr lang="zh-CN" altLang="en-US" sz="1600" b="1" dirty="0">
                <a:solidFill>
                  <a:srgbClr val="2D2D2D"/>
                </a:solidFill>
                <a:latin typeface="Microsoft YaHei" pitchFamily="34" charset="0"/>
                <a:ea typeface="Microsoft YaHei" pitchFamily="34" charset="-122"/>
                <a:cs typeface="Microsoft YaHei" pitchFamily="34" charset="-120"/>
              </a:rPr>
              <a:t>在第 </a:t>
            </a:r>
            <a:r>
              <a:rPr lang="en-US" altLang="zh-CN" sz="1600" b="1" dirty="0">
                <a:solidFill>
                  <a:srgbClr val="2D2D2D"/>
                </a:solidFill>
                <a:latin typeface="Microsoft YaHei" pitchFamily="34" charset="0"/>
                <a:ea typeface="Microsoft YaHei" pitchFamily="34" charset="-122"/>
                <a:cs typeface="Microsoft YaHei" pitchFamily="34" charset="-120"/>
              </a:rPr>
              <a:t>1 </a:t>
            </a:r>
            <a:r>
              <a:rPr lang="zh-CN" altLang="en-US" sz="1600" b="1" dirty="0">
                <a:solidFill>
                  <a:srgbClr val="2D2D2D"/>
                </a:solidFill>
                <a:latin typeface="Microsoft YaHei" pitchFamily="34" charset="0"/>
                <a:ea typeface="Microsoft YaHei" pitchFamily="34" charset="-122"/>
                <a:cs typeface="Microsoft YaHei" pitchFamily="34" charset="-120"/>
              </a:rPr>
              <a:t>至第 </a:t>
            </a:r>
            <a:r>
              <a:rPr lang="en-US" altLang="zh-CN" sz="1600" b="1" dirty="0">
                <a:solidFill>
                  <a:srgbClr val="2D2D2D"/>
                </a:solidFill>
                <a:latin typeface="Microsoft YaHei" pitchFamily="34" charset="0"/>
                <a:ea typeface="Microsoft YaHei" pitchFamily="34" charset="-122"/>
                <a:cs typeface="Microsoft YaHei" pitchFamily="34" charset="-120"/>
              </a:rPr>
              <a:t>4 </a:t>
            </a:r>
            <a:r>
              <a:rPr lang="zh-CN" altLang="en-US" sz="1600" b="1" dirty="0">
                <a:solidFill>
                  <a:srgbClr val="2D2D2D"/>
                </a:solidFill>
                <a:latin typeface="Microsoft YaHei" pitchFamily="34" charset="0"/>
                <a:ea typeface="Microsoft YaHei" pitchFamily="34" charset="-122"/>
                <a:cs typeface="Microsoft YaHei" pitchFamily="34" charset="-120"/>
              </a:rPr>
              <a:t>代</a:t>
            </a:r>
            <a:r>
              <a:rPr lang="zh-CN" altLang="en-US" sz="1600" b="1" dirty="0">
                <a:solidFill>
                  <a:srgbClr val="FF0000"/>
                </a:solidFill>
                <a:latin typeface="Microsoft YaHei" pitchFamily="34" charset="0"/>
                <a:ea typeface="Microsoft YaHei" pitchFamily="34" charset="-122"/>
                <a:cs typeface="Microsoft YaHei" pitchFamily="34" charset="-120"/>
              </a:rPr>
              <a:t>持续下降</a:t>
            </a:r>
            <a:r>
              <a:rPr lang="zh-CN" altLang="en-US" sz="1600" b="1" dirty="0">
                <a:solidFill>
                  <a:srgbClr val="2D2D2D"/>
                </a:solidFill>
                <a:latin typeface="Microsoft YaHei" pitchFamily="34" charset="0"/>
                <a:ea typeface="Microsoft YaHei" pitchFamily="34" charset="-122"/>
                <a:cs typeface="Microsoft YaHei" pitchFamily="34" charset="-120"/>
              </a:rPr>
              <a:t>，第 </a:t>
            </a:r>
            <a:r>
              <a:rPr lang="en-US" altLang="zh-CN" sz="1600" b="1" dirty="0">
                <a:solidFill>
                  <a:srgbClr val="2D2D2D"/>
                </a:solidFill>
                <a:latin typeface="Microsoft YaHei" pitchFamily="34" charset="0"/>
                <a:ea typeface="Microsoft YaHei" pitchFamily="34" charset="-122"/>
                <a:cs typeface="Microsoft YaHei" pitchFamily="34" charset="-120"/>
              </a:rPr>
              <a:t>4 </a:t>
            </a:r>
            <a:r>
              <a:rPr lang="zh-CN" altLang="en-US" sz="1600" b="1" dirty="0">
                <a:solidFill>
                  <a:srgbClr val="2D2D2D"/>
                </a:solidFill>
                <a:latin typeface="Microsoft YaHei" pitchFamily="34" charset="0"/>
                <a:ea typeface="Microsoft YaHei" pitchFamily="34" charset="-122"/>
                <a:cs typeface="Microsoft YaHei" pitchFamily="34" charset="-120"/>
              </a:rPr>
              <a:t>代后基本</a:t>
            </a:r>
            <a:r>
              <a:rPr lang="zh-CN" altLang="en-US" sz="1600" b="1" dirty="0">
                <a:solidFill>
                  <a:srgbClr val="FF0000"/>
                </a:solidFill>
                <a:latin typeface="Microsoft YaHei" pitchFamily="34" charset="0"/>
                <a:ea typeface="Microsoft YaHei" pitchFamily="34" charset="-122"/>
                <a:cs typeface="Microsoft YaHei" pitchFamily="34" charset="-120"/>
              </a:rPr>
              <a:t>稳定</a:t>
            </a:r>
            <a:r>
              <a:rPr lang="zh-CN" altLang="en-US" sz="1600" b="1" dirty="0">
                <a:solidFill>
                  <a:srgbClr val="2D2D2D"/>
                </a:solidFill>
                <a:latin typeface="Microsoft YaHei" pitchFamily="34" charset="0"/>
                <a:ea typeface="Microsoft YaHei" pitchFamily="34" charset="-122"/>
                <a:cs typeface="Microsoft YaHei" pitchFamily="34" charset="-120"/>
              </a:rPr>
              <a:t>，说明当前参数规模下遗传算法已找到</a:t>
            </a:r>
            <a:r>
              <a:rPr lang="zh-CN" altLang="en-US" sz="1600" b="1" dirty="0">
                <a:solidFill>
                  <a:srgbClr val="FF0000"/>
                </a:solidFill>
                <a:latin typeface="Microsoft YaHei" pitchFamily="34" charset="0"/>
                <a:ea typeface="Microsoft YaHei" pitchFamily="34" charset="-122"/>
                <a:cs typeface="Microsoft YaHei" pitchFamily="34" charset="-120"/>
              </a:rPr>
              <a:t>较优调度策略</a:t>
            </a:r>
            <a:r>
              <a:rPr lang="zh-CN" altLang="en-US" sz="1600" b="1" dirty="0">
                <a:solidFill>
                  <a:srgbClr val="2D2D2D"/>
                </a:solidFill>
                <a:latin typeface="Microsoft YaHei" pitchFamily="34" charset="0"/>
                <a:ea typeface="Microsoft YaHei" pitchFamily="34" charset="-122"/>
                <a:cs typeface="Microsoft YaHei" pitchFamily="34" charset="-120"/>
              </a:rPr>
              <a:t>。</a:t>
            </a:r>
            <a:endParaRPr lang="en-US" sz="1600" b="1" dirty="0" smtClean="0"/>
          </a:p>
          <a:p>
            <a:pPr marL="285750" indent="-285750">
              <a:lnSpc>
                <a:spcPct val="125000"/>
              </a:lnSpc>
              <a:buFont typeface="Wingdings" panose="05000000000000000000" pitchFamily="2" charset="2"/>
              <a:buChar char="Ø"/>
            </a:pPr>
            <a:r>
              <a:rPr lang="en-US" sz="1600" b="1" dirty="0" smtClean="0">
                <a:solidFill>
                  <a:srgbClr val="2D2D2D"/>
                </a:solidFill>
                <a:latin typeface="Microsoft YaHei" pitchFamily="34" charset="0"/>
                <a:ea typeface="Microsoft YaHei" pitchFamily="34" charset="-122"/>
                <a:cs typeface="Microsoft YaHei" pitchFamily="34" charset="-120"/>
              </a:rPr>
              <a:t>碳排口径</a:t>
            </a:r>
            <a:r>
              <a:rPr lang="en-US" sz="1600" b="1" dirty="0">
                <a:solidFill>
                  <a:srgbClr val="2D2D2D"/>
                </a:solidFill>
                <a:latin typeface="Microsoft YaHei" pitchFamily="34" charset="0"/>
                <a:ea typeface="Microsoft YaHei" pitchFamily="34" charset="-122"/>
                <a:cs typeface="Microsoft YaHei" pitchFamily="34" charset="-120"/>
              </a:rPr>
              <a:t>：total_charging_co2 = total_charged_energy_kwh × 0.55 kgCO₂/kWh。</a:t>
            </a:r>
            <a:r>
              <a:rPr lang="en-US" sz="1600" b="1" dirty="0" smtClean="0">
                <a:solidFill>
                  <a:srgbClr val="2D2D2D"/>
                </a:solidFill>
                <a:latin typeface="Microsoft YaHei" pitchFamily="34" charset="0"/>
                <a:ea typeface="Microsoft YaHei" pitchFamily="34" charset="-122"/>
                <a:cs typeface="Microsoft YaHei" pitchFamily="34" charset="-120"/>
              </a:rPr>
              <a:t>电动巴士无尾气排放，</a:t>
            </a:r>
            <a:r>
              <a:rPr lang="zh-CN" altLang="en-US" sz="1600" b="1" dirty="0" smtClean="0">
                <a:solidFill>
                  <a:srgbClr val="2D2D2D"/>
                </a:solidFill>
                <a:latin typeface="Microsoft YaHei" pitchFamily="34" charset="0"/>
                <a:ea typeface="Microsoft YaHei" pitchFamily="34" charset="-122"/>
                <a:cs typeface="Microsoft YaHei" pitchFamily="34" charset="-120"/>
              </a:rPr>
              <a:t>因此，</a:t>
            </a:r>
            <a:r>
              <a:rPr lang="zh-CN" altLang="en-US" sz="1600" b="1" dirty="0" smtClean="0">
                <a:solidFill>
                  <a:srgbClr val="2D2D2D"/>
                </a:solidFill>
                <a:latin typeface="Microsoft YaHei" pitchFamily="34" charset="0"/>
                <a:ea typeface="Microsoft YaHei" pitchFamily="34" charset="-122"/>
                <a:cs typeface="Microsoft YaHei" pitchFamily="34" charset="-120"/>
              </a:rPr>
              <a:t>“</a:t>
            </a:r>
            <a:r>
              <a:rPr lang="zh-CN" altLang="en-US" sz="1600" b="1" dirty="0">
                <a:solidFill>
                  <a:srgbClr val="2D2D2D"/>
                </a:solidFill>
                <a:latin typeface="Microsoft YaHei" pitchFamily="34" charset="0"/>
                <a:ea typeface="Microsoft YaHei" pitchFamily="34" charset="-122"/>
                <a:cs typeface="Microsoft YaHei" pitchFamily="34" charset="-120"/>
              </a:rPr>
              <a:t>充电量下降”可以</a:t>
            </a:r>
            <a:r>
              <a:rPr lang="zh-CN" altLang="en-US" sz="1600" b="1" dirty="0">
                <a:solidFill>
                  <a:srgbClr val="FF0000"/>
                </a:solidFill>
                <a:latin typeface="Microsoft YaHei" pitchFamily="34" charset="0"/>
                <a:ea typeface="Microsoft YaHei" pitchFamily="34" charset="-122"/>
                <a:cs typeface="Microsoft YaHei" pitchFamily="34" charset="-120"/>
              </a:rPr>
              <a:t>间接说明</a:t>
            </a:r>
            <a:r>
              <a:rPr lang="zh-CN" altLang="en-US" sz="1600" b="1" dirty="0">
                <a:solidFill>
                  <a:srgbClr val="2D2D2D"/>
                </a:solidFill>
                <a:latin typeface="Microsoft YaHei" pitchFamily="34" charset="0"/>
                <a:ea typeface="Microsoft YaHei" pitchFamily="34" charset="-122"/>
                <a:cs typeface="Microsoft YaHei" pitchFamily="34" charset="-120"/>
              </a:rPr>
              <a:t>电力侧碳排放</a:t>
            </a:r>
            <a:r>
              <a:rPr lang="zh-CN" altLang="en-US" sz="1600" b="1" dirty="0">
                <a:solidFill>
                  <a:srgbClr val="FF0000"/>
                </a:solidFill>
                <a:latin typeface="Microsoft YaHei" pitchFamily="34" charset="0"/>
                <a:ea typeface="Microsoft YaHei" pitchFamily="34" charset="-122"/>
                <a:cs typeface="Microsoft YaHei" pitchFamily="34" charset="-120"/>
              </a:rPr>
              <a:t>同步降</a:t>
            </a:r>
            <a:r>
              <a:rPr lang="zh-CN" altLang="en-US" sz="1600" b="1" dirty="0" smtClean="0">
                <a:solidFill>
                  <a:srgbClr val="FF0000"/>
                </a:solidFill>
                <a:latin typeface="Microsoft YaHei" pitchFamily="34" charset="0"/>
                <a:ea typeface="Microsoft YaHei" pitchFamily="34" charset="-122"/>
                <a:cs typeface="Microsoft YaHei" pitchFamily="34" charset="-120"/>
              </a:rPr>
              <a:t>低</a:t>
            </a:r>
            <a:r>
              <a:rPr lang="zh-CN" altLang="en-US" sz="1600" b="1" dirty="0">
                <a:solidFill>
                  <a:srgbClr val="2D2D2D"/>
                </a:solidFill>
                <a:latin typeface="Microsoft YaHei" pitchFamily="34" charset="0"/>
                <a:ea typeface="Microsoft YaHei" pitchFamily="34" charset="-122"/>
                <a:cs typeface="Microsoft YaHei" pitchFamily="34" charset="-120"/>
              </a:rPr>
              <a:t>。</a:t>
            </a:r>
            <a:endParaRPr lang="en-US" sz="1600" b="1" dirty="0"/>
          </a:p>
        </p:txBody>
      </p:sp>
      <p:sp>
        <p:nvSpPr>
          <p:cNvPr id="17" name="矩形 16"/>
          <p:cNvSpPr/>
          <p:nvPr/>
        </p:nvSpPr>
        <p:spPr>
          <a:xfrm>
            <a:off x="1871336" y="3753117"/>
            <a:ext cx="3049233"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9</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三阶段场景下单位班次充电效率对比</a:t>
            </a:r>
            <a:endParaRPr lang="zh-CN" altLang="en-US" sz="1200" b="1" dirty="0">
              <a:latin typeface="微软雅黑" panose="020B0503020204020204" pitchFamily="34" charset="-122"/>
              <a:ea typeface="微软雅黑" panose="020B0503020204020204" pitchFamily="34" charset="-122"/>
            </a:endParaRPr>
          </a:p>
        </p:txBody>
      </p:sp>
      <p:sp>
        <p:nvSpPr>
          <p:cNvPr id="23" name="矩形 22"/>
          <p:cNvSpPr/>
          <p:nvPr/>
        </p:nvSpPr>
        <p:spPr>
          <a:xfrm>
            <a:off x="7845799" y="3746361"/>
            <a:ext cx="2696572"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smtClean="0">
                <a:latin typeface="微软雅黑" panose="020B0503020204020204" pitchFamily="34" charset="-122"/>
                <a:ea typeface="微软雅黑" panose="020B0503020204020204" pitchFamily="34" charset="-122"/>
              </a:rPr>
              <a:t>10</a:t>
            </a:r>
            <a:r>
              <a:rPr lang="zh-CN" altLang="en-US" sz="1200" b="1" dirty="0" smtClean="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Full </a:t>
            </a:r>
            <a:r>
              <a:rPr lang="zh-CN" altLang="en-US" sz="1200" b="1" dirty="0">
                <a:latin typeface="微软雅黑" panose="020B0503020204020204" pitchFamily="34" charset="-122"/>
                <a:ea typeface="微软雅黑" panose="020B0503020204020204" pitchFamily="34" charset="-122"/>
              </a:rPr>
              <a:t>场景下遗传算法收敛曲线</a:t>
            </a:r>
            <a:endParaRPr lang="zh-CN" altLang="en-US" sz="1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94879579"/>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4180786"/>
            <a:chOff x="2584397" y="217491"/>
            <a:chExt cx="10096500" cy="4180786"/>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05564" y="243297"/>
              <a:ext cx="2492982" cy="4154980"/>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绿</a:t>
              </a:r>
              <a:r>
                <a:rPr lang="zh-CN" altLang="en-US" sz="1200" dirty="0">
                  <a:solidFill>
                    <a:schemeClr val="bg1"/>
                  </a:solidFill>
                  <a:latin typeface="微软雅黑" panose="020B0503020204020204" pitchFamily="34" charset="-122"/>
                  <a:ea typeface="微软雅黑" panose="020B0503020204020204" pitchFamily="34" charset="-122"/>
                </a:rPr>
                <a:t>色路径规划：候选路径能耗对比</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pic>
        <p:nvPicPr>
          <p:cNvPr id="17" name="Image 0" descr="C:\Users\Administrator\Desktop\greenlowcarbon\plannin\ebus\outputs\figures\green_path_type_comparison.png"/>
          <p:cNvPicPr>
            <a:picLocks noChangeAspect="1"/>
          </p:cNvPicPr>
          <p:nvPr/>
        </p:nvPicPr>
        <p:blipFill>
          <a:blip r:embed="rId4"/>
          <a:stretch>
            <a:fillRect/>
          </a:stretch>
        </p:blipFill>
        <p:spPr>
          <a:xfrm>
            <a:off x="224708" y="1144712"/>
            <a:ext cx="5739407" cy="2197881"/>
          </a:xfrm>
          <a:prstGeom prst="rect">
            <a:avLst/>
          </a:prstGeom>
        </p:spPr>
      </p:pic>
      <p:pic>
        <p:nvPicPr>
          <p:cNvPr id="23" name="Image 1" descr="C:\Users\Administrator\Desktop\greenlowcarbon\plannin\ebus\outputs\figures\green_path_strategy_comparison.png"/>
          <p:cNvPicPr>
            <a:picLocks noChangeAspect="1"/>
          </p:cNvPicPr>
          <p:nvPr/>
        </p:nvPicPr>
        <p:blipFill>
          <a:blip r:embed="rId5"/>
          <a:stretch>
            <a:fillRect/>
          </a:stretch>
        </p:blipFill>
        <p:spPr>
          <a:xfrm>
            <a:off x="6154847" y="1132103"/>
            <a:ext cx="5772336" cy="2210491"/>
          </a:xfrm>
          <a:prstGeom prst="rect">
            <a:avLst/>
          </a:prstGeom>
        </p:spPr>
      </p:pic>
      <p:sp>
        <p:nvSpPr>
          <p:cNvPr id="24" name="Shape 8"/>
          <p:cNvSpPr/>
          <p:nvPr/>
        </p:nvSpPr>
        <p:spPr>
          <a:xfrm>
            <a:off x="609600" y="3962400"/>
            <a:ext cx="11094720" cy="2194560"/>
          </a:xfrm>
          <a:prstGeom prst="roundRect">
            <a:avLst>
              <a:gd name="adj" fmla="val 3333"/>
            </a:avLst>
          </a:prstGeom>
          <a:solidFill>
            <a:srgbClr val="F8F5F0"/>
          </a:solidFill>
          <a:ln w="5080">
            <a:solidFill>
              <a:srgbClr val="C4A35A">
                <a:alpha val="30000"/>
              </a:srgbClr>
            </a:solidFill>
            <a:prstDash val="solid"/>
          </a:ln>
        </p:spPr>
      </p:sp>
      <p:sp>
        <p:nvSpPr>
          <p:cNvPr id="25" name="Text 9"/>
          <p:cNvSpPr/>
          <p:nvPr/>
        </p:nvSpPr>
        <p:spPr>
          <a:xfrm>
            <a:off x="792480" y="4047744"/>
            <a:ext cx="2438400" cy="304800"/>
          </a:xfrm>
          <a:prstGeom prst="rect">
            <a:avLst/>
          </a:prstGeom>
          <a:noFill/>
          <a:ln/>
        </p:spPr>
        <p:txBody>
          <a:bodyPr wrap="square" rtlCol="0" anchor="ctr"/>
          <a:lstStyle/>
          <a:p>
            <a:r>
              <a:rPr lang="en-US" sz="1867" b="1" dirty="0" smtClean="0">
                <a:solidFill>
                  <a:srgbClr val="15548D"/>
                </a:solidFill>
                <a:latin typeface="Microsoft YaHei" pitchFamily="34" charset="0"/>
                <a:ea typeface="Microsoft YaHei" pitchFamily="34" charset="-122"/>
                <a:cs typeface="Microsoft YaHei" pitchFamily="34" charset="-120"/>
              </a:rPr>
              <a:t>绿色路径结论:</a:t>
            </a:r>
            <a:endParaRPr lang="en-US" sz="1867" dirty="0">
              <a:solidFill>
                <a:srgbClr val="15548D"/>
              </a:solidFill>
            </a:endParaRPr>
          </a:p>
        </p:txBody>
      </p:sp>
      <p:sp>
        <p:nvSpPr>
          <p:cNvPr id="26" name="Text 10"/>
          <p:cNvSpPr/>
          <p:nvPr/>
        </p:nvSpPr>
        <p:spPr>
          <a:xfrm>
            <a:off x="792480" y="4450080"/>
            <a:ext cx="10728960" cy="1463040"/>
          </a:xfrm>
          <a:prstGeom prst="rect">
            <a:avLst/>
          </a:prstGeom>
          <a:noFill/>
          <a:ln/>
        </p:spPr>
        <p:txBody>
          <a:bodyPr wrap="square" rtlCol="0" anchor="ctr"/>
          <a:lstStyle/>
          <a:p>
            <a:pPr marL="285750" indent="-285750">
              <a:lnSpc>
                <a:spcPct val="125000"/>
              </a:lnSpc>
              <a:buFont typeface="Wingdings" panose="05000000000000000000" pitchFamily="2" charset="2"/>
              <a:buChar char="Ø"/>
            </a:pPr>
            <a:r>
              <a:rPr lang="en-US" sz="1600" b="1" dirty="0">
                <a:solidFill>
                  <a:srgbClr val="2D2D2D"/>
                </a:solidFill>
                <a:latin typeface="Microsoft YaHei" pitchFamily="34" charset="0"/>
                <a:ea typeface="Microsoft YaHei" pitchFamily="34" charset="-122"/>
                <a:cs typeface="Microsoft YaHei" pitchFamily="34" charset="-120"/>
              </a:rPr>
              <a:t>每趟行程构造 3 条候选路径 (231,360 条)。99.98% 班次下最短距离 = 最低能耗——</a:t>
            </a:r>
            <a:r>
              <a:rPr lang="en-US" sz="1600" b="1" dirty="0">
                <a:solidFill>
                  <a:srgbClr val="FF0000"/>
                </a:solidFill>
                <a:latin typeface="Microsoft YaHei" pitchFamily="34" charset="0"/>
                <a:ea typeface="Microsoft YaHei" pitchFamily="34" charset="-122"/>
                <a:cs typeface="Microsoft YaHei" pitchFamily="34" charset="-120"/>
              </a:rPr>
              <a:t>距离</a:t>
            </a:r>
            <a:r>
              <a:rPr lang="en-US" sz="1600" b="1" dirty="0">
                <a:solidFill>
                  <a:srgbClr val="2D2D2D"/>
                </a:solidFill>
                <a:latin typeface="Microsoft YaHei" pitchFamily="34" charset="0"/>
                <a:ea typeface="Microsoft YaHei" pitchFamily="34" charset="-122"/>
                <a:cs typeface="Microsoft YaHei" pitchFamily="34" charset="-120"/>
              </a:rPr>
              <a:t>仍是公交行程</a:t>
            </a:r>
            <a:r>
              <a:rPr lang="en-US" sz="1600" b="1" dirty="0">
                <a:solidFill>
                  <a:srgbClr val="FF0000"/>
                </a:solidFill>
                <a:latin typeface="Microsoft YaHei" pitchFamily="34" charset="0"/>
                <a:ea typeface="Microsoft YaHei" pitchFamily="34" charset="-122"/>
                <a:cs typeface="Microsoft YaHei" pitchFamily="34" charset="-120"/>
              </a:rPr>
              <a:t>能耗主导</a:t>
            </a:r>
            <a:r>
              <a:rPr lang="en-US" sz="1600" b="1" dirty="0">
                <a:solidFill>
                  <a:srgbClr val="2D2D2D"/>
                </a:solidFill>
                <a:latin typeface="Microsoft YaHei" pitchFamily="34" charset="0"/>
                <a:ea typeface="Microsoft YaHei" pitchFamily="34" charset="-122"/>
                <a:cs typeface="Microsoft YaHei" pitchFamily="34" charset="-120"/>
              </a:rPr>
              <a:t>因素</a:t>
            </a:r>
            <a:r>
              <a:rPr lang="en-US" sz="1600" b="1" dirty="0" smtClean="0">
                <a:solidFill>
                  <a:srgbClr val="2D2D2D"/>
                </a:solidFill>
                <a:latin typeface="Microsoft YaHei" pitchFamily="34" charset="0"/>
                <a:ea typeface="Microsoft YaHei" pitchFamily="34" charset="-122"/>
                <a:cs typeface="Microsoft YaHei" pitchFamily="34" charset="-120"/>
              </a:rPr>
              <a:t>。</a:t>
            </a:r>
            <a:endParaRPr lang="en-US" sz="1600" b="1" dirty="0"/>
          </a:p>
          <a:p>
            <a:pPr marL="285750" indent="-285750">
              <a:lnSpc>
                <a:spcPct val="125000"/>
              </a:lnSpc>
              <a:buFont typeface="Wingdings" panose="05000000000000000000" pitchFamily="2" charset="2"/>
              <a:buChar char="Ø"/>
            </a:pPr>
            <a:r>
              <a:rPr lang="en-US" sz="1600" b="1" dirty="0">
                <a:solidFill>
                  <a:srgbClr val="2D2D2D"/>
                </a:solidFill>
                <a:latin typeface="Microsoft YaHei" pitchFamily="34" charset="0"/>
                <a:ea typeface="Microsoft YaHei" pitchFamily="34" charset="-122"/>
                <a:cs typeface="Microsoft YaHei" pitchFamily="34" charset="-120"/>
              </a:rPr>
              <a:t>左图：三类路径（短陡/均衡/长平）总距离与总能耗对比。Path C </a:t>
            </a:r>
            <a:r>
              <a:rPr lang="en-US" sz="1600" b="1" dirty="0">
                <a:solidFill>
                  <a:srgbClr val="FF0000"/>
                </a:solidFill>
                <a:latin typeface="Microsoft YaHei" pitchFamily="34" charset="0"/>
                <a:ea typeface="Microsoft YaHei" pitchFamily="34" charset="-122"/>
                <a:cs typeface="Microsoft YaHei" pitchFamily="34" charset="-120"/>
              </a:rPr>
              <a:t>绕行距离增加的能耗超过坡度下降节省的能耗</a:t>
            </a:r>
            <a:r>
              <a:rPr lang="en-US" sz="1600" b="1" dirty="0" smtClean="0">
                <a:solidFill>
                  <a:srgbClr val="2D2D2D"/>
                </a:solidFill>
                <a:latin typeface="Microsoft YaHei" pitchFamily="34" charset="0"/>
                <a:ea typeface="Microsoft YaHei" pitchFamily="34" charset="-122"/>
                <a:cs typeface="Microsoft YaHei" pitchFamily="34" charset="-120"/>
              </a:rPr>
              <a:t>。</a:t>
            </a:r>
            <a:endParaRPr lang="en-US" sz="1600" b="1" dirty="0"/>
          </a:p>
          <a:p>
            <a:pPr marL="285750" indent="-285750">
              <a:lnSpc>
                <a:spcPct val="125000"/>
              </a:lnSpc>
              <a:buFont typeface="Wingdings" panose="05000000000000000000" pitchFamily="2" charset="2"/>
              <a:buChar char="Ø"/>
            </a:pPr>
            <a:r>
              <a:rPr lang="en-US" sz="1600" b="1" dirty="0">
                <a:solidFill>
                  <a:srgbClr val="2D2D2D"/>
                </a:solidFill>
                <a:latin typeface="Microsoft YaHei" pitchFamily="34" charset="0"/>
                <a:ea typeface="Microsoft YaHei" pitchFamily="34" charset="-122"/>
                <a:cs typeface="Microsoft YaHei" pitchFamily="34" charset="-120"/>
              </a:rPr>
              <a:t>右图：最短距离 vs 最低能耗策略对比——</a:t>
            </a:r>
            <a:r>
              <a:rPr lang="en-US" sz="1600" b="1" dirty="0">
                <a:solidFill>
                  <a:srgbClr val="FF0000"/>
                </a:solidFill>
                <a:latin typeface="Microsoft YaHei" pitchFamily="34" charset="0"/>
                <a:ea typeface="Microsoft YaHei" pitchFamily="34" charset="-122"/>
                <a:cs typeface="Microsoft YaHei" pitchFamily="34" charset="-120"/>
              </a:rPr>
              <a:t>差异极小</a:t>
            </a:r>
            <a:r>
              <a:rPr lang="en-US" sz="1600" b="1" dirty="0">
                <a:solidFill>
                  <a:srgbClr val="2D2D2D"/>
                </a:solidFill>
                <a:latin typeface="Microsoft YaHei" pitchFamily="34" charset="0"/>
                <a:ea typeface="Microsoft YaHei" pitchFamily="34" charset="-122"/>
                <a:cs typeface="Microsoft YaHei" pitchFamily="34" charset="-120"/>
              </a:rPr>
              <a:t>（99.98</a:t>
            </a:r>
            <a:r>
              <a:rPr lang="en-US" sz="1600" b="1" dirty="0" smtClean="0">
                <a:solidFill>
                  <a:srgbClr val="2D2D2D"/>
                </a:solidFill>
                <a:latin typeface="Microsoft YaHei" pitchFamily="34" charset="0"/>
                <a:ea typeface="Microsoft YaHei" pitchFamily="34" charset="-122"/>
                <a:cs typeface="Microsoft YaHei" pitchFamily="34" charset="-120"/>
              </a:rPr>
              <a:t>%一致</a:t>
            </a:r>
            <a:r>
              <a:rPr lang="en-US" sz="1600" b="1" dirty="0">
                <a:solidFill>
                  <a:srgbClr val="2D2D2D"/>
                </a:solidFill>
                <a:latin typeface="Microsoft YaHei" pitchFamily="34" charset="0"/>
                <a:ea typeface="Microsoft YaHei" pitchFamily="34" charset="-122"/>
                <a:cs typeface="Microsoft YaHei" pitchFamily="34" charset="-120"/>
              </a:rPr>
              <a:t>），说明当前候选路径规则下</a:t>
            </a:r>
            <a:r>
              <a:rPr lang="en-US" sz="1600" b="1" dirty="0">
                <a:solidFill>
                  <a:srgbClr val="FF0000"/>
                </a:solidFill>
                <a:latin typeface="Microsoft YaHei" pitchFamily="34" charset="0"/>
                <a:ea typeface="Microsoft YaHei" pitchFamily="34" charset="-122"/>
                <a:cs typeface="Microsoft YaHei" pitchFamily="34" charset="-120"/>
              </a:rPr>
              <a:t>距离占主导</a:t>
            </a:r>
            <a:r>
              <a:rPr lang="en-US" sz="1600" b="1" dirty="0">
                <a:solidFill>
                  <a:srgbClr val="2D2D2D"/>
                </a:solidFill>
                <a:latin typeface="Microsoft YaHei" pitchFamily="34" charset="0"/>
                <a:ea typeface="Microsoft YaHei" pitchFamily="34" charset="-122"/>
                <a:cs typeface="Microsoft YaHei" pitchFamily="34" charset="-120"/>
              </a:rPr>
              <a:t>。</a:t>
            </a:r>
            <a:endParaRPr lang="en-US" sz="1600" b="1" dirty="0"/>
          </a:p>
          <a:p>
            <a:pPr marL="285750" indent="-285750">
              <a:lnSpc>
                <a:spcPct val="125000"/>
              </a:lnSpc>
              <a:buFont typeface="Wingdings" panose="05000000000000000000" pitchFamily="2" charset="2"/>
              <a:buChar char="Ø"/>
            </a:pPr>
            <a:r>
              <a:rPr lang="en-US" sz="1600" b="1" dirty="0">
                <a:solidFill>
                  <a:srgbClr val="2E7D32"/>
                </a:solidFill>
                <a:latin typeface="Microsoft YaHei" pitchFamily="34" charset="0"/>
                <a:ea typeface="Microsoft YaHei" pitchFamily="34" charset="-122"/>
                <a:cs typeface="Microsoft YaHei" pitchFamily="34" charset="-120"/>
              </a:rPr>
              <a:t>绿色路径作为调度前预处理：筛选低能耗路径 → 降低每趟能耗 → 减少充电需求总量 → 间接降低碳排</a:t>
            </a:r>
            <a:endParaRPr lang="en-US" sz="1600" b="1" dirty="0"/>
          </a:p>
        </p:txBody>
      </p:sp>
      <p:sp>
        <p:nvSpPr>
          <p:cNvPr id="18" name="矩形 17"/>
          <p:cNvSpPr/>
          <p:nvPr/>
        </p:nvSpPr>
        <p:spPr>
          <a:xfrm>
            <a:off x="1368618" y="3449805"/>
            <a:ext cx="3451586"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smtClean="0">
                <a:latin typeface="微软雅黑" panose="020B0503020204020204" pitchFamily="34" charset="-122"/>
                <a:ea typeface="微软雅黑" panose="020B0503020204020204" pitchFamily="34" charset="-122"/>
              </a:rPr>
              <a:t>11</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候选路径类型对距离、能耗与碳排的影响</a:t>
            </a:r>
            <a:endParaRPr lang="zh-CN" altLang="en-US" sz="1200" b="1" dirty="0">
              <a:latin typeface="微软雅黑" panose="020B0503020204020204" pitchFamily="34" charset="-122"/>
              <a:ea typeface="微软雅黑" panose="020B0503020204020204" pitchFamily="34" charset="-122"/>
            </a:endParaRPr>
          </a:p>
        </p:txBody>
      </p:sp>
      <p:sp>
        <p:nvSpPr>
          <p:cNvPr id="19" name="矩形 18"/>
          <p:cNvSpPr/>
          <p:nvPr/>
        </p:nvSpPr>
        <p:spPr>
          <a:xfrm>
            <a:off x="7546054" y="3449805"/>
            <a:ext cx="2989921"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图</a:t>
            </a:r>
            <a:r>
              <a:rPr lang="en-US" altLang="zh-CN" sz="1200" b="1" dirty="0" smtClean="0">
                <a:latin typeface="微软雅黑" panose="020B0503020204020204" pitchFamily="34" charset="-122"/>
                <a:ea typeface="微软雅黑" panose="020B0503020204020204" pitchFamily="34" charset="-122"/>
              </a:rPr>
              <a:t>12</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最短路径与最低能耗路径策略对比</a:t>
            </a:r>
            <a:endParaRPr lang="zh-CN" altLang="en-US" sz="1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86398581"/>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华中科技大学.png"/>
          <p:cNvPicPr>
            <a:picLocks noChangeAspect="1"/>
          </p:cNvPicPr>
          <p:nvPr/>
        </p:nvPicPr>
        <p:blipFill>
          <a:blip r:embed="rId3"/>
          <a:stretch>
            <a:fillRect/>
          </a:stretch>
        </p:blipFill>
        <p:spPr>
          <a:xfrm>
            <a:off x="10257851" y="6221713"/>
            <a:ext cx="1835216" cy="403091"/>
          </a:xfrm>
          <a:prstGeom prst="rect">
            <a:avLst/>
          </a:prstGeom>
        </p:spPr>
      </p:pic>
      <p:grpSp>
        <p:nvGrpSpPr>
          <p:cNvPr id="32" name="组合 31"/>
          <p:cNvGrpSpPr/>
          <p:nvPr/>
        </p:nvGrpSpPr>
        <p:grpSpPr>
          <a:xfrm>
            <a:off x="-254000" y="201683"/>
            <a:ext cx="898070" cy="523220"/>
            <a:chOff x="-254000" y="201683"/>
            <a:chExt cx="898070" cy="523220"/>
          </a:xfrm>
        </p:grpSpPr>
        <p:sp>
          <p:nvSpPr>
            <p:cNvPr id="33" name="淘宝-想搞设计PPT(倒卖必究)-6"/>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7"/>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35" name="淘宝-想搞设计PPT(倒卖必究)-8"/>
          <p:cNvSpPr txBox="1"/>
          <p:nvPr/>
        </p:nvSpPr>
        <p:spPr>
          <a:xfrm>
            <a:off x="701167" y="14494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实</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验结果</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584397" y="217491"/>
            <a:ext cx="10096500" cy="4365451"/>
            <a:chOff x="2584397" y="217491"/>
            <a:chExt cx="10096500" cy="4365451"/>
          </a:xfrm>
        </p:grpSpPr>
        <p:sp>
          <p:nvSpPr>
            <p:cNvPr id="38" name="淘宝-想搞设计PPT(倒卖必究)-5"/>
            <p:cNvSpPr/>
            <p:nvPr/>
          </p:nvSpPr>
          <p:spPr>
            <a:xfrm>
              <a:off x="2584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淘宝-想搞设计PPT(倒卖必究)-9"/>
            <p:cNvSpPr/>
            <p:nvPr/>
          </p:nvSpPr>
          <p:spPr>
            <a:xfrm flipV="1">
              <a:off x="2597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30"/>
            <p:cNvSpPr/>
            <p:nvPr/>
          </p:nvSpPr>
          <p:spPr>
            <a:xfrm>
              <a:off x="2623436" y="243297"/>
              <a:ext cx="2861673" cy="4339645"/>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三</a:t>
              </a:r>
              <a:r>
                <a:rPr lang="zh-CN" altLang="en-US" sz="1200" dirty="0">
                  <a:solidFill>
                    <a:schemeClr val="bg1"/>
                  </a:solidFill>
                  <a:latin typeface="微软雅黑" panose="020B0503020204020204" pitchFamily="34" charset="-122"/>
                  <a:ea typeface="微软雅黑" panose="020B0503020204020204" pitchFamily="34" charset="-122"/>
                </a:rPr>
                <a:t>阶段场景下 </a:t>
              </a:r>
              <a:r>
                <a:rPr lang="en-US" altLang="zh-CN" sz="1200" dirty="0">
                  <a:solidFill>
                    <a:schemeClr val="bg1"/>
                  </a:solidFill>
                  <a:latin typeface="微软雅黑" panose="020B0503020204020204" pitchFamily="34" charset="-122"/>
                  <a:ea typeface="微软雅黑" panose="020B0503020204020204" pitchFamily="34" charset="-122"/>
                </a:rPr>
                <a:t>JSQ </a:t>
              </a:r>
              <a:r>
                <a:rPr lang="zh-CN" altLang="en-US" sz="1200" dirty="0">
                  <a:solidFill>
                    <a:schemeClr val="bg1"/>
                  </a:solidFill>
                  <a:latin typeface="微软雅黑" panose="020B0503020204020204" pitchFamily="34" charset="-122"/>
                  <a:ea typeface="微软雅黑" panose="020B0503020204020204" pitchFamily="34" charset="-122"/>
                </a:rPr>
                <a:t>与 </a:t>
              </a:r>
              <a:r>
                <a:rPr lang="en-US" altLang="zh-CN" sz="1200" dirty="0">
                  <a:solidFill>
                    <a:schemeClr val="bg1"/>
                  </a:solidFill>
                  <a:latin typeface="微软雅黑" panose="020B0503020204020204" pitchFamily="34" charset="-122"/>
                  <a:ea typeface="微软雅黑" panose="020B0503020204020204" pitchFamily="34" charset="-122"/>
                </a:rPr>
                <a:t>GA </a:t>
              </a:r>
              <a:r>
                <a:rPr lang="zh-CN" altLang="en-US" sz="1200" dirty="0">
                  <a:solidFill>
                    <a:schemeClr val="bg1"/>
                  </a:solidFill>
                  <a:latin typeface="微软雅黑" panose="020B0503020204020204" pitchFamily="34" charset="-122"/>
                  <a:ea typeface="微软雅黑" panose="020B0503020204020204" pitchFamily="34" charset="-122"/>
                </a:rPr>
                <a:t>核心指标汇总</a:t>
              </a: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smtClean="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sp>
        <p:nvSpPr>
          <p:cNvPr id="41" name="Text 7"/>
          <p:cNvSpPr/>
          <p:nvPr/>
        </p:nvSpPr>
        <p:spPr>
          <a:xfrm>
            <a:off x="299553" y="6334436"/>
            <a:ext cx="4876800" cy="341376"/>
          </a:xfrm>
          <a:prstGeom prst="rect">
            <a:avLst/>
          </a:prstGeom>
          <a:noFill/>
          <a:ln/>
        </p:spPr>
        <p:txBody>
          <a:bodyPr wrap="square" rtlCol="0" anchor="ctr"/>
          <a:lstStyle/>
          <a:p>
            <a:r>
              <a:rPr lang="en-US" sz="1200" dirty="0" smtClean="0">
                <a:solidFill>
                  <a:srgbClr val="C4A35A"/>
                </a:solidFill>
                <a:latin typeface="Microsoft YaHei" pitchFamily="34" charset="0"/>
                <a:ea typeface="Microsoft YaHei" pitchFamily="34" charset="-122"/>
                <a:cs typeface="Microsoft YaHei" pitchFamily="34" charset="-120"/>
              </a:rPr>
              <a:t>04  </a:t>
            </a:r>
            <a:r>
              <a:rPr lang="zh-CN" altLang="en-US" sz="1200" dirty="0" smtClean="0">
                <a:solidFill>
                  <a:srgbClr val="C4A35A"/>
                </a:solidFill>
                <a:latin typeface="Microsoft YaHei" pitchFamily="34" charset="0"/>
                <a:ea typeface="Microsoft YaHei" pitchFamily="34" charset="-122"/>
                <a:cs typeface="Microsoft YaHei" pitchFamily="34" charset="-120"/>
              </a:rPr>
              <a:t>实验结果与图表解读</a:t>
            </a:r>
            <a:endParaRPr lang="en-US" sz="1200" dirty="0"/>
          </a:p>
        </p:txBody>
      </p:sp>
      <p:sp>
        <p:nvSpPr>
          <p:cNvPr id="18" name="Shape 8"/>
          <p:cNvSpPr/>
          <p:nvPr/>
        </p:nvSpPr>
        <p:spPr>
          <a:xfrm>
            <a:off x="365760" y="1036320"/>
            <a:ext cx="853440" cy="463296"/>
          </a:xfrm>
          <a:prstGeom prst="rect">
            <a:avLst/>
          </a:prstGeom>
          <a:solidFill>
            <a:srgbClr val="15548D"/>
          </a:solidFill>
          <a:ln/>
        </p:spPr>
      </p:sp>
      <p:sp>
        <p:nvSpPr>
          <p:cNvPr id="19" name="Text 9"/>
          <p:cNvSpPr/>
          <p:nvPr/>
        </p:nvSpPr>
        <p:spPr>
          <a:xfrm>
            <a:off x="365760" y="1060704"/>
            <a:ext cx="85344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Scenario</a:t>
            </a:r>
            <a:endParaRPr lang="en-US" sz="1200" dirty="0"/>
          </a:p>
        </p:txBody>
      </p:sp>
      <p:sp>
        <p:nvSpPr>
          <p:cNvPr id="20" name="Shape 10"/>
          <p:cNvSpPr/>
          <p:nvPr/>
        </p:nvSpPr>
        <p:spPr>
          <a:xfrm>
            <a:off x="1280160" y="1036320"/>
            <a:ext cx="1036320" cy="463296"/>
          </a:xfrm>
          <a:prstGeom prst="rect">
            <a:avLst/>
          </a:prstGeom>
          <a:solidFill>
            <a:srgbClr val="15548D"/>
          </a:solidFill>
          <a:ln/>
        </p:spPr>
      </p:sp>
      <p:sp>
        <p:nvSpPr>
          <p:cNvPr id="21" name="Text 11"/>
          <p:cNvSpPr/>
          <p:nvPr/>
        </p:nvSpPr>
        <p:spPr>
          <a:xfrm>
            <a:off x="1280160" y="1060704"/>
            <a:ext cx="103632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Algo</a:t>
            </a:r>
            <a:endParaRPr lang="en-US" sz="1200" dirty="0"/>
          </a:p>
        </p:txBody>
      </p:sp>
      <p:sp>
        <p:nvSpPr>
          <p:cNvPr id="22" name="Shape 12"/>
          <p:cNvSpPr/>
          <p:nvPr/>
        </p:nvSpPr>
        <p:spPr>
          <a:xfrm>
            <a:off x="2438400" y="1036320"/>
            <a:ext cx="731520" cy="463296"/>
          </a:xfrm>
          <a:prstGeom prst="rect">
            <a:avLst/>
          </a:prstGeom>
          <a:solidFill>
            <a:srgbClr val="15548D"/>
          </a:solidFill>
          <a:ln/>
        </p:spPr>
      </p:sp>
      <p:sp>
        <p:nvSpPr>
          <p:cNvPr id="27" name="Text 13"/>
          <p:cNvSpPr/>
          <p:nvPr/>
        </p:nvSpPr>
        <p:spPr>
          <a:xfrm>
            <a:off x="2438400" y="1060704"/>
            <a:ext cx="73152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Trips</a:t>
            </a:r>
            <a:endParaRPr lang="en-US" sz="1200" dirty="0"/>
          </a:p>
        </p:txBody>
      </p:sp>
      <p:sp>
        <p:nvSpPr>
          <p:cNvPr id="28" name="Shape 14"/>
          <p:cNvSpPr/>
          <p:nvPr/>
        </p:nvSpPr>
        <p:spPr>
          <a:xfrm>
            <a:off x="3230880" y="1036320"/>
            <a:ext cx="792480" cy="463296"/>
          </a:xfrm>
          <a:prstGeom prst="rect">
            <a:avLst/>
          </a:prstGeom>
          <a:solidFill>
            <a:srgbClr val="15548D"/>
          </a:solidFill>
          <a:ln/>
        </p:spPr>
      </p:sp>
      <p:sp>
        <p:nvSpPr>
          <p:cNvPr id="29" name="Text 15"/>
          <p:cNvSpPr/>
          <p:nvPr/>
        </p:nvSpPr>
        <p:spPr>
          <a:xfrm>
            <a:off x="3230880" y="1060704"/>
            <a:ext cx="79248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Buses</a:t>
            </a:r>
            <a:endParaRPr lang="en-US" sz="1200" dirty="0"/>
          </a:p>
        </p:txBody>
      </p:sp>
      <p:sp>
        <p:nvSpPr>
          <p:cNvPr id="30" name="Shape 16"/>
          <p:cNvSpPr/>
          <p:nvPr/>
        </p:nvSpPr>
        <p:spPr>
          <a:xfrm>
            <a:off x="4084320" y="1036320"/>
            <a:ext cx="1097280" cy="463296"/>
          </a:xfrm>
          <a:prstGeom prst="rect">
            <a:avLst/>
          </a:prstGeom>
          <a:solidFill>
            <a:srgbClr val="15548D"/>
          </a:solidFill>
          <a:ln/>
        </p:spPr>
      </p:sp>
      <p:sp>
        <p:nvSpPr>
          <p:cNvPr id="31" name="Text 17"/>
          <p:cNvSpPr/>
          <p:nvPr/>
        </p:nvSpPr>
        <p:spPr>
          <a:xfrm>
            <a:off x="4084320" y="1060704"/>
            <a:ext cx="109728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完成率</a:t>
            </a:r>
            <a:endParaRPr lang="en-US" sz="1200" dirty="0"/>
          </a:p>
        </p:txBody>
      </p:sp>
      <p:sp>
        <p:nvSpPr>
          <p:cNvPr id="42" name="Shape 18"/>
          <p:cNvSpPr/>
          <p:nvPr/>
        </p:nvSpPr>
        <p:spPr>
          <a:xfrm>
            <a:off x="5303520" y="1036320"/>
            <a:ext cx="1524000" cy="463296"/>
          </a:xfrm>
          <a:prstGeom prst="rect">
            <a:avLst/>
          </a:prstGeom>
          <a:solidFill>
            <a:srgbClr val="15548D"/>
          </a:solidFill>
          <a:ln/>
        </p:spPr>
      </p:sp>
      <p:sp>
        <p:nvSpPr>
          <p:cNvPr id="43" name="Text 19"/>
          <p:cNvSpPr/>
          <p:nvPr/>
        </p:nvSpPr>
        <p:spPr>
          <a:xfrm>
            <a:off x="5303520" y="1060704"/>
            <a:ext cx="152400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充电成本(HKD)</a:t>
            </a:r>
            <a:endParaRPr lang="en-US" sz="1200" dirty="0"/>
          </a:p>
        </p:txBody>
      </p:sp>
      <p:sp>
        <p:nvSpPr>
          <p:cNvPr id="44" name="Shape 20"/>
          <p:cNvSpPr/>
          <p:nvPr/>
        </p:nvSpPr>
        <p:spPr>
          <a:xfrm>
            <a:off x="6949440" y="1036320"/>
            <a:ext cx="975360" cy="463296"/>
          </a:xfrm>
          <a:prstGeom prst="rect">
            <a:avLst/>
          </a:prstGeom>
          <a:solidFill>
            <a:srgbClr val="15548D"/>
          </a:solidFill>
          <a:ln/>
        </p:spPr>
      </p:sp>
      <p:sp>
        <p:nvSpPr>
          <p:cNvPr id="45" name="Text 21"/>
          <p:cNvSpPr/>
          <p:nvPr/>
        </p:nvSpPr>
        <p:spPr>
          <a:xfrm>
            <a:off x="6949440" y="1060704"/>
            <a:ext cx="97536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等待</a:t>
            </a:r>
            <a:endParaRPr lang="en-US" sz="1200" dirty="0"/>
          </a:p>
        </p:txBody>
      </p:sp>
      <p:sp>
        <p:nvSpPr>
          <p:cNvPr id="46" name="Shape 22"/>
          <p:cNvSpPr/>
          <p:nvPr/>
        </p:nvSpPr>
        <p:spPr>
          <a:xfrm>
            <a:off x="8046720" y="1036320"/>
            <a:ext cx="1036320" cy="463296"/>
          </a:xfrm>
          <a:prstGeom prst="rect">
            <a:avLst/>
          </a:prstGeom>
          <a:solidFill>
            <a:srgbClr val="15548D"/>
          </a:solidFill>
          <a:ln/>
        </p:spPr>
      </p:sp>
      <p:sp>
        <p:nvSpPr>
          <p:cNvPr id="47" name="Text 23"/>
          <p:cNvSpPr/>
          <p:nvPr/>
        </p:nvSpPr>
        <p:spPr>
          <a:xfrm>
            <a:off x="8046720" y="1060704"/>
            <a:ext cx="103632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充电#</a:t>
            </a:r>
            <a:endParaRPr lang="en-US" sz="1200" dirty="0"/>
          </a:p>
        </p:txBody>
      </p:sp>
      <p:sp>
        <p:nvSpPr>
          <p:cNvPr id="48" name="Shape 24"/>
          <p:cNvSpPr/>
          <p:nvPr/>
        </p:nvSpPr>
        <p:spPr>
          <a:xfrm>
            <a:off x="9204960" y="1036320"/>
            <a:ext cx="2682240" cy="463296"/>
          </a:xfrm>
          <a:prstGeom prst="rect">
            <a:avLst/>
          </a:prstGeom>
          <a:solidFill>
            <a:srgbClr val="15548D"/>
          </a:solidFill>
          <a:ln/>
        </p:spPr>
      </p:sp>
      <p:sp>
        <p:nvSpPr>
          <p:cNvPr id="49" name="Text 25"/>
          <p:cNvSpPr/>
          <p:nvPr/>
        </p:nvSpPr>
        <p:spPr>
          <a:xfrm>
            <a:off x="9204960" y="1060704"/>
            <a:ext cx="1341120" cy="414528"/>
          </a:xfrm>
          <a:prstGeom prst="rect">
            <a:avLst/>
          </a:prstGeom>
          <a:noFill/>
          <a:ln/>
        </p:spPr>
        <p:txBody>
          <a:bodyPr wrap="square" rtlCol="0" anchor="ctr"/>
          <a:lstStyle/>
          <a:p>
            <a:pPr algn="ctr"/>
            <a:r>
              <a:rPr lang="en-US" sz="1200" b="1" dirty="0">
                <a:solidFill>
                  <a:srgbClr val="FFFFFF"/>
                </a:solidFill>
                <a:latin typeface="Microsoft YaHei" pitchFamily="34" charset="0"/>
                <a:ea typeface="Microsoft YaHei" pitchFamily="34" charset="-122"/>
                <a:cs typeface="Microsoft YaHei" pitchFamily="34" charset="-120"/>
              </a:rPr>
              <a:t>CO₂(kg)</a:t>
            </a:r>
            <a:endParaRPr lang="en-US" sz="1200" dirty="0"/>
          </a:p>
        </p:txBody>
      </p:sp>
      <p:sp>
        <p:nvSpPr>
          <p:cNvPr id="50" name="Text 26"/>
          <p:cNvSpPr/>
          <p:nvPr/>
        </p:nvSpPr>
        <p:spPr>
          <a:xfrm>
            <a:off x="365760" y="1560576"/>
            <a:ext cx="85344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current</a:t>
            </a:r>
            <a:endParaRPr lang="en-US" sz="1200" dirty="0"/>
          </a:p>
        </p:txBody>
      </p:sp>
      <p:sp>
        <p:nvSpPr>
          <p:cNvPr id="51" name="Text 27"/>
          <p:cNvSpPr/>
          <p:nvPr/>
        </p:nvSpPr>
        <p:spPr>
          <a:xfrm>
            <a:off x="1280160" y="1560576"/>
            <a:ext cx="1036320" cy="585216"/>
          </a:xfrm>
          <a:prstGeom prst="rect">
            <a:avLst/>
          </a:prstGeom>
          <a:noFill/>
          <a:ln/>
        </p:spPr>
        <p:txBody>
          <a:bodyPr wrap="square" rtlCol="0" anchor="ctr"/>
          <a:lstStyle/>
          <a:p>
            <a:pPr algn="ctr"/>
            <a:r>
              <a:rPr lang="en-US" sz="1200" b="1" dirty="0">
                <a:solidFill>
                  <a:srgbClr val="1565C0"/>
                </a:solidFill>
                <a:latin typeface="Microsoft YaHei" pitchFamily="34" charset="0"/>
                <a:ea typeface="Microsoft YaHei" pitchFamily="34" charset="-122"/>
                <a:cs typeface="Microsoft YaHei" pitchFamily="34" charset="-120"/>
              </a:rPr>
              <a:t>JSQ</a:t>
            </a:r>
            <a:endParaRPr lang="en-US" sz="1200" dirty="0"/>
          </a:p>
        </p:txBody>
      </p:sp>
      <p:sp>
        <p:nvSpPr>
          <p:cNvPr id="52" name="Text 28"/>
          <p:cNvSpPr/>
          <p:nvPr/>
        </p:nvSpPr>
        <p:spPr>
          <a:xfrm>
            <a:off x="2438400" y="1560576"/>
            <a:ext cx="7315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1,713</a:t>
            </a:r>
            <a:endParaRPr lang="en-US" sz="1200" dirty="0"/>
          </a:p>
        </p:txBody>
      </p:sp>
      <p:sp>
        <p:nvSpPr>
          <p:cNvPr id="53" name="Text 29"/>
          <p:cNvSpPr/>
          <p:nvPr/>
        </p:nvSpPr>
        <p:spPr>
          <a:xfrm>
            <a:off x="3230880" y="1560576"/>
            <a:ext cx="7924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150</a:t>
            </a:r>
            <a:endParaRPr lang="en-US" sz="1200" dirty="0"/>
          </a:p>
        </p:txBody>
      </p:sp>
      <p:sp>
        <p:nvSpPr>
          <p:cNvPr id="54" name="Text 30"/>
          <p:cNvSpPr/>
          <p:nvPr/>
        </p:nvSpPr>
        <p:spPr>
          <a:xfrm>
            <a:off x="4084320" y="1560576"/>
            <a:ext cx="10972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100%</a:t>
            </a:r>
            <a:endParaRPr lang="en-US" sz="1200" dirty="0"/>
          </a:p>
        </p:txBody>
      </p:sp>
      <p:sp>
        <p:nvSpPr>
          <p:cNvPr id="55" name="Text 31"/>
          <p:cNvSpPr/>
          <p:nvPr/>
        </p:nvSpPr>
        <p:spPr>
          <a:xfrm>
            <a:off x="5303520" y="1560576"/>
            <a:ext cx="152400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a:t>
            </a:r>
            <a:endParaRPr lang="en-US" sz="1200" dirty="0"/>
          </a:p>
        </p:txBody>
      </p:sp>
      <p:sp>
        <p:nvSpPr>
          <p:cNvPr id="56" name="Text 32"/>
          <p:cNvSpPr/>
          <p:nvPr/>
        </p:nvSpPr>
        <p:spPr>
          <a:xfrm>
            <a:off x="6949440" y="1560576"/>
            <a:ext cx="97536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 min</a:t>
            </a:r>
            <a:endParaRPr lang="en-US" sz="1200" dirty="0"/>
          </a:p>
        </p:txBody>
      </p:sp>
      <p:sp>
        <p:nvSpPr>
          <p:cNvPr id="57" name="Text 33"/>
          <p:cNvSpPr/>
          <p:nvPr/>
        </p:nvSpPr>
        <p:spPr>
          <a:xfrm>
            <a:off x="8046720" y="1560576"/>
            <a:ext cx="10363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a:t>
            </a:r>
            <a:endParaRPr lang="en-US" sz="1200" dirty="0"/>
          </a:p>
        </p:txBody>
      </p:sp>
      <p:sp>
        <p:nvSpPr>
          <p:cNvPr id="58" name="Text 34"/>
          <p:cNvSpPr/>
          <p:nvPr/>
        </p:nvSpPr>
        <p:spPr>
          <a:xfrm>
            <a:off x="9204960" y="1560576"/>
            <a:ext cx="13411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a:t>
            </a:r>
            <a:endParaRPr lang="en-US" sz="1200" dirty="0"/>
          </a:p>
        </p:txBody>
      </p:sp>
      <p:sp>
        <p:nvSpPr>
          <p:cNvPr id="59" name="Shape 35"/>
          <p:cNvSpPr/>
          <p:nvPr/>
        </p:nvSpPr>
        <p:spPr>
          <a:xfrm>
            <a:off x="304800" y="2182368"/>
            <a:ext cx="11582400" cy="609600"/>
          </a:xfrm>
          <a:prstGeom prst="roundRect">
            <a:avLst>
              <a:gd name="adj" fmla="val 12000"/>
            </a:avLst>
          </a:prstGeom>
          <a:solidFill>
            <a:srgbClr val="F8F5F0"/>
          </a:solidFill>
          <a:ln w="5080">
            <a:solidFill>
              <a:srgbClr val="C4A35A">
                <a:alpha val="30000"/>
              </a:srgbClr>
            </a:solidFill>
            <a:prstDash val="solid"/>
          </a:ln>
        </p:spPr>
      </p:sp>
      <p:sp>
        <p:nvSpPr>
          <p:cNvPr id="60" name="Text 36"/>
          <p:cNvSpPr/>
          <p:nvPr/>
        </p:nvSpPr>
        <p:spPr>
          <a:xfrm>
            <a:off x="365760" y="2231136"/>
            <a:ext cx="85344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current</a:t>
            </a:r>
            <a:endParaRPr lang="en-US" sz="1200" dirty="0"/>
          </a:p>
        </p:txBody>
      </p:sp>
      <p:sp>
        <p:nvSpPr>
          <p:cNvPr id="61" name="Text 37"/>
          <p:cNvSpPr/>
          <p:nvPr/>
        </p:nvSpPr>
        <p:spPr>
          <a:xfrm>
            <a:off x="1280160" y="2231136"/>
            <a:ext cx="1036320" cy="585216"/>
          </a:xfrm>
          <a:prstGeom prst="rect">
            <a:avLst/>
          </a:prstGeom>
          <a:noFill/>
          <a:ln/>
        </p:spPr>
        <p:txBody>
          <a:bodyPr wrap="square" rtlCol="0" anchor="ctr"/>
          <a:lstStyle/>
          <a:p>
            <a:pPr algn="ctr"/>
            <a:r>
              <a:rPr lang="en-US" sz="1200" b="1" dirty="0">
                <a:solidFill>
                  <a:srgbClr val="E65100"/>
                </a:solidFill>
                <a:latin typeface="Microsoft YaHei" pitchFamily="34" charset="0"/>
                <a:ea typeface="Microsoft YaHei" pitchFamily="34" charset="-122"/>
                <a:cs typeface="Microsoft YaHei" pitchFamily="34" charset="-120"/>
              </a:rPr>
              <a:t>GA</a:t>
            </a:r>
            <a:endParaRPr lang="en-US" sz="1200" dirty="0"/>
          </a:p>
        </p:txBody>
      </p:sp>
      <p:sp>
        <p:nvSpPr>
          <p:cNvPr id="62" name="Text 38"/>
          <p:cNvSpPr/>
          <p:nvPr/>
        </p:nvSpPr>
        <p:spPr>
          <a:xfrm>
            <a:off x="2438400" y="2231136"/>
            <a:ext cx="7315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1,713</a:t>
            </a:r>
            <a:endParaRPr lang="en-US" sz="1200" dirty="0"/>
          </a:p>
        </p:txBody>
      </p:sp>
      <p:sp>
        <p:nvSpPr>
          <p:cNvPr id="63" name="Text 39"/>
          <p:cNvSpPr/>
          <p:nvPr/>
        </p:nvSpPr>
        <p:spPr>
          <a:xfrm>
            <a:off x="3230880" y="2231136"/>
            <a:ext cx="7924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150</a:t>
            </a:r>
            <a:endParaRPr lang="en-US" sz="1200" dirty="0"/>
          </a:p>
        </p:txBody>
      </p:sp>
      <p:sp>
        <p:nvSpPr>
          <p:cNvPr id="64" name="Text 40"/>
          <p:cNvSpPr/>
          <p:nvPr/>
        </p:nvSpPr>
        <p:spPr>
          <a:xfrm>
            <a:off x="4084320" y="2231136"/>
            <a:ext cx="10972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100%</a:t>
            </a:r>
            <a:endParaRPr lang="en-US" sz="1200" dirty="0"/>
          </a:p>
        </p:txBody>
      </p:sp>
      <p:sp>
        <p:nvSpPr>
          <p:cNvPr id="65" name="Text 41"/>
          <p:cNvSpPr/>
          <p:nvPr/>
        </p:nvSpPr>
        <p:spPr>
          <a:xfrm>
            <a:off x="5303520" y="2231136"/>
            <a:ext cx="152400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a:t>
            </a:r>
            <a:endParaRPr lang="en-US" sz="1200" dirty="0"/>
          </a:p>
        </p:txBody>
      </p:sp>
      <p:sp>
        <p:nvSpPr>
          <p:cNvPr id="66" name="Text 42"/>
          <p:cNvSpPr/>
          <p:nvPr/>
        </p:nvSpPr>
        <p:spPr>
          <a:xfrm>
            <a:off x="6949440" y="2231136"/>
            <a:ext cx="97536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 min</a:t>
            </a:r>
            <a:endParaRPr lang="en-US" sz="1200" dirty="0"/>
          </a:p>
        </p:txBody>
      </p:sp>
      <p:sp>
        <p:nvSpPr>
          <p:cNvPr id="67" name="Text 43"/>
          <p:cNvSpPr/>
          <p:nvPr/>
        </p:nvSpPr>
        <p:spPr>
          <a:xfrm>
            <a:off x="8046720" y="2231136"/>
            <a:ext cx="10363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a:t>
            </a:r>
            <a:endParaRPr lang="en-US" sz="1200" dirty="0"/>
          </a:p>
        </p:txBody>
      </p:sp>
      <p:sp>
        <p:nvSpPr>
          <p:cNvPr id="68" name="Text 44"/>
          <p:cNvSpPr/>
          <p:nvPr/>
        </p:nvSpPr>
        <p:spPr>
          <a:xfrm>
            <a:off x="9204960" y="2231136"/>
            <a:ext cx="13411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a:t>
            </a:r>
            <a:endParaRPr lang="en-US" sz="1200" dirty="0"/>
          </a:p>
        </p:txBody>
      </p:sp>
      <p:sp>
        <p:nvSpPr>
          <p:cNvPr id="69" name="Text 45"/>
          <p:cNvSpPr/>
          <p:nvPr/>
        </p:nvSpPr>
        <p:spPr>
          <a:xfrm>
            <a:off x="365760" y="2901696"/>
            <a:ext cx="85344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planned</a:t>
            </a:r>
            <a:endParaRPr lang="en-US" sz="1200" dirty="0"/>
          </a:p>
        </p:txBody>
      </p:sp>
      <p:sp>
        <p:nvSpPr>
          <p:cNvPr id="70" name="Text 46"/>
          <p:cNvSpPr/>
          <p:nvPr/>
        </p:nvSpPr>
        <p:spPr>
          <a:xfrm>
            <a:off x="1280160" y="2901696"/>
            <a:ext cx="1036320" cy="585216"/>
          </a:xfrm>
          <a:prstGeom prst="rect">
            <a:avLst/>
          </a:prstGeom>
          <a:noFill/>
          <a:ln/>
        </p:spPr>
        <p:txBody>
          <a:bodyPr wrap="square" rtlCol="0" anchor="ctr"/>
          <a:lstStyle/>
          <a:p>
            <a:pPr algn="ctr"/>
            <a:r>
              <a:rPr lang="en-US" sz="1200" b="1" dirty="0">
                <a:solidFill>
                  <a:srgbClr val="1565C0"/>
                </a:solidFill>
                <a:latin typeface="Microsoft YaHei" pitchFamily="34" charset="0"/>
                <a:ea typeface="Microsoft YaHei" pitchFamily="34" charset="-122"/>
                <a:cs typeface="Microsoft YaHei" pitchFamily="34" charset="-120"/>
              </a:rPr>
              <a:t>JSQ</a:t>
            </a:r>
            <a:endParaRPr lang="en-US" sz="1200" dirty="0"/>
          </a:p>
        </p:txBody>
      </p:sp>
      <p:sp>
        <p:nvSpPr>
          <p:cNvPr id="71" name="Text 47"/>
          <p:cNvSpPr/>
          <p:nvPr/>
        </p:nvSpPr>
        <p:spPr>
          <a:xfrm>
            <a:off x="2438400" y="2901696"/>
            <a:ext cx="7315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9,717</a:t>
            </a:r>
            <a:endParaRPr lang="en-US" sz="1200" dirty="0"/>
          </a:p>
        </p:txBody>
      </p:sp>
      <p:sp>
        <p:nvSpPr>
          <p:cNvPr id="72" name="Text 48"/>
          <p:cNvSpPr/>
          <p:nvPr/>
        </p:nvSpPr>
        <p:spPr>
          <a:xfrm>
            <a:off x="3230880" y="2901696"/>
            <a:ext cx="7924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750</a:t>
            </a:r>
            <a:endParaRPr lang="en-US" sz="1200" dirty="0"/>
          </a:p>
        </p:txBody>
      </p:sp>
      <p:sp>
        <p:nvSpPr>
          <p:cNvPr id="73" name="Text 49"/>
          <p:cNvSpPr/>
          <p:nvPr/>
        </p:nvSpPr>
        <p:spPr>
          <a:xfrm>
            <a:off x="4084320" y="2901696"/>
            <a:ext cx="10972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100%</a:t>
            </a:r>
            <a:endParaRPr lang="en-US" sz="1200" dirty="0"/>
          </a:p>
        </p:txBody>
      </p:sp>
      <p:sp>
        <p:nvSpPr>
          <p:cNvPr id="74" name="Text 50"/>
          <p:cNvSpPr/>
          <p:nvPr/>
        </p:nvSpPr>
        <p:spPr>
          <a:xfrm>
            <a:off x="5303520" y="2901696"/>
            <a:ext cx="152400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119,652</a:t>
            </a:r>
            <a:endParaRPr lang="en-US" sz="1200" dirty="0"/>
          </a:p>
        </p:txBody>
      </p:sp>
      <p:sp>
        <p:nvSpPr>
          <p:cNvPr id="75" name="Text 51"/>
          <p:cNvSpPr/>
          <p:nvPr/>
        </p:nvSpPr>
        <p:spPr>
          <a:xfrm>
            <a:off x="6949440" y="2901696"/>
            <a:ext cx="97536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 min</a:t>
            </a:r>
            <a:endParaRPr lang="en-US" sz="1200" dirty="0"/>
          </a:p>
        </p:txBody>
      </p:sp>
      <p:sp>
        <p:nvSpPr>
          <p:cNvPr id="76" name="Text 52"/>
          <p:cNvSpPr/>
          <p:nvPr/>
        </p:nvSpPr>
        <p:spPr>
          <a:xfrm>
            <a:off x="8046720" y="2901696"/>
            <a:ext cx="10363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520</a:t>
            </a:r>
            <a:endParaRPr lang="en-US" sz="1200" dirty="0"/>
          </a:p>
        </p:txBody>
      </p:sp>
      <p:sp>
        <p:nvSpPr>
          <p:cNvPr id="77" name="Text 53"/>
          <p:cNvSpPr/>
          <p:nvPr/>
        </p:nvSpPr>
        <p:spPr>
          <a:xfrm>
            <a:off x="9204960" y="2901696"/>
            <a:ext cx="13411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55,173</a:t>
            </a:r>
            <a:endParaRPr lang="en-US" sz="1200" dirty="0"/>
          </a:p>
        </p:txBody>
      </p:sp>
      <p:sp>
        <p:nvSpPr>
          <p:cNvPr id="78" name="Shape 54"/>
          <p:cNvSpPr/>
          <p:nvPr/>
        </p:nvSpPr>
        <p:spPr>
          <a:xfrm>
            <a:off x="304800" y="3523488"/>
            <a:ext cx="11582400" cy="609600"/>
          </a:xfrm>
          <a:prstGeom prst="roundRect">
            <a:avLst>
              <a:gd name="adj" fmla="val 12000"/>
            </a:avLst>
          </a:prstGeom>
          <a:solidFill>
            <a:srgbClr val="F8F5F0"/>
          </a:solidFill>
          <a:ln w="5080">
            <a:solidFill>
              <a:srgbClr val="C4A35A">
                <a:alpha val="30000"/>
              </a:srgbClr>
            </a:solidFill>
            <a:prstDash val="solid"/>
          </a:ln>
        </p:spPr>
      </p:sp>
      <p:sp>
        <p:nvSpPr>
          <p:cNvPr id="79" name="Text 55"/>
          <p:cNvSpPr/>
          <p:nvPr/>
        </p:nvSpPr>
        <p:spPr>
          <a:xfrm>
            <a:off x="365760" y="3572256"/>
            <a:ext cx="85344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planned</a:t>
            </a:r>
            <a:endParaRPr lang="en-US" sz="1200" dirty="0"/>
          </a:p>
        </p:txBody>
      </p:sp>
      <p:sp>
        <p:nvSpPr>
          <p:cNvPr id="80" name="Text 56"/>
          <p:cNvSpPr/>
          <p:nvPr/>
        </p:nvSpPr>
        <p:spPr>
          <a:xfrm>
            <a:off x="1280160" y="3572256"/>
            <a:ext cx="1036320" cy="585216"/>
          </a:xfrm>
          <a:prstGeom prst="rect">
            <a:avLst/>
          </a:prstGeom>
          <a:noFill/>
          <a:ln/>
        </p:spPr>
        <p:txBody>
          <a:bodyPr wrap="square" rtlCol="0" anchor="ctr"/>
          <a:lstStyle/>
          <a:p>
            <a:pPr algn="ctr"/>
            <a:r>
              <a:rPr lang="en-US" sz="1200" b="1" dirty="0">
                <a:solidFill>
                  <a:srgbClr val="E65100"/>
                </a:solidFill>
                <a:latin typeface="Microsoft YaHei" pitchFamily="34" charset="0"/>
                <a:ea typeface="Microsoft YaHei" pitchFamily="34" charset="-122"/>
                <a:cs typeface="Microsoft YaHei" pitchFamily="34" charset="-120"/>
              </a:rPr>
              <a:t>GA</a:t>
            </a:r>
            <a:endParaRPr lang="en-US" sz="1200" dirty="0"/>
          </a:p>
        </p:txBody>
      </p:sp>
      <p:sp>
        <p:nvSpPr>
          <p:cNvPr id="81" name="Text 57"/>
          <p:cNvSpPr/>
          <p:nvPr/>
        </p:nvSpPr>
        <p:spPr>
          <a:xfrm>
            <a:off x="2438400" y="3572256"/>
            <a:ext cx="7315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9,717</a:t>
            </a:r>
            <a:endParaRPr lang="en-US" sz="1200" dirty="0"/>
          </a:p>
        </p:txBody>
      </p:sp>
      <p:sp>
        <p:nvSpPr>
          <p:cNvPr id="82" name="Text 58"/>
          <p:cNvSpPr/>
          <p:nvPr/>
        </p:nvSpPr>
        <p:spPr>
          <a:xfrm>
            <a:off x="3230880" y="3572256"/>
            <a:ext cx="7924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750</a:t>
            </a:r>
            <a:endParaRPr lang="en-US" sz="1200" dirty="0"/>
          </a:p>
        </p:txBody>
      </p:sp>
      <p:sp>
        <p:nvSpPr>
          <p:cNvPr id="83" name="Text 59"/>
          <p:cNvSpPr/>
          <p:nvPr/>
        </p:nvSpPr>
        <p:spPr>
          <a:xfrm>
            <a:off x="4084320" y="3572256"/>
            <a:ext cx="109728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100%</a:t>
            </a:r>
            <a:endParaRPr lang="en-US" sz="1200" dirty="0"/>
          </a:p>
        </p:txBody>
      </p:sp>
      <p:sp>
        <p:nvSpPr>
          <p:cNvPr id="84" name="Text 60"/>
          <p:cNvSpPr/>
          <p:nvPr/>
        </p:nvSpPr>
        <p:spPr>
          <a:xfrm>
            <a:off x="5303520" y="3572256"/>
            <a:ext cx="1524000" cy="585216"/>
          </a:xfrm>
          <a:prstGeom prst="rect">
            <a:avLst/>
          </a:prstGeom>
          <a:noFill/>
          <a:ln/>
        </p:spPr>
        <p:txBody>
          <a:bodyPr wrap="square" rtlCol="0" anchor="ctr"/>
          <a:lstStyle/>
          <a:p>
            <a:pPr algn="ctr"/>
            <a:r>
              <a:rPr lang="en-US" sz="1200" b="1" dirty="0">
                <a:solidFill>
                  <a:srgbClr val="2E7D32"/>
                </a:solidFill>
                <a:latin typeface="Microsoft YaHei" pitchFamily="34" charset="0"/>
                <a:ea typeface="Microsoft YaHei" pitchFamily="34" charset="-122"/>
                <a:cs typeface="Microsoft YaHei" pitchFamily="34" charset="-120"/>
              </a:rPr>
              <a:t>59,937</a:t>
            </a:r>
            <a:endParaRPr lang="en-US" sz="1200" dirty="0"/>
          </a:p>
        </p:txBody>
      </p:sp>
      <p:sp>
        <p:nvSpPr>
          <p:cNvPr id="85" name="Text 61"/>
          <p:cNvSpPr/>
          <p:nvPr/>
        </p:nvSpPr>
        <p:spPr>
          <a:xfrm>
            <a:off x="6949440" y="3572256"/>
            <a:ext cx="97536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0 min</a:t>
            </a:r>
            <a:endParaRPr lang="en-US" sz="1200" dirty="0"/>
          </a:p>
        </p:txBody>
      </p:sp>
      <p:sp>
        <p:nvSpPr>
          <p:cNvPr id="86" name="Text 62"/>
          <p:cNvSpPr/>
          <p:nvPr/>
        </p:nvSpPr>
        <p:spPr>
          <a:xfrm>
            <a:off x="8046720" y="3572256"/>
            <a:ext cx="10363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465</a:t>
            </a:r>
            <a:endParaRPr lang="en-US" sz="1200" dirty="0"/>
          </a:p>
        </p:txBody>
      </p:sp>
      <p:sp>
        <p:nvSpPr>
          <p:cNvPr id="87" name="Text 63"/>
          <p:cNvSpPr/>
          <p:nvPr/>
        </p:nvSpPr>
        <p:spPr>
          <a:xfrm>
            <a:off x="9204960" y="3572256"/>
            <a:ext cx="1341120" cy="585216"/>
          </a:xfrm>
          <a:prstGeom prst="rect">
            <a:avLst/>
          </a:prstGeom>
          <a:noFill/>
          <a:ln/>
        </p:spPr>
        <p:txBody>
          <a:bodyPr wrap="square" rtlCol="0" anchor="ctr"/>
          <a:lstStyle/>
          <a:p>
            <a:pPr algn="ctr"/>
            <a:r>
              <a:rPr lang="en-US" sz="1200" dirty="0">
                <a:solidFill>
                  <a:srgbClr val="2D2D2D"/>
                </a:solidFill>
                <a:latin typeface="Microsoft YaHei" pitchFamily="34" charset="0"/>
                <a:ea typeface="Microsoft YaHei" pitchFamily="34" charset="-122"/>
                <a:cs typeface="Microsoft YaHei" pitchFamily="34" charset="-120"/>
              </a:rPr>
              <a:t>27,779</a:t>
            </a:r>
            <a:endParaRPr lang="en-US" sz="1200" dirty="0"/>
          </a:p>
        </p:txBody>
      </p:sp>
      <p:sp>
        <p:nvSpPr>
          <p:cNvPr id="88" name="Text 64"/>
          <p:cNvSpPr/>
          <p:nvPr/>
        </p:nvSpPr>
        <p:spPr>
          <a:xfrm>
            <a:off x="365760" y="4242816"/>
            <a:ext cx="85344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full</a:t>
            </a:r>
            <a:endParaRPr lang="en-US" sz="1333" dirty="0"/>
          </a:p>
        </p:txBody>
      </p:sp>
      <p:sp>
        <p:nvSpPr>
          <p:cNvPr id="89" name="Text 65"/>
          <p:cNvSpPr/>
          <p:nvPr/>
        </p:nvSpPr>
        <p:spPr>
          <a:xfrm>
            <a:off x="1280160" y="4242816"/>
            <a:ext cx="1036320" cy="585216"/>
          </a:xfrm>
          <a:prstGeom prst="rect">
            <a:avLst/>
          </a:prstGeom>
          <a:noFill/>
          <a:ln/>
        </p:spPr>
        <p:txBody>
          <a:bodyPr wrap="square" rtlCol="0" anchor="ctr"/>
          <a:lstStyle/>
          <a:p>
            <a:pPr algn="ctr"/>
            <a:r>
              <a:rPr lang="en-US" sz="1333" b="1" dirty="0">
                <a:solidFill>
                  <a:srgbClr val="1565C0"/>
                </a:solidFill>
                <a:latin typeface="Microsoft YaHei" pitchFamily="34" charset="0"/>
                <a:ea typeface="Microsoft YaHei" pitchFamily="34" charset="-122"/>
                <a:cs typeface="Microsoft YaHei" pitchFamily="34" charset="-120"/>
              </a:rPr>
              <a:t>JSQ</a:t>
            </a:r>
            <a:endParaRPr lang="en-US" sz="1333" dirty="0"/>
          </a:p>
        </p:txBody>
      </p:sp>
      <p:sp>
        <p:nvSpPr>
          <p:cNvPr id="90" name="Text 66"/>
          <p:cNvSpPr/>
          <p:nvPr/>
        </p:nvSpPr>
        <p:spPr>
          <a:xfrm>
            <a:off x="2438400" y="4242816"/>
            <a:ext cx="73152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77,120</a:t>
            </a:r>
            <a:endParaRPr lang="en-US" sz="1333" dirty="0"/>
          </a:p>
        </p:txBody>
      </p:sp>
      <p:sp>
        <p:nvSpPr>
          <p:cNvPr id="91" name="Text 67"/>
          <p:cNvSpPr/>
          <p:nvPr/>
        </p:nvSpPr>
        <p:spPr>
          <a:xfrm>
            <a:off x="3230880" y="4242816"/>
            <a:ext cx="79248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5,870</a:t>
            </a:r>
            <a:endParaRPr lang="en-US" sz="1333" dirty="0"/>
          </a:p>
        </p:txBody>
      </p:sp>
      <p:sp>
        <p:nvSpPr>
          <p:cNvPr id="92" name="Text 68"/>
          <p:cNvSpPr/>
          <p:nvPr/>
        </p:nvSpPr>
        <p:spPr>
          <a:xfrm>
            <a:off x="4084320" y="4242816"/>
            <a:ext cx="109728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100%</a:t>
            </a:r>
            <a:endParaRPr lang="en-US" sz="1333" dirty="0"/>
          </a:p>
        </p:txBody>
      </p:sp>
      <p:sp>
        <p:nvSpPr>
          <p:cNvPr id="93" name="Text 69"/>
          <p:cNvSpPr/>
          <p:nvPr/>
        </p:nvSpPr>
        <p:spPr>
          <a:xfrm>
            <a:off x="5303520" y="4242816"/>
            <a:ext cx="152400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1,582,114</a:t>
            </a:r>
            <a:endParaRPr lang="en-US" sz="1333" dirty="0"/>
          </a:p>
        </p:txBody>
      </p:sp>
      <p:sp>
        <p:nvSpPr>
          <p:cNvPr id="94" name="Text 70"/>
          <p:cNvSpPr/>
          <p:nvPr/>
        </p:nvSpPr>
        <p:spPr>
          <a:xfrm>
            <a:off x="6949440" y="4242816"/>
            <a:ext cx="97536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11.5m</a:t>
            </a:r>
            <a:endParaRPr lang="en-US" sz="1333" dirty="0"/>
          </a:p>
        </p:txBody>
      </p:sp>
      <p:sp>
        <p:nvSpPr>
          <p:cNvPr id="95" name="Text 71"/>
          <p:cNvSpPr/>
          <p:nvPr/>
        </p:nvSpPr>
        <p:spPr>
          <a:xfrm>
            <a:off x="8046720" y="4242816"/>
            <a:ext cx="103632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7,152</a:t>
            </a:r>
            <a:endParaRPr lang="en-US" sz="1333" dirty="0"/>
          </a:p>
        </p:txBody>
      </p:sp>
      <p:sp>
        <p:nvSpPr>
          <p:cNvPr id="96" name="Text 72"/>
          <p:cNvSpPr/>
          <p:nvPr/>
        </p:nvSpPr>
        <p:spPr>
          <a:xfrm>
            <a:off x="9204960" y="4242816"/>
            <a:ext cx="134112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757,131</a:t>
            </a:r>
            <a:endParaRPr lang="en-US" sz="1333" dirty="0"/>
          </a:p>
        </p:txBody>
      </p:sp>
      <p:sp>
        <p:nvSpPr>
          <p:cNvPr id="97" name="Shape 73"/>
          <p:cNvSpPr/>
          <p:nvPr/>
        </p:nvSpPr>
        <p:spPr>
          <a:xfrm>
            <a:off x="304800" y="4864608"/>
            <a:ext cx="11582400" cy="609600"/>
          </a:xfrm>
          <a:prstGeom prst="roundRect">
            <a:avLst>
              <a:gd name="adj" fmla="val 12000"/>
            </a:avLst>
          </a:prstGeom>
          <a:solidFill>
            <a:srgbClr val="F8F5F0"/>
          </a:solidFill>
          <a:ln w="5080">
            <a:solidFill>
              <a:srgbClr val="C4A35A">
                <a:alpha val="30000"/>
              </a:srgbClr>
            </a:solidFill>
            <a:prstDash val="solid"/>
          </a:ln>
        </p:spPr>
      </p:sp>
      <p:sp>
        <p:nvSpPr>
          <p:cNvPr id="98" name="Text 74"/>
          <p:cNvSpPr/>
          <p:nvPr/>
        </p:nvSpPr>
        <p:spPr>
          <a:xfrm>
            <a:off x="365760" y="4913376"/>
            <a:ext cx="85344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full</a:t>
            </a:r>
            <a:endParaRPr lang="en-US" sz="1333" dirty="0"/>
          </a:p>
        </p:txBody>
      </p:sp>
      <p:sp>
        <p:nvSpPr>
          <p:cNvPr id="99" name="Text 75"/>
          <p:cNvSpPr/>
          <p:nvPr/>
        </p:nvSpPr>
        <p:spPr>
          <a:xfrm>
            <a:off x="1280160" y="4913376"/>
            <a:ext cx="1036320" cy="585216"/>
          </a:xfrm>
          <a:prstGeom prst="rect">
            <a:avLst/>
          </a:prstGeom>
          <a:noFill/>
          <a:ln/>
        </p:spPr>
        <p:txBody>
          <a:bodyPr wrap="square" rtlCol="0" anchor="ctr"/>
          <a:lstStyle/>
          <a:p>
            <a:pPr algn="ctr"/>
            <a:r>
              <a:rPr lang="en-US" sz="1333" b="1" dirty="0">
                <a:solidFill>
                  <a:srgbClr val="E65100"/>
                </a:solidFill>
                <a:latin typeface="Microsoft YaHei" pitchFamily="34" charset="0"/>
                <a:ea typeface="Microsoft YaHei" pitchFamily="34" charset="-122"/>
                <a:cs typeface="Microsoft YaHei" pitchFamily="34" charset="-120"/>
              </a:rPr>
              <a:t>GA</a:t>
            </a:r>
            <a:endParaRPr lang="en-US" sz="1333" dirty="0"/>
          </a:p>
        </p:txBody>
      </p:sp>
      <p:sp>
        <p:nvSpPr>
          <p:cNvPr id="100" name="Text 76"/>
          <p:cNvSpPr/>
          <p:nvPr/>
        </p:nvSpPr>
        <p:spPr>
          <a:xfrm>
            <a:off x="2438400" y="4913376"/>
            <a:ext cx="73152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77,120</a:t>
            </a:r>
            <a:endParaRPr lang="en-US" sz="1333" dirty="0"/>
          </a:p>
        </p:txBody>
      </p:sp>
      <p:sp>
        <p:nvSpPr>
          <p:cNvPr id="101" name="Text 77"/>
          <p:cNvSpPr/>
          <p:nvPr/>
        </p:nvSpPr>
        <p:spPr>
          <a:xfrm>
            <a:off x="3230880" y="4913376"/>
            <a:ext cx="79248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5,870</a:t>
            </a:r>
            <a:endParaRPr lang="en-US" sz="1333" dirty="0"/>
          </a:p>
        </p:txBody>
      </p:sp>
      <p:sp>
        <p:nvSpPr>
          <p:cNvPr id="102" name="Text 78"/>
          <p:cNvSpPr/>
          <p:nvPr/>
        </p:nvSpPr>
        <p:spPr>
          <a:xfrm>
            <a:off x="4084320" y="4913376"/>
            <a:ext cx="109728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100%</a:t>
            </a:r>
            <a:endParaRPr lang="en-US" sz="1333" dirty="0"/>
          </a:p>
        </p:txBody>
      </p:sp>
      <p:sp>
        <p:nvSpPr>
          <p:cNvPr id="103" name="Text 79"/>
          <p:cNvSpPr/>
          <p:nvPr/>
        </p:nvSpPr>
        <p:spPr>
          <a:xfrm>
            <a:off x="5303520" y="4913376"/>
            <a:ext cx="152400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1,016,219</a:t>
            </a:r>
            <a:endParaRPr lang="en-US" sz="1333" dirty="0"/>
          </a:p>
        </p:txBody>
      </p:sp>
      <p:sp>
        <p:nvSpPr>
          <p:cNvPr id="104" name="Text 80"/>
          <p:cNvSpPr/>
          <p:nvPr/>
        </p:nvSpPr>
        <p:spPr>
          <a:xfrm>
            <a:off x="6949440" y="4913376"/>
            <a:ext cx="975360" cy="585216"/>
          </a:xfrm>
          <a:prstGeom prst="rect">
            <a:avLst/>
          </a:prstGeom>
          <a:noFill/>
          <a:ln/>
        </p:spPr>
        <p:txBody>
          <a:bodyPr wrap="square" rtlCol="0" anchor="ctr"/>
          <a:lstStyle/>
          <a:p>
            <a:pPr algn="ctr"/>
            <a:r>
              <a:rPr lang="en-US" sz="1333" b="1" dirty="0">
                <a:solidFill>
                  <a:srgbClr val="2E7D32"/>
                </a:solidFill>
                <a:latin typeface="Microsoft YaHei" pitchFamily="34" charset="0"/>
                <a:ea typeface="Microsoft YaHei" pitchFamily="34" charset="-122"/>
                <a:cs typeface="Microsoft YaHei" pitchFamily="34" charset="-120"/>
              </a:rPr>
              <a:t>2.9m</a:t>
            </a:r>
            <a:endParaRPr lang="en-US" sz="1333" dirty="0"/>
          </a:p>
        </p:txBody>
      </p:sp>
      <p:sp>
        <p:nvSpPr>
          <p:cNvPr id="105" name="Text 81"/>
          <p:cNvSpPr/>
          <p:nvPr/>
        </p:nvSpPr>
        <p:spPr>
          <a:xfrm>
            <a:off x="8046720" y="4913376"/>
            <a:ext cx="103632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7,779</a:t>
            </a:r>
            <a:endParaRPr lang="en-US" sz="1333" dirty="0"/>
          </a:p>
        </p:txBody>
      </p:sp>
      <p:sp>
        <p:nvSpPr>
          <p:cNvPr id="106" name="Text 82"/>
          <p:cNvSpPr/>
          <p:nvPr/>
        </p:nvSpPr>
        <p:spPr>
          <a:xfrm>
            <a:off x="9204960" y="4913376"/>
            <a:ext cx="1341120" cy="585216"/>
          </a:xfrm>
          <a:prstGeom prst="rect">
            <a:avLst/>
          </a:prstGeom>
          <a:noFill/>
          <a:ln/>
        </p:spPr>
        <p:txBody>
          <a:bodyPr wrap="square" rtlCol="0" anchor="ctr"/>
          <a:lstStyle/>
          <a:p>
            <a:pPr algn="ctr"/>
            <a:r>
              <a:rPr lang="en-US" sz="1333" dirty="0">
                <a:solidFill>
                  <a:srgbClr val="2D2D2D"/>
                </a:solidFill>
                <a:latin typeface="Microsoft YaHei" pitchFamily="34" charset="0"/>
                <a:ea typeface="Microsoft YaHei" pitchFamily="34" charset="-122"/>
                <a:cs typeface="Microsoft YaHei" pitchFamily="34" charset="-120"/>
              </a:rPr>
              <a:t>467,888</a:t>
            </a:r>
            <a:endParaRPr lang="en-US" sz="1333" dirty="0"/>
          </a:p>
        </p:txBody>
      </p:sp>
      <p:sp>
        <p:nvSpPr>
          <p:cNvPr id="107" name="Text 83"/>
          <p:cNvSpPr/>
          <p:nvPr/>
        </p:nvSpPr>
        <p:spPr>
          <a:xfrm>
            <a:off x="609600" y="5591928"/>
            <a:ext cx="10972800" cy="487680"/>
          </a:xfrm>
          <a:prstGeom prst="rect">
            <a:avLst/>
          </a:prstGeom>
          <a:noFill/>
          <a:ln/>
        </p:spPr>
        <p:txBody>
          <a:bodyPr wrap="square" rtlCol="0" anchor="ctr"/>
          <a:lstStyle/>
          <a:p>
            <a:pPr marL="285750" indent="-285750">
              <a:buFont typeface="Wingdings" panose="05000000000000000000" pitchFamily="2" charset="2"/>
              <a:buChar char="Ø"/>
            </a:pPr>
            <a:r>
              <a:rPr lang="zh-CN" altLang="en-US" sz="1600" b="1" dirty="0" smtClean="0">
                <a:solidFill>
                  <a:srgbClr val="2D2D2D"/>
                </a:solidFill>
                <a:latin typeface="Microsoft YaHei" pitchFamily="34" charset="0"/>
                <a:ea typeface="Microsoft YaHei" pitchFamily="34" charset="-122"/>
                <a:cs typeface="Microsoft YaHei" pitchFamily="34" charset="-120"/>
              </a:rPr>
              <a:t>全</a:t>
            </a:r>
            <a:r>
              <a:rPr lang="zh-CN" altLang="en-US" sz="1600" b="1" dirty="0">
                <a:solidFill>
                  <a:srgbClr val="2D2D2D"/>
                </a:solidFill>
                <a:latin typeface="Microsoft YaHei" pitchFamily="34" charset="0"/>
                <a:ea typeface="Microsoft YaHei" pitchFamily="34" charset="-122"/>
                <a:cs typeface="Microsoft YaHei" pitchFamily="34" charset="-120"/>
              </a:rPr>
              <a:t>场景均实现 </a:t>
            </a:r>
            <a:r>
              <a:rPr lang="en-US" altLang="zh-CN" sz="1600" b="1" dirty="0">
                <a:solidFill>
                  <a:srgbClr val="FF0000"/>
                </a:solidFill>
                <a:latin typeface="Microsoft YaHei" pitchFamily="34" charset="0"/>
                <a:ea typeface="Microsoft YaHei" pitchFamily="34" charset="-122"/>
                <a:cs typeface="Microsoft YaHei" pitchFamily="34" charset="-120"/>
              </a:rPr>
              <a:t>100%</a:t>
            </a:r>
            <a:r>
              <a:rPr lang="en-US" altLang="zh-CN" sz="1600" b="1" dirty="0">
                <a:solidFill>
                  <a:srgbClr val="2D2D2D"/>
                </a:solidFill>
                <a:latin typeface="Microsoft YaHei" pitchFamily="34" charset="0"/>
                <a:ea typeface="Microsoft YaHei" pitchFamily="34" charset="-122"/>
                <a:cs typeface="Microsoft YaHei" pitchFamily="34" charset="-120"/>
              </a:rPr>
              <a:t> </a:t>
            </a:r>
            <a:r>
              <a:rPr lang="zh-CN" altLang="en-US" sz="1600" b="1" dirty="0">
                <a:solidFill>
                  <a:srgbClr val="2D2D2D"/>
                </a:solidFill>
                <a:latin typeface="Microsoft YaHei" pitchFamily="34" charset="0"/>
                <a:ea typeface="Microsoft YaHei" pitchFamily="34" charset="-122"/>
                <a:cs typeface="Microsoft YaHei" pitchFamily="34" charset="-120"/>
              </a:rPr>
              <a:t>班次完成；</a:t>
            </a:r>
            <a:r>
              <a:rPr lang="en-US" sz="1600" b="1" dirty="0">
                <a:solidFill>
                  <a:srgbClr val="2D2D2D"/>
                </a:solidFill>
                <a:latin typeface="Microsoft YaHei" pitchFamily="34" charset="0"/>
                <a:ea typeface="Microsoft YaHei" pitchFamily="34" charset="-122"/>
                <a:cs typeface="Microsoft YaHei" pitchFamily="34" charset="-120"/>
              </a:rPr>
              <a:t>GA </a:t>
            </a:r>
            <a:r>
              <a:rPr lang="zh-CN" altLang="en-US" sz="1600" b="1" dirty="0">
                <a:solidFill>
                  <a:srgbClr val="2D2D2D"/>
                </a:solidFill>
                <a:latin typeface="Microsoft YaHei" pitchFamily="34" charset="0"/>
                <a:ea typeface="Microsoft YaHei" pitchFamily="34" charset="-122"/>
                <a:cs typeface="Microsoft YaHei" pitchFamily="34" charset="-120"/>
              </a:rPr>
              <a:t>在 </a:t>
            </a:r>
            <a:r>
              <a:rPr lang="en-US" sz="1600" b="1" dirty="0">
                <a:solidFill>
                  <a:srgbClr val="2D2D2D"/>
                </a:solidFill>
                <a:latin typeface="Microsoft YaHei" pitchFamily="34" charset="0"/>
                <a:ea typeface="Microsoft YaHei" pitchFamily="34" charset="-122"/>
                <a:cs typeface="Microsoft YaHei" pitchFamily="34" charset="-120"/>
              </a:rPr>
              <a:t>planned </a:t>
            </a:r>
            <a:r>
              <a:rPr lang="zh-CN" altLang="en-US" sz="1600" b="1" dirty="0">
                <a:solidFill>
                  <a:srgbClr val="2D2D2D"/>
                </a:solidFill>
                <a:latin typeface="Microsoft YaHei" pitchFamily="34" charset="0"/>
                <a:ea typeface="Microsoft YaHei" pitchFamily="34" charset="-122"/>
                <a:cs typeface="Microsoft YaHei" pitchFamily="34" charset="-120"/>
              </a:rPr>
              <a:t>场景降低充电成本 </a:t>
            </a:r>
            <a:r>
              <a:rPr lang="en-US" altLang="zh-CN" sz="1600" b="1" dirty="0">
                <a:solidFill>
                  <a:srgbClr val="FF0000"/>
                </a:solidFill>
                <a:latin typeface="Microsoft YaHei" pitchFamily="34" charset="0"/>
                <a:ea typeface="Microsoft YaHei" pitchFamily="34" charset="-122"/>
                <a:cs typeface="Microsoft YaHei" pitchFamily="34" charset="-120"/>
              </a:rPr>
              <a:t>49.9%</a:t>
            </a:r>
            <a:r>
              <a:rPr lang="zh-CN" altLang="en-US" sz="1600" b="1" dirty="0">
                <a:solidFill>
                  <a:srgbClr val="2D2D2D"/>
                </a:solidFill>
                <a:latin typeface="Microsoft YaHei" pitchFamily="34" charset="0"/>
                <a:ea typeface="Microsoft YaHei" pitchFamily="34" charset="-122"/>
                <a:cs typeface="Microsoft YaHei" pitchFamily="34" charset="-120"/>
              </a:rPr>
              <a:t>，在 </a:t>
            </a:r>
            <a:r>
              <a:rPr lang="en-US" sz="1600" b="1" dirty="0">
                <a:solidFill>
                  <a:srgbClr val="2D2D2D"/>
                </a:solidFill>
                <a:latin typeface="Microsoft YaHei" pitchFamily="34" charset="0"/>
                <a:ea typeface="Microsoft YaHei" pitchFamily="34" charset="-122"/>
                <a:cs typeface="Microsoft YaHei" pitchFamily="34" charset="-120"/>
              </a:rPr>
              <a:t>full </a:t>
            </a:r>
            <a:r>
              <a:rPr lang="zh-CN" altLang="en-US" sz="1600" b="1" dirty="0">
                <a:solidFill>
                  <a:srgbClr val="2D2D2D"/>
                </a:solidFill>
                <a:latin typeface="Microsoft YaHei" pitchFamily="34" charset="0"/>
                <a:ea typeface="Microsoft YaHei" pitchFamily="34" charset="-122"/>
                <a:cs typeface="Microsoft YaHei" pitchFamily="34" charset="-120"/>
              </a:rPr>
              <a:t>场景降低成本 </a:t>
            </a:r>
            <a:r>
              <a:rPr lang="en-US" altLang="zh-CN" sz="1600" b="1" dirty="0">
                <a:solidFill>
                  <a:srgbClr val="FF0000"/>
                </a:solidFill>
                <a:latin typeface="Microsoft YaHei" pitchFamily="34" charset="0"/>
                <a:ea typeface="Microsoft YaHei" pitchFamily="34" charset="-122"/>
                <a:cs typeface="Microsoft YaHei" pitchFamily="34" charset="-120"/>
              </a:rPr>
              <a:t>35.8%</a:t>
            </a:r>
            <a:r>
              <a:rPr lang="zh-CN" altLang="en-US" sz="1600" b="1" dirty="0">
                <a:solidFill>
                  <a:srgbClr val="2D2D2D"/>
                </a:solidFill>
                <a:latin typeface="Microsoft YaHei" pitchFamily="34" charset="0"/>
                <a:ea typeface="Microsoft YaHei" pitchFamily="34" charset="-122"/>
                <a:cs typeface="Microsoft YaHei" pitchFamily="34" charset="-120"/>
              </a:rPr>
              <a:t>，并将平均等待时间降低 </a:t>
            </a:r>
            <a:r>
              <a:rPr lang="en-US" altLang="zh-CN" sz="1600" b="1" dirty="0">
                <a:solidFill>
                  <a:srgbClr val="FF0000"/>
                </a:solidFill>
                <a:latin typeface="Microsoft YaHei" pitchFamily="34" charset="0"/>
                <a:ea typeface="Microsoft YaHei" pitchFamily="34" charset="-122"/>
                <a:cs typeface="Microsoft YaHei" pitchFamily="34" charset="-120"/>
              </a:rPr>
              <a:t>74.5%</a:t>
            </a:r>
            <a:r>
              <a:rPr lang="zh-CN" altLang="en-US" sz="1600" b="1" dirty="0">
                <a:solidFill>
                  <a:srgbClr val="2D2D2D"/>
                </a:solidFill>
                <a:latin typeface="Microsoft YaHei" pitchFamily="34" charset="0"/>
                <a:ea typeface="Microsoft YaHei" pitchFamily="34" charset="-122"/>
                <a:cs typeface="Microsoft YaHei" pitchFamily="34" charset="-120"/>
              </a:rPr>
              <a:t>，说明其在规模化充电调度中具备更好的综合优化效果。</a:t>
            </a:r>
            <a:endParaRPr lang="en-US" sz="1600" dirty="0">
              <a:solidFill>
                <a:srgbClr val="2D2D2D"/>
              </a:solidFill>
            </a:endParaRPr>
          </a:p>
        </p:txBody>
      </p:sp>
    </p:spTree>
    <p:extLst>
      <p:ext uri="{BB962C8B-B14F-4D97-AF65-F5344CB8AC3E}">
        <p14:creationId xmlns:p14="http://schemas.microsoft.com/office/powerpoint/2010/main" val="3807373818"/>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ppt_y</p:attrName>
                                        </p:attrNameLst>
                                      </p:cBhvr>
                                      <p:tavLst>
                                        <p:tav tm="0">
                                          <p:val>
                                            <p:strVal val="#ppt_y-#ppt_h*1.125000"/>
                                          </p:val>
                                        </p:tav>
                                        <p:tav tm="100000">
                                          <p:val>
                                            <p:strVal val="#ppt_y"/>
                                          </p:val>
                                        </p:tav>
                                      </p:tavLst>
                                    </p:anim>
                                    <p:animEffect transition="in" filter="wipe(down)">
                                      <p:cBhvr>
                                        <p:cTn id="12" dur="500"/>
                                        <p:tgtEl>
                                          <p:spTgt spid="35"/>
                                        </p:tgtEl>
                                      </p:cBhvr>
                                    </p:animEffect>
                                  </p:childTnLst>
                                </p:cTn>
                              </p:par>
                              <p:par>
                                <p:cTn id="13" presetID="12" presetClass="entr" presetSubtype="2"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p:tgtEl>
                                          <p:spTgt spid="36"/>
                                        </p:tgtEl>
                                        <p:attrNameLst>
                                          <p:attrName>ppt_x</p:attrName>
                                        </p:attrNameLst>
                                      </p:cBhvr>
                                      <p:tavLst>
                                        <p:tav tm="0">
                                          <p:val>
                                            <p:strVal val="#ppt_x+#ppt_w*1.125000"/>
                                          </p:val>
                                        </p:tav>
                                        <p:tav tm="100000">
                                          <p:val>
                                            <p:strVal val="#ppt_x"/>
                                          </p:val>
                                        </p:tav>
                                      </p:tavLst>
                                    </p:anim>
                                    <p:animEffect transition="in" filter="wipe(left)">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淘宝-想搞设计PPT(倒卖必究)-8"/>
          <p:cNvSpPr/>
          <p:nvPr/>
        </p:nvSpPr>
        <p:spPr>
          <a:xfrm>
            <a:off x="2857500" y="2686050"/>
            <a:ext cx="9334500" cy="129540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2857500" y="4133850"/>
            <a:ext cx="8210550" cy="952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p:grpSpPr>
        <p:sp>
          <p:nvSpPr>
            <p:cNvPr id="7" name="淘宝-想搞设计PPT(倒卖必究)-7"/>
            <p:cNvSpPr/>
            <p:nvPr/>
          </p:nvSpPr>
          <p:spPr>
            <a:xfrm>
              <a:off x="1123950" y="2686050"/>
              <a:ext cx="1543050" cy="1543050"/>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1407285" y="2903577"/>
              <a:ext cx="976380" cy="1107996"/>
            </a:xfrm>
            <a:prstGeom prst="rect">
              <a:avLst/>
            </a:prstGeom>
            <a:no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5</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0" name="淘宝-想搞设计PPT(倒卖必究)-10"/>
          <p:cNvSpPr txBox="1"/>
          <p:nvPr/>
        </p:nvSpPr>
        <p:spPr>
          <a:xfrm>
            <a:off x="2950335" y="2750022"/>
            <a:ext cx="3262423" cy="830993"/>
          </a:xfrm>
          <a:prstGeom prst="rect">
            <a:avLst/>
          </a:prstGeom>
          <a:noFill/>
        </p:spPr>
        <p:txBody>
          <a:bodyPr wrap="none" lIns="91436" tIns="45718" rIns="91436" bIns="45718" rtlCol="0">
            <a:spAutoFit/>
          </a:bodyPr>
          <a:lstStyle>
            <a:defPPr>
              <a:defRPr lang="zh-CN"/>
            </a:defPPr>
            <a:lvl1pP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solidFill>
                  <a:srgbClr val="FFFFFF"/>
                </a:solidFill>
              </a:rPr>
              <a:t>总结</a:t>
            </a:r>
            <a:r>
              <a:rPr lang="zh-CN" altLang="en-US" dirty="0" smtClean="0">
                <a:solidFill>
                  <a:srgbClr val="FFFFFF"/>
                </a:solidFill>
              </a:rPr>
              <a:t>与展望</a:t>
            </a:r>
            <a:endParaRPr lang="zh-CN" altLang="en-US" dirty="0">
              <a:solidFill>
                <a:srgbClr val="FFFFFF"/>
              </a:solidFill>
            </a:endParaRPr>
          </a:p>
        </p:txBody>
      </p:sp>
      <p:sp>
        <p:nvSpPr>
          <p:cNvPr id="12" name="淘宝-想搞设计PPT(倒卖必究)-12"/>
          <p:cNvSpPr/>
          <p:nvPr/>
        </p:nvSpPr>
        <p:spPr>
          <a:xfrm>
            <a:off x="3246508" y="3522708"/>
            <a:ext cx="2031317" cy="646327"/>
          </a:xfrm>
          <a:prstGeom prst="rect">
            <a:avLst/>
          </a:prstGeom>
        </p:spPr>
        <p:txBody>
          <a:bodyPr wrap="none" lIns="91436" tIns="45718" rIns="91436" bIns="45718">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总</a:t>
            </a:r>
            <a:r>
              <a:rPr lang="zh-CN" altLang="en-US" dirty="0">
                <a:solidFill>
                  <a:schemeClr val="bg1"/>
                </a:solidFill>
                <a:latin typeface="微软雅黑" panose="020B0503020204020204" pitchFamily="34" charset="-122"/>
                <a:ea typeface="微软雅黑" panose="020B0503020204020204" pitchFamily="34" charset="-122"/>
              </a:rPr>
              <a:t>结、局限与展望</a:t>
            </a:r>
          </a:p>
          <a:p>
            <a:pPr algn="ctr"/>
            <a:endParaRPr lang="en-US" altLang="zh-CN" dirty="0">
              <a:solidFill>
                <a:schemeClr val="bg1"/>
              </a:solidFill>
              <a:latin typeface="微软雅黑" panose="020B0503020204020204" pitchFamily="34" charset="-122"/>
              <a:ea typeface="微软雅黑" panose="020B0503020204020204" pitchFamily="34" charset="-122"/>
            </a:endParaRPr>
          </a:p>
        </p:txBody>
      </p:sp>
      <p:pic>
        <p:nvPicPr>
          <p:cNvPr id="27" name="Picture 26" descr="华中科技大学.png"/>
          <p:cNvPicPr>
            <a:picLocks noChangeAspect="1"/>
          </p:cNvPicPr>
          <p:nvPr/>
        </p:nvPicPr>
        <p:blipFill>
          <a:blip r:embed="rId3"/>
          <a:stretch>
            <a:fillRect/>
          </a:stretch>
        </p:blipFill>
        <p:spPr>
          <a:xfrm>
            <a:off x="10257851" y="6221713"/>
            <a:ext cx="1835216" cy="4030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12" presetClass="entr" presetSubtype="2"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ppt_x</p:attrName>
                                        </p:attrNameLst>
                                      </p:cBhvr>
                                      <p:tavLst>
                                        <p:tav tm="0">
                                          <p:val>
                                            <p:strVal val="#ppt_x+#ppt_w*1.125000"/>
                                          </p:val>
                                        </p:tav>
                                        <p:tav tm="100000">
                                          <p:val>
                                            <p:strVal val="#ppt_x"/>
                                          </p:val>
                                        </p:tav>
                                      </p:tavLst>
                                    </p:anim>
                                    <p:animEffect transition="in" filter="wipe(left)">
                                      <p:cBhvr>
                                        <p:cTn id="14" dur="500"/>
                                        <p:tgtEl>
                                          <p:spTgt spid="8"/>
                                        </p:tgtEl>
                                      </p:cBhvr>
                                    </p:animEffect>
                                  </p:childTnLst>
                                </p:cTn>
                              </p:par>
                              <p:par>
                                <p:cTn id="15" presetID="12"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p:tgtEl>
                                          <p:spTgt spid="9"/>
                                        </p:tgtEl>
                                        <p:attrNameLst>
                                          <p:attrName>ppt_x</p:attrName>
                                        </p:attrNameLst>
                                      </p:cBhvr>
                                      <p:tavLst>
                                        <p:tav tm="0">
                                          <p:val>
                                            <p:strVal val="#ppt_x-#ppt_w*1.125000"/>
                                          </p:val>
                                        </p:tav>
                                        <p:tav tm="100000">
                                          <p:val>
                                            <p:strVal val="#ppt_x"/>
                                          </p:val>
                                        </p:tav>
                                      </p:tavLst>
                                    </p:anim>
                                    <p:animEffect transition="in" filter="wipe(right)">
                                      <p:cBhvr>
                                        <p:cTn id="18" dur="500"/>
                                        <p:tgtEl>
                                          <p:spTgt spid="9"/>
                                        </p:tgtEl>
                                      </p:cBhvr>
                                    </p:animEffect>
                                  </p:childTnLst>
                                </p:cTn>
                              </p:par>
                              <p:par>
                                <p:cTn id="19" presetID="12" presetClass="entr" presetSubtype="2" fill="hold" grpId="0" nodeType="withEffect">
                                  <p:stCondLst>
                                    <p:cond delay="5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p:tgtEl>
                                          <p:spTgt spid="10"/>
                                        </p:tgtEl>
                                        <p:attrNameLst>
                                          <p:attrName>ppt_x</p:attrName>
                                        </p:attrNameLst>
                                      </p:cBhvr>
                                      <p:tavLst>
                                        <p:tav tm="0">
                                          <p:val>
                                            <p:strVal val="#ppt_x+#ppt_w*1.125000"/>
                                          </p:val>
                                        </p:tav>
                                        <p:tav tm="100000">
                                          <p:val>
                                            <p:strVal val="#ppt_x"/>
                                          </p:val>
                                        </p:tav>
                                      </p:tavLst>
                                    </p:anim>
                                    <p:animEffect transition="in" filter="wipe(left)">
                                      <p:cBhvr>
                                        <p:cTn id="22" dur="500"/>
                                        <p:tgtEl>
                                          <p:spTgt spid="10"/>
                                        </p:tgtEl>
                                      </p:cBhvr>
                                    </p:animEffect>
                                  </p:childTnLst>
                                </p:cTn>
                              </p:par>
                              <p:par>
                                <p:cTn id="23" presetID="12" presetClass="entr" presetSubtype="2" fill="hold" grpId="0" nodeType="withEffect">
                                  <p:stCondLst>
                                    <p:cond delay="9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p:tgtEl>
                                          <p:spTgt spid="12"/>
                                        </p:tgtEl>
                                        <p:attrNameLst>
                                          <p:attrName>ppt_x</p:attrName>
                                        </p:attrNameLst>
                                      </p:cBhvr>
                                      <p:tavLst>
                                        <p:tav tm="0">
                                          <p:val>
                                            <p:strVal val="#ppt_x+#ppt_w*1.125000"/>
                                          </p:val>
                                        </p:tav>
                                        <p:tav tm="100000">
                                          <p:val>
                                            <p:strVal val="#ppt_x"/>
                                          </p:val>
                                        </p:tav>
                                      </p:tavLst>
                                    </p:anim>
                                    <p:animEffect transition="in" filter="wipe(left)">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5" name="淘宝-想搞设计PPT(倒卖必究)-5"/>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 name="淘宝-想搞设计PPT(倒卖必究)-7"/>
          <p:cNvSpPr txBox="1"/>
          <p:nvPr/>
        </p:nvSpPr>
        <p:spPr>
          <a:xfrm>
            <a:off x="701167" y="144940"/>
            <a:ext cx="2236502"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总结</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与展望</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2965397" y="217491"/>
            <a:ext cx="10096500" cy="668619"/>
            <a:chOff x="2965397" y="217491"/>
            <a:chExt cx="10096500" cy="668619"/>
          </a:xfrm>
        </p:grpSpPr>
        <p:sp>
          <p:nvSpPr>
            <p:cNvPr id="4" name="淘宝-想搞设计PPT(倒卖必究)-4"/>
            <p:cNvSpPr/>
            <p:nvPr/>
          </p:nvSpPr>
          <p:spPr>
            <a:xfrm>
              <a:off x="2965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想搞设计PPT(倒卖必究)-8"/>
            <p:cNvSpPr/>
            <p:nvPr/>
          </p:nvSpPr>
          <p:spPr>
            <a:xfrm flipV="1">
              <a:off x="2978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2990230" y="239783"/>
              <a:ext cx="2954647" cy="646327"/>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项</a:t>
              </a:r>
              <a:r>
                <a:rPr lang="zh-CN" altLang="en-US" sz="1200" dirty="0">
                  <a:solidFill>
                    <a:schemeClr val="bg1"/>
                  </a:solidFill>
                  <a:latin typeface="微软雅黑" panose="020B0503020204020204" pitchFamily="34" charset="-122"/>
                  <a:ea typeface="微软雅黑" panose="020B0503020204020204" pitchFamily="34" charset="-122"/>
                </a:rPr>
                <a:t>目贡献：数据、算法与工程的三层闭环</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125" name="Picture 124"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97" name="Shape 8"/>
          <p:cNvSpPr/>
          <p:nvPr/>
        </p:nvSpPr>
        <p:spPr>
          <a:xfrm>
            <a:off x="609600" y="918210"/>
            <a:ext cx="11094720" cy="1280160"/>
          </a:xfrm>
          <a:prstGeom prst="roundRect">
            <a:avLst>
              <a:gd name="adj" fmla="val 5714"/>
            </a:avLst>
          </a:prstGeom>
          <a:solidFill>
            <a:srgbClr val="F8F5F0"/>
          </a:solidFill>
          <a:ln w="5080">
            <a:solidFill>
              <a:srgbClr val="C4A35A">
                <a:alpha val="30000"/>
              </a:srgbClr>
            </a:solidFill>
            <a:prstDash val="solid"/>
          </a:ln>
        </p:spPr>
      </p:sp>
      <p:sp>
        <p:nvSpPr>
          <p:cNvPr id="98" name="Shape 9"/>
          <p:cNvSpPr/>
          <p:nvPr/>
        </p:nvSpPr>
        <p:spPr>
          <a:xfrm>
            <a:off x="731520" y="1162050"/>
            <a:ext cx="670560" cy="670560"/>
          </a:xfrm>
          <a:prstGeom prst="ellipse">
            <a:avLst/>
          </a:prstGeom>
          <a:solidFill>
            <a:srgbClr val="8B1A2B"/>
          </a:solidFill>
          <a:ln/>
        </p:spPr>
      </p:sp>
      <p:sp>
        <p:nvSpPr>
          <p:cNvPr id="99" name="Text 10"/>
          <p:cNvSpPr/>
          <p:nvPr/>
        </p:nvSpPr>
        <p:spPr>
          <a:xfrm>
            <a:off x="731520" y="1162050"/>
            <a:ext cx="670560" cy="670560"/>
          </a:xfrm>
          <a:prstGeom prst="rect">
            <a:avLst/>
          </a:prstGeom>
          <a:noFill/>
          <a:ln/>
        </p:spPr>
        <p:txBody>
          <a:bodyPr wrap="square" rtlCol="0" anchor="ctr"/>
          <a:lstStyle/>
          <a:p>
            <a:pPr algn="ctr"/>
            <a:r>
              <a:rPr lang="en-US" sz="2667" dirty="0">
                <a:solidFill>
                  <a:srgbClr val="FFFFFF"/>
                </a:solidFill>
                <a:latin typeface="Microsoft YaHei" pitchFamily="34" charset="0"/>
                <a:ea typeface="Microsoft YaHei" pitchFamily="34" charset="-122"/>
                <a:cs typeface="Microsoft YaHei" pitchFamily="34" charset="-120"/>
              </a:rPr>
              <a:t>1</a:t>
            </a:r>
            <a:endParaRPr lang="en-US" sz="2667" dirty="0"/>
          </a:p>
        </p:txBody>
      </p:sp>
      <p:sp>
        <p:nvSpPr>
          <p:cNvPr id="100" name="Text 11"/>
          <p:cNvSpPr/>
          <p:nvPr/>
        </p:nvSpPr>
        <p:spPr>
          <a:xfrm>
            <a:off x="1645920" y="979170"/>
            <a:ext cx="9753600" cy="341376"/>
          </a:xfrm>
          <a:prstGeom prst="rect">
            <a:avLst/>
          </a:prstGeom>
          <a:noFill/>
          <a:ln/>
        </p:spPr>
        <p:txBody>
          <a:bodyPr wrap="square" rtlCol="0" anchor="ctr"/>
          <a:lstStyle/>
          <a:p>
            <a:r>
              <a:rPr lang="en-US" sz="2000" b="1" dirty="0">
                <a:solidFill>
                  <a:srgbClr val="8B1A2B"/>
                </a:solidFill>
                <a:latin typeface="Microsoft YaHei" pitchFamily="34" charset="0"/>
                <a:ea typeface="Microsoft YaHei" pitchFamily="34" charset="-122"/>
                <a:cs typeface="Microsoft YaHei" pitchFamily="34" charset="-120"/>
              </a:rPr>
              <a:t>数据闭环：真实底座 + 可解释补齐 + 三级可追溯</a:t>
            </a:r>
            <a:endParaRPr lang="en-US" sz="2000" dirty="0"/>
          </a:p>
        </p:txBody>
      </p:sp>
      <p:sp>
        <p:nvSpPr>
          <p:cNvPr id="101" name="Text 12"/>
          <p:cNvSpPr/>
          <p:nvPr/>
        </p:nvSpPr>
        <p:spPr>
          <a:xfrm>
            <a:off x="1645920" y="1405890"/>
            <a:ext cx="9753600" cy="670560"/>
          </a:xfrm>
          <a:prstGeom prst="rect">
            <a:avLst/>
          </a:prstGeom>
          <a:noFill/>
          <a:ln/>
        </p:spPr>
        <p:txBody>
          <a:bodyPr wrap="square" rtlCol="0" anchor="ctr"/>
          <a:lstStyle/>
          <a:p>
            <a:pPr>
              <a:lnSpc>
                <a:spcPct val="120000"/>
              </a:lnSpc>
            </a:pPr>
            <a:r>
              <a:rPr lang="en-US" sz="1467" dirty="0">
                <a:solidFill>
                  <a:srgbClr val="2D2D2D"/>
                </a:solidFill>
                <a:latin typeface="Microsoft YaHei" pitchFamily="34" charset="0"/>
                <a:ea typeface="Microsoft YaHei" pitchFamily="34" charset="-122"/>
                <a:cs typeface="Microsoft YaHei" pitchFamily="34" charset="-120"/>
              </a:rPr>
              <a:t>以香港 DATA.GOV.HK GTFS 真实班次为时序底座；明确区分真实数据、派生数据和假设补齐数据三级来源；每张输出表可追溯到输入与构造环节；三规模嵌套抽样 (current⊂planned⊂full) 保证场景间可比</a:t>
            </a:r>
            <a:endParaRPr lang="en-US" sz="1467" dirty="0"/>
          </a:p>
        </p:txBody>
      </p:sp>
      <p:sp>
        <p:nvSpPr>
          <p:cNvPr id="102" name="Shape 13"/>
          <p:cNvSpPr/>
          <p:nvPr/>
        </p:nvSpPr>
        <p:spPr>
          <a:xfrm>
            <a:off x="609600" y="2381250"/>
            <a:ext cx="11094720" cy="1280160"/>
          </a:xfrm>
          <a:prstGeom prst="roundRect">
            <a:avLst>
              <a:gd name="adj" fmla="val 5714"/>
            </a:avLst>
          </a:prstGeom>
          <a:solidFill>
            <a:srgbClr val="F8F5F0"/>
          </a:solidFill>
          <a:ln w="5080">
            <a:solidFill>
              <a:srgbClr val="C4A35A">
                <a:alpha val="30000"/>
              </a:srgbClr>
            </a:solidFill>
            <a:prstDash val="solid"/>
          </a:ln>
        </p:spPr>
      </p:sp>
      <p:sp>
        <p:nvSpPr>
          <p:cNvPr id="103" name="Shape 14"/>
          <p:cNvSpPr/>
          <p:nvPr/>
        </p:nvSpPr>
        <p:spPr>
          <a:xfrm>
            <a:off x="731520" y="2625090"/>
            <a:ext cx="670560" cy="670560"/>
          </a:xfrm>
          <a:prstGeom prst="ellipse">
            <a:avLst/>
          </a:prstGeom>
          <a:solidFill>
            <a:srgbClr val="C4A35A"/>
          </a:solidFill>
          <a:ln/>
        </p:spPr>
      </p:sp>
      <p:sp>
        <p:nvSpPr>
          <p:cNvPr id="104" name="Text 15"/>
          <p:cNvSpPr/>
          <p:nvPr/>
        </p:nvSpPr>
        <p:spPr>
          <a:xfrm>
            <a:off x="731520" y="2625090"/>
            <a:ext cx="670560" cy="670560"/>
          </a:xfrm>
          <a:prstGeom prst="rect">
            <a:avLst/>
          </a:prstGeom>
          <a:noFill/>
          <a:ln/>
        </p:spPr>
        <p:txBody>
          <a:bodyPr wrap="square" rtlCol="0" anchor="ctr"/>
          <a:lstStyle/>
          <a:p>
            <a:pPr algn="ctr"/>
            <a:r>
              <a:rPr lang="en-US" sz="2667" dirty="0">
                <a:solidFill>
                  <a:srgbClr val="FFFFFF"/>
                </a:solidFill>
                <a:latin typeface="Microsoft YaHei" pitchFamily="34" charset="0"/>
                <a:ea typeface="Microsoft YaHei" pitchFamily="34" charset="-122"/>
                <a:cs typeface="Microsoft YaHei" pitchFamily="34" charset="-120"/>
              </a:rPr>
              <a:t>2</a:t>
            </a:r>
            <a:endParaRPr lang="en-US" sz="2667" dirty="0"/>
          </a:p>
        </p:txBody>
      </p:sp>
      <p:sp>
        <p:nvSpPr>
          <p:cNvPr id="105" name="Text 16"/>
          <p:cNvSpPr/>
          <p:nvPr/>
        </p:nvSpPr>
        <p:spPr>
          <a:xfrm>
            <a:off x="1645920" y="2442210"/>
            <a:ext cx="9753600" cy="341376"/>
          </a:xfrm>
          <a:prstGeom prst="rect">
            <a:avLst/>
          </a:prstGeom>
          <a:noFill/>
          <a:ln/>
        </p:spPr>
        <p:txBody>
          <a:bodyPr wrap="square" rtlCol="0" anchor="ctr"/>
          <a:lstStyle/>
          <a:p>
            <a:r>
              <a:rPr lang="en-US" sz="2000" b="1" dirty="0">
                <a:solidFill>
                  <a:srgbClr val="C4A35A"/>
                </a:solidFill>
                <a:latin typeface="Microsoft YaHei" pitchFamily="34" charset="0"/>
                <a:ea typeface="Microsoft YaHei" pitchFamily="34" charset="-122"/>
                <a:cs typeface="Microsoft YaHei" pitchFamily="34" charset="-120"/>
              </a:rPr>
              <a:t>算法闭环：MLP 能耗预测 → JSQ 基线 → GA 全局优化</a:t>
            </a:r>
            <a:endParaRPr lang="en-US" sz="2000" dirty="0"/>
          </a:p>
        </p:txBody>
      </p:sp>
      <p:sp>
        <p:nvSpPr>
          <p:cNvPr id="106" name="Text 17"/>
          <p:cNvSpPr/>
          <p:nvPr/>
        </p:nvSpPr>
        <p:spPr>
          <a:xfrm>
            <a:off x="1645920" y="2868930"/>
            <a:ext cx="9753600" cy="670560"/>
          </a:xfrm>
          <a:prstGeom prst="rect">
            <a:avLst/>
          </a:prstGeom>
          <a:noFill/>
          <a:ln/>
        </p:spPr>
        <p:txBody>
          <a:bodyPr wrap="square" rtlCol="0" anchor="ctr"/>
          <a:lstStyle/>
          <a:p>
            <a:pPr>
              <a:lnSpc>
                <a:spcPct val="120000"/>
              </a:lnSpc>
            </a:pPr>
            <a:r>
              <a:rPr lang="en-US" sz="1467" dirty="0">
                <a:solidFill>
                  <a:srgbClr val="2D2D2D"/>
                </a:solidFill>
                <a:latin typeface="Microsoft YaHei" pitchFamily="34" charset="0"/>
                <a:ea typeface="Microsoft YaHei" pitchFamily="34" charset="-122"/>
                <a:cs typeface="Microsoft YaHei" pitchFamily="34" charset="-120"/>
              </a:rPr>
              <a:t>MLP 将 7 维动态特征转化为可靠能耗预测；JSQ 提供传统局部负载均衡基线；GA 以策略级编码搜索全局最优参数——三环嵌套，形成从预测到调度到评估的完整算法链路</a:t>
            </a:r>
            <a:endParaRPr lang="en-US" sz="1467" dirty="0"/>
          </a:p>
        </p:txBody>
      </p:sp>
      <p:sp>
        <p:nvSpPr>
          <p:cNvPr id="107" name="Shape 18"/>
          <p:cNvSpPr/>
          <p:nvPr/>
        </p:nvSpPr>
        <p:spPr>
          <a:xfrm>
            <a:off x="609600" y="3844290"/>
            <a:ext cx="11094720" cy="1280160"/>
          </a:xfrm>
          <a:prstGeom prst="roundRect">
            <a:avLst>
              <a:gd name="adj" fmla="val 5714"/>
            </a:avLst>
          </a:prstGeom>
          <a:solidFill>
            <a:srgbClr val="F8F5F0"/>
          </a:solidFill>
          <a:ln w="5080">
            <a:solidFill>
              <a:srgbClr val="C4A35A">
                <a:alpha val="30000"/>
              </a:srgbClr>
            </a:solidFill>
            <a:prstDash val="solid"/>
          </a:ln>
        </p:spPr>
      </p:sp>
      <p:sp>
        <p:nvSpPr>
          <p:cNvPr id="108" name="Shape 19"/>
          <p:cNvSpPr/>
          <p:nvPr/>
        </p:nvSpPr>
        <p:spPr>
          <a:xfrm>
            <a:off x="731520" y="4088130"/>
            <a:ext cx="670560" cy="670560"/>
          </a:xfrm>
          <a:prstGeom prst="ellipse">
            <a:avLst/>
          </a:prstGeom>
          <a:solidFill>
            <a:srgbClr val="2E7D32"/>
          </a:solidFill>
          <a:ln/>
        </p:spPr>
      </p:sp>
      <p:sp>
        <p:nvSpPr>
          <p:cNvPr id="109" name="Text 20"/>
          <p:cNvSpPr/>
          <p:nvPr/>
        </p:nvSpPr>
        <p:spPr>
          <a:xfrm>
            <a:off x="731520" y="4088130"/>
            <a:ext cx="670560" cy="670560"/>
          </a:xfrm>
          <a:prstGeom prst="rect">
            <a:avLst/>
          </a:prstGeom>
          <a:noFill/>
          <a:ln/>
        </p:spPr>
        <p:txBody>
          <a:bodyPr wrap="square" rtlCol="0" anchor="ctr"/>
          <a:lstStyle/>
          <a:p>
            <a:pPr algn="ctr"/>
            <a:r>
              <a:rPr lang="en-US" sz="2667" dirty="0">
                <a:solidFill>
                  <a:srgbClr val="FFFFFF"/>
                </a:solidFill>
                <a:latin typeface="Microsoft YaHei" pitchFamily="34" charset="0"/>
                <a:ea typeface="Microsoft YaHei" pitchFamily="34" charset="-122"/>
                <a:cs typeface="Microsoft YaHei" pitchFamily="34" charset="-120"/>
              </a:rPr>
              <a:t>3</a:t>
            </a:r>
            <a:endParaRPr lang="en-US" sz="2667" dirty="0"/>
          </a:p>
        </p:txBody>
      </p:sp>
      <p:sp>
        <p:nvSpPr>
          <p:cNvPr id="110" name="Text 21"/>
          <p:cNvSpPr/>
          <p:nvPr/>
        </p:nvSpPr>
        <p:spPr>
          <a:xfrm>
            <a:off x="1645920" y="3905250"/>
            <a:ext cx="9753600" cy="341376"/>
          </a:xfrm>
          <a:prstGeom prst="rect">
            <a:avLst/>
          </a:prstGeom>
          <a:noFill/>
          <a:ln/>
        </p:spPr>
        <p:txBody>
          <a:bodyPr wrap="square" rtlCol="0" anchor="ctr"/>
          <a:lstStyle/>
          <a:p>
            <a:r>
              <a:rPr lang="en-US" sz="2000" b="1" dirty="0">
                <a:solidFill>
                  <a:srgbClr val="2E7D32"/>
                </a:solidFill>
                <a:latin typeface="Microsoft YaHei" pitchFamily="34" charset="0"/>
                <a:ea typeface="Microsoft YaHei" pitchFamily="34" charset="-122"/>
                <a:cs typeface="Microsoft YaHei" pitchFamily="34" charset="-120"/>
              </a:rPr>
              <a:t>工程闭环：一键复现 + 多规模切换 + 图表自动生成</a:t>
            </a:r>
            <a:endParaRPr lang="en-US" sz="2000" dirty="0"/>
          </a:p>
        </p:txBody>
      </p:sp>
      <p:sp>
        <p:nvSpPr>
          <p:cNvPr id="111" name="Text 22"/>
          <p:cNvSpPr/>
          <p:nvPr/>
        </p:nvSpPr>
        <p:spPr>
          <a:xfrm>
            <a:off x="1645920" y="4331970"/>
            <a:ext cx="9753600" cy="670560"/>
          </a:xfrm>
          <a:prstGeom prst="rect">
            <a:avLst/>
          </a:prstGeom>
          <a:noFill/>
          <a:ln/>
        </p:spPr>
        <p:txBody>
          <a:bodyPr wrap="square" rtlCol="0" anchor="ctr"/>
          <a:lstStyle/>
          <a:p>
            <a:pPr>
              <a:lnSpc>
                <a:spcPct val="120000"/>
              </a:lnSpc>
            </a:pPr>
            <a:r>
              <a:rPr lang="en-US" sz="1467" dirty="0">
                <a:solidFill>
                  <a:srgbClr val="2D2D2D"/>
                </a:solidFill>
                <a:latin typeface="Microsoft YaHei" pitchFamily="34" charset="0"/>
                <a:ea typeface="Microsoft YaHei" pitchFamily="34" charset="-122"/>
                <a:cs typeface="Microsoft YaHei" pitchFamily="34" charset="-120"/>
              </a:rPr>
              <a:t>Makefile 统一入口 + SCENARIO 参数切换三规模；固定随机种子 42 保证可复现；</a:t>
            </a:r>
            <a:r>
              <a:rPr lang="en-US" sz="1467" dirty="0" smtClean="0">
                <a:solidFill>
                  <a:srgbClr val="2D2D2D"/>
                </a:solidFill>
                <a:latin typeface="Microsoft YaHei" pitchFamily="34" charset="0"/>
                <a:ea typeface="Microsoft YaHei" pitchFamily="34" charset="-122"/>
                <a:cs typeface="Microsoft YaHei" pitchFamily="34" charset="-120"/>
              </a:rPr>
              <a:t>12 </a:t>
            </a:r>
            <a:r>
              <a:rPr lang="en-US" sz="1467" dirty="0">
                <a:solidFill>
                  <a:srgbClr val="2D2D2D"/>
                </a:solidFill>
                <a:latin typeface="Microsoft YaHei" pitchFamily="34" charset="0"/>
                <a:ea typeface="Microsoft YaHei" pitchFamily="34" charset="-122"/>
                <a:cs typeface="Microsoft YaHei" pitchFamily="34" charset="-120"/>
              </a:rPr>
              <a:t>张汇报图表、6 组指标 JSON、6 份排程 CSV 均由代码自动生成——汇报中所有数值均可追溯到 outputs/</a:t>
            </a:r>
            <a:endParaRPr lang="en-US" sz="1467" dirty="0"/>
          </a:p>
        </p:txBody>
      </p:sp>
      <p:sp>
        <p:nvSpPr>
          <p:cNvPr id="113" name="Text 24"/>
          <p:cNvSpPr/>
          <p:nvPr/>
        </p:nvSpPr>
        <p:spPr>
          <a:xfrm>
            <a:off x="792480" y="5185410"/>
            <a:ext cx="10728960" cy="853440"/>
          </a:xfrm>
          <a:prstGeom prst="rect">
            <a:avLst/>
          </a:prstGeom>
          <a:noFill/>
          <a:ln/>
        </p:spPr>
        <p:txBody>
          <a:bodyPr wrap="square" rtlCol="0" anchor="t"/>
          <a:lstStyle/>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本项目核心价值不在于单一指标的最优——而在于构建了一套从真实数据到可执行调度、再到可复现评估的完整分析框架。这一框架可随数据质量提升（真实 SOC/能耗日志、实时充电站状态）持续增强，为</a:t>
            </a:r>
            <a:r>
              <a:rPr lang="zh-CN" altLang="en-US" sz="1600" dirty="0">
                <a:solidFill>
                  <a:srgbClr val="2D2D2D"/>
                </a:solidFill>
                <a:latin typeface="Microsoft YaHei" pitchFamily="34" charset="0"/>
                <a:ea typeface="Microsoft YaHei" pitchFamily="34" charset="-122"/>
                <a:cs typeface="Microsoft YaHei" pitchFamily="34" charset="-120"/>
              </a:rPr>
              <a:t>探索</a:t>
            </a:r>
            <a:r>
              <a:rPr lang="en-US" sz="1600" dirty="0">
                <a:solidFill>
                  <a:srgbClr val="2D2D2D"/>
                </a:solidFill>
                <a:latin typeface="Microsoft YaHei" pitchFamily="34" charset="0"/>
                <a:ea typeface="Microsoft YaHei" pitchFamily="34" charset="-122"/>
                <a:cs typeface="Microsoft YaHei" pitchFamily="34" charset="-120"/>
              </a:rPr>
              <a:t>公交电动化进程中的充电基础设施规划和运营策略优化提供量化支撑。</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down)">
                                      <p:cBhvr>
                                        <p:cTn id="12" dur="500"/>
                                        <p:tgtEl>
                                          <p:spTgt spid="7"/>
                                        </p:tgtEl>
                                      </p:cBhvr>
                                    </p:animEffect>
                                  </p:childTnLst>
                                </p:cTn>
                              </p:par>
                              <p:par>
                                <p:cTn id="13" presetID="12" presetClass="entr" presetSubtype="2"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ppt_x</p:attrName>
                                        </p:attrNameLst>
                                      </p:cBhvr>
                                      <p:tavLst>
                                        <p:tav tm="0">
                                          <p:val>
                                            <p:strVal val="#ppt_x+#ppt_w*1.125000"/>
                                          </p:val>
                                        </p:tav>
                                        <p:tav tm="100000">
                                          <p:val>
                                            <p:strVal val="#ppt_x"/>
                                          </p:val>
                                        </p:tav>
                                      </p:tavLst>
                                    </p:anim>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5" name="淘宝-想搞设计PPT(倒卖必究)-5"/>
            <p:cNvSpPr/>
            <p:nvPr/>
          </p:nvSpPr>
          <p:spPr>
            <a:xfrm>
              <a:off x="-254000" y="227083"/>
              <a:ext cx="898070" cy="439668"/>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 name="淘宝-想搞设计PPT(倒卖必究)-7"/>
          <p:cNvSpPr txBox="1"/>
          <p:nvPr/>
        </p:nvSpPr>
        <p:spPr>
          <a:xfrm>
            <a:off x="701167" y="144940"/>
            <a:ext cx="2236502"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总结</a:t>
            </a:r>
            <a:r>
              <a:rPr lang="zh-CN" altLang="en-US" sz="3200" dirty="0" smtClean="0">
                <a:solidFill>
                  <a:schemeClr val="tx1">
                    <a:lumMod val="65000"/>
                    <a:lumOff val="35000"/>
                  </a:schemeClr>
                </a:solidFill>
                <a:latin typeface="微软雅黑" panose="020B0503020204020204" pitchFamily="34" charset="-122"/>
                <a:ea typeface="微软雅黑" panose="020B0503020204020204" pitchFamily="34" charset="-122"/>
              </a:rPr>
              <a:t>与展望</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2965397" y="217491"/>
            <a:ext cx="10096500" cy="853285"/>
            <a:chOff x="2965397" y="217491"/>
            <a:chExt cx="10096500" cy="853285"/>
          </a:xfrm>
        </p:grpSpPr>
        <p:sp>
          <p:nvSpPr>
            <p:cNvPr id="4" name="淘宝-想搞设计PPT(倒卖必究)-4"/>
            <p:cNvSpPr/>
            <p:nvPr/>
          </p:nvSpPr>
          <p:spPr>
            <a:xfrm>
              <a:off x="2965397" y="217491"/>
              <a:ext cx="10083800" cy="328609"/>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想搞设计PPT(倒卖必究)-8"/>
            <p:cNvSpPr/>
            <p:nvPr/>
          </p:nvSpPr>
          <p:spPr>
            <a:xfrm flipV="1">
              <a:off x="2978097" y="621032"/>
              <a:ext cx="10083800" cy="36000"/>
            </a:xfrm>
            <a:prstGeom prst="roundRect">
              <a:avLst>
                <a:gd name="adj" fmla="val 50000"/>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a:off x="3033536" y="239783"/>
              <a:ext cx="1877430" cy="830993"/>
            </a:xfrm>
            <a:prstGeom prst="rect">
              <a:avLst/>
            </a:prstGeom>
          </p:spPr>
          <p:txBody>
            <a:bodyPr wrap="none" lIns="91436" tIns="45718" rIns="91436" bIns="45718">
              <a:spAutoFit/>
            </a:bodyPr>
            <a:lstStyle/>
            <a:p>
              <a:pPr algn="ctr"/>
              <a:r>
                <a:rPr lang="zh-CN" altLang="en-US" sz="1200" dirty="0" smtClean="0">
                  <a:solidFill>
                    <a:schemeClr val="bg1"/>
                  </a:solidFill>
                  <a:latin typeface="微软雅黑" panose="020B0503020204020204" pitchFamily="34" charset="-122"/>
                  <a:ea typeface="微软雅黑" panose="020B0503020204020204" pitchFamily="34" charset="-122"/>
                </a:rPr>
                <a:t>当</a:t>
              </a:r>
              <a:r>
                <a:rPr lang="zh-CN" altLang="en-US" sz="1200" dirty="0">
                  <a:solidFill>
                    <a:schemeClr val="bg1"/>
                  </a:solidFill>
                  <a:latin typeface="微软雅黑" panose="020B0503020204020204" pitchFamily="34" charset="-122"/>
                  <a:ea typeface="微软雅黑" panose="020B0503020204020204" pitchFamily="34" charset="-122"/>
                </a:rPr>
                <a:t>前局限与未</a:t>
              </a:r>
              <a:r>
                <a:rPr lang="zh-CN" altLang="en-US" sz="1200" dirty="0" smtClean="0">
                  <a:solidFill>
                    <a:schemeClr val="bg1"/>
                  </a:solidFill>
                  <a:latin typeface="微软雅黑" panose="020B0503020204020204" pitchFamily="34" charset="-122"/>
                  <a:ea typeface="微软雅黑" panose="020B0503020204020204" pitchFamily="34" charset="-122"/>
                </a:rPr>
                <a:t>来</a:t>
              </a:r>
              <a:r>
                <a:rPr lang="zh-CN" altLang="en-US" sz="1200" dirty="0">
                  <a:solidFill>
                    <a:schemeClr val="bg1"/>
                  </a:solidFill>
                  <a:latin typeface="微软雅黑" panose="020B0503020204020204" pitchFamily="34" charset="-122"/>
                  <a:ea typeface="微软雅黑" panose="020B0503020204020204" pitchFamily="34" charset="-122"/>
                </a:rPr>
                <a:t>改进</a:t>
              </a:r>
              <a:r>
                <a:rPr lang="zh-CN" altLang="en-US" sz="1200" dirty="0" smtClean="0">
                  <a:solidFill>
                    <a:schemeClr val="bg1"/>
                  </a:solidFill>
                  <a:latin typeface="微软雅黑" panose="020B0503020204020204" pitchFamily="34" charset="-122"/>
                  <a:ea typeface="微软雅黑" panose="020B0503020204020204" pitchFamily="34" charset="-122"/>
                </a:rPr>
                <a:t>方</a:t>
              </a:r>
              <a:r>
                <a:rPr lang="zh-CN" altLang="en-US" sz="1200" dirty="0">
                  <a:solidFill>
                    <a:schemeClr val="bg1"/>
                  </a:solidFill>
                  <a:latin typeface="微软雅黑" panose="020B0503020204020204" pitchFamily="34" charset="-122"/>
                  <a:ea typeface="微软雅黑" panose="020B0503020204020204" pitchFamily="34" charset="-122"/>
                </a:rPr>
                <a:t>向</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a:p>
              <a:pPr algn="ctr"/>
              <a:endParaRPr lang="en-US" altLang="zh-CN" sz="1200" dirty="0">
                <a:solidFill>
                  <a:schemeClr val="bg1"/>
                </a:solidFill>
                <a:latin typeface="微软雅黑" panose="020B0503020204020204" pitchFamily="34" charset="-122"/>
                <a:ea typeface="微软雅黑" panose="020B0503020204020204" pitchFamily="34" charset="-122"/>
              </a:endParaRPr>
            </a:p>
          </p:txBody>
        </p:sp>
      </p:grpSp>
      <p:pic>
        <p:nvPicPr>
          <p:cNvPr id="125" name="Picture 124" descr="华中科技大学.png"/>
          <p:cNvPicPr>
            <a:picLocks noChangeAspect="1"/>
          </p:cNvPicPr>
          <p:nvPr/>
        </p:nvPicPr>
        <p:blipFill>
          <a:blip r:embed="rId3"/>
          <a:stretch>
            <a:fillRect/>
          </a:stretch>
        </p:blipFill>
        <p:spPr>
          <a:xfrm>
            <a:off x="10257851" y="6221713"/>
            <a:ext cx="1835216" cy="403091"/>
          </a:xfrm>
          <a:prstGeom prst="rect">
            <a:avLst/>
          </a:prstGeom>
        </p:spPr>
      </p:pic>
      <p:sp>
        <p:nvSpPr>
          <p:cNvPr id="28" name="Shape 8"/>
          <p:cNvSpPr/>
          <p:nvPr/>
        </p:nvSpPr>
        <p:spPr>
          <a:xfrm>
            <a:off x="609600" y="872205"/>
            <a:ext cx="5486400" cy="2761011"/>
          </a:xfrm>
          <a:prstGeom prst="roundRect">
            <a:avLst>
              <a:gd name="adj" fmla="val 2727"/>
            </a:avLst>
          </a:prstGeom>
          <a:solidFill>
            <a:srgbClr val="F8F5F0"/>
          </a:solidFill>
          <a:ln w="5080">
            <a:solidFill>
              <a:srgbClr val="C4A35A">
                <a:alpha val="30000"/>
              </a:srgbClr>
            </a:solidFill>
            <a:prstDash val="solid"/>
          </a:ln>
        </p:spPr>
      </p:sp>
      <p:sp>
        <p:nvSpPr>
          <p:cNvPr id="29" name="Text 9"/>
          <p:cNvSpPr/>
          <p:nvPr/>
        </p:nvSpPr>
        <p:spPr>
          <a:xfrm>
            <a:off x="792479" y="987171"/>
            <a:ext cx="2726473" cy="341376"/>
          </a:xfrm>
          <a:prstGeom prst="rect">
            <a:avLst/>
          </a:prstGeom>
          <a:noFill/>
          <a:ln/>
        </p:spPr>
        <p:txBody>
          <a:bodyPr wrap="square" rtlCol="0" anchor="ctr"/>
          <a:lstStyle/>
          <a:p>
            <a:r>
              <a:rPr lang="en-US" sz="2000" b="1" dirty="0">
                <a:solidFill>
                  <a:srgbClr val="15548D"/>
                </a:solidFill>
                <a:latin typeface="Microsoft YaHei" pitchFamily="34" charset="0"/>
                <a:ea typeface="Microsoft YaHei" pitchFamily="34" charset="-122"/>
                <a:cs typeface="Microsoft YaHei" pitchFamily="34" charset="-120"/>
              </a:rPr>
              <a:t>当前局限</a:t>
            </a:r>
            <a:endParaRPr lang="en-US" sz="2000" dirty="0">
              <a:solidFill>
                <a:srgbClr val="15548D"/>
              </a:solidFill>
            </a:endParaRPr>
          </a:p>
        </p:txBody>
      </p:sp>
      <p:sp>
        <p:nvSpPr>
          <p:cNvPr id="30" name="Text 10"/>
          <p:cNvSpPr/>
          <p:nvPr/>
        </p:nvSpPr>
        <p:spPr>
          <a:xfrm>
            <a:off x="792480" y="1362075"/>
            <a:ext cx="5589270" cy="1950720"/>
          </a:xfrm>
          <a:prstGeom prst="rect">
            <a:avLst/>
          </a:prstGeom>
          <a:noFill/>
          <a:ln/>
        </p:spPr>
        <p:txBody>
          <a:bodyPr wrap="square" rtlCol="0" anchor="t"/>
          <a:lstStyle/>
          <a:p>
            <a:pPr marL="457189" indent="-457189">
              <a:lnSpc>
                <a:spcPct val="125000"/>
              </a:lnSpc>
              <a:buSzPct val="100000"/>
              <a:buChar char="•"/>
            </a:pPr>
            <a:r>
              <a:rPr lang="en-US" sz="1600" b="1" dirty="0">
                <a:solidFill>
                  <a:srgbClr val="2D2D2D"/>
                </a:solidFill>
                <a:latin typeface="Microsoft YaHei" pitchFamily="34" charset="0"/>
                <a:ea typeface="Microsoft YaHei" pitchFamily="34" charset="-122"/>
                <a:cs typeface="Microsoft YaHei" pitchFamily="34" charset="-120"/>
              </a:rPr>
              <a:t>能耗标签为公式模拟 + 噪声，非真实运营日志</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未来可接入公交企业真实 SOC/逐趟能耗数据</a:t>
            </a:r>
            <a:endParaRPr lang="en-US" sz="1600" dirty="0"/>
          </a:p>
          <a:p>
            <a:pPr marL="457189" indent="-457189">
              <a:lnSpc>
                <a:spcPct val="125000"/>
              </a:lnSpc>
              <a:buSzPct val="100000"/>
              <a:buChar char="•"/>
            </a:pPr>
            <a:r>
              <a:rPr lang="en-US" sz="1600" b="1" dirty="0">
                <a:solidFill>
                  <a:srgbClr val="2D2D2D"/>
                </a:solidFill>
                <a:latin typeface="Microsoft YaHei" pitchFamily="34" charset="0"/>
                <a:ea typeface="Microsoft YaHei" pitchFamily="34" charset="-122"/>
                <a:cs typeface="Microsoft YaHei" pitchFamily="34" charset="-120"/>
              </a:rPr>
              <a:t>充电站容量与桩位数量为场景假设，非实际站点容量</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车辆排班为基于 GTFS 频次的估算，非真实排班表</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坡度/拥堵/载客率为仿真生成，未接入 OSM/DEM/AFC</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单日调度，未扩展到多日滚动时域</a:t>
            </a:r>
            <a:endParaRPr lang="en-US" sz="1600" dirty="0"/>
          </a:p>
        </p:txBody>
      </p:sp>
      <p:sp>
        <p:nvSpPr>
          <p:cNvPr id="31" name="Shape 11"/>
          <p:cNvSpPr/>
          <p:nvPr/>
        </p:nvSpPr>
        <p:spPr>
          <a:xfrm>
            <a:off x="6461760" y="872205"/>
            <a:ext cx="5364480" cy="2761011"/>
          </a:xfrm>
          <a:prstGeom prst="roundRect">
            <a:avLst>
              <a:gd name="adj" fmla="val 2727"/>
            </a:avLst>
          </a:prstGeom>
          <a:solidFill>
            <a:srgbClr val="F8F5F0"/>
          </a:solidFill>
          <a:ln w="5080">
            <a:solidFill>
              <a:srgbClr val="C4A35A">
                <a:alpha val="30000"/>
              </a:srgbClr>
            </a:solidFill>
            <a:prstDash val="solid"/>
          </a:ln>
        </p:spPr>
      </p:sp>
      <p:sp>
        <p:nvSpPr>
          <p:cNvPr id="32" name="Text 12"/>
          <p:cNvSpPr/>
          <p:nvPr/>
        </p:nvSpPr>
        <p:spPr>
          <a:xfrm>
            <a:off x="6644639" y="987171"/>
            <a:ext cx="2726473" cy="341376"/>
          </a:xfrm>
          <a:prstGeom prst="rect">
            <a:avLst/>
          </a:prstGeom>
          <a:noFill/>
          <a:ln/>
        </p:spPr>
        <p:txBody>
          <a:bodyPr wrap="square" rtlCol="0" anchor="ctr"/>
          <a:lstStyle/>
          <a:p>
            <a:r>
              <a:rPr lang="en-US" sz="2000" b="1" dirty="0">
                <a:solidFill>
                  <a:srgbClr val="C4A35A"/>
                </a:solidFill>
                <a:latin typeface="Microsoft YaHei" pitchFamily="34" charset="0"/>
                <a:ea typeface="Microsoft YaHei" pitchFamily="34" charset="-122"/>
                <a:cs typeface="Microsoft YaHei" pitchFamily="34" charset="-120"/>
              </a:rPr>
              <a:t>未来方向</a:t>
            </a:r>
            <a:endParaRPr lang="en-US" sz="2000" dirty="0"/>
          </a:p>
        </p:txBody>
      </p:sp>
      <p:sp>
        <p:nvSpPr>
          <p:cNvPr id="33" name="Text 13"/>
          <p:cNvSpPr/>
          <p:nvPr/>
        </p:nvSpPr>
        <p:spPr>
          <a:xfrm>
            <a:off x="6644640" y="1362075"/>
            <a:ext cx="5589270" cy="1950720"/>
          </a:xfrm>
          <a:prstGeom prst="rect">
            <a:avLst/>
          </a:prstGeom>
          <a:noFill/>
          <a:ln/>
        </p:spPr>
        <p:txBody>
          <a:bodyPr wrap="square" rtlCol="0" anchor="t"/>
          <a:lstStyle/>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接入 OSM 路网 + DEM 高程 + 实时交通</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接入 AFC 刷卡数据 → 真实载客率</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接入充电站实时状态 API</a:t>
            </a:r>
            <a:endParaRPr lang="en-US" sz="1600" dirty="0"/>
          </a:p>
          <a:p>
            <a:pPr marL="457189" indent="-457189">
              <a:lnSpc>
                <a:spcPct val="125000"/>
              </a:lnSpc>
              <a:buSzPct val="100000"/>
              <a:buChar char="•"/>
            </a:pPr>
            <a:r>
              <a:rPr lang="en-US" sz="1600" b="1" dirty="0">
                <a:solidFill>
                  <a:srgbClr val="2E7D32"/>
                </a:solidFill>
                <a:latin typeface="Microsoft YaHei" pitchFamily="34" charset="0"/>
                <a:ea typeface="Microsoft YaHei" pitchFamily="34" charset="-122"/>
                <a:cs typeface="Microsoft YaHei" pitchFamily="34" charset="-120"/>
              </a:rPr>
              <a:t>滚动时域调度：多日 + 实时更新</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强化学习对比：DQN/PPO vs GA</a:t>
            </a:r>
            <a:endParaRPr lang="en-US" sz="1600" dirty="0"/>
          </a:p>
          <a:p>
            <a:pPr marL="457189" indent="-457189">
              <a:lnSpc>
                <a:spcPct val="125000"/>
              </a:lnSpc>
              <a:buSzPct val="100000"/>
              <a:buChar char="•"/>
            </a:pPr>
            <a:r>
              <a:rPr lang="en-US" sz="1600" dirty="0">
                <a:solidFill>
                  <a:srgbClr val="2D2D2D"/>
                </a:solidFill>
                <a:latin typeface="Microsoft YaHei" pitchFamily="34" charset="0"/>
                <a:ea typeface="Microsoft YaHei" pitchFamily="34" charset="-122"/>
                <a:cs typeface="Microsoft YaHei" pitchFamily="34" charset="-120"/>
              </a:rPr>
              <a:t>扩展到其他城市 GTFS 数据验证</a:t>
            </a:r>
            <a:endParaRPr lang="en-US" sz="1600" dirty="0"/>
          </a:p>
        </p:txBody>
      </p:sp>
      <p:sp>
        <p:nvSpPr>
          <p:cNvPr id="34" name="Shape 14"/>
          <p:cNvSpPr/>
          <p:nvPr/>
        </p:nvSpPr>
        <p:spPr>
          <a:xfrm>
            <a:off x="609600" y="3962400"/>
            <a:ext cx="11216640" cy="2100817"/>
          </a:xfrm>
          <a:prstGeom prst="roundRect">
            <a:avLst>
              <a:gd name="adj" fmla="val 3333"/>
            </a:avLst>
          </a:prstGeom>
          <a:solidFill>
            <a:srgbClr val="F8F5F0"/>
          </a:solidFill>
          <a:ln w="5080">
            <a:solidFill>
              <a:srgbClr val="C4A35A">
                <a:alpha val="30000"/>
              </a:srgbClr>
            </a:solidFill>
            <a:prstDash val="solid"/>
          </a:ln>
        </p:spPr>
      </p:sp>
      <p:sp>
        <p:nvSpPr>
          <p:cNvPr id="35" name="Text 15"/>
          <p:cNvSpPr/>
          <p:nvPr/>
        </p:nvSpPr>
        <p:spPr>
          <a:xfrm>
            <a:off x="792480" y="4104894"/>
            <a:ext cx="2438400" cy="304800"/>
          </a:xfrm>
          <a:prstGeom prst="rect">
            <a:avLst/>
          </a:prstGeom>
          <a:noFill/>
          <a:ln/>
        </p:spPr>
        <p:txBody>
          <a:bodyPr wrap="square" rtlCol="0" anchor="ctr"/>
          <a:lstStyle/>
          <a:p>
            <a:r>
              <a:rPr lang="en-US" sz="1867" b="1" dirty="0">
                <a:solidFill>
                  <a:srgbClr val="15548D"/>
                </a:solidFill>
                <a:latin typeface="Microsoft YaHei" pitchFamily="34" charset="0"/>
                <a:ea typeface="Microsoft YaHei" pitchFamily="34" charset="-122"/>
                <a:cs typeface="Microsoft YaHei" pitchFamily="34" charset="-120"/>
              </a:rPr>
              <a:t>展望</a:t>
            </a:r>
            <a:endParaRPr lang="en-US" sz="1867" dirty="0">
              <a:solidFill>
                <a:srgbClr val="15548D"/>
              </a:solidFill>
            </a:endParaRPr>
          </a:p>
        </p:txBody>
      </p:sp>
      <p:sp>
        <p:nvSpPr>
          <p:cNvPr id="36" name="Text 16"/>
          <p:cNvSpPr/>
          <p:nvPr/>
        </p:nvSpPr>
        <p:spPr>
          <a:xfrm>
            <a:off x="792480" y="4354830"/>
            <a:ext cx="10728960" cy="1463040"/>
          </a:xfrm>
          <a:prstGeom prst="rect">
            <a:avLst/>
          </a:prstGeom>
          <a:noFill/>
          <a:ln/>
        </p:spPr>
        <p:txBody>
          <a:bodyPr wrap="square" rtlCol="0" anchor="ctr"/>
          <a:lstStyle/>
          <a:p>
            <a:pPr>
              <a:lnSpc>
                <a:spcPct val="130000"/>
              </a:lnSpc>
            </a:pPr>
            <a:r>
              <a:rPr lang="en-US" sz="1733" dirty="0" smtClean="0">
                <a:solidFill>
                  <a:srgbClr val="2D2D2D"/>
                </a:solidFill>
                <a:latin typeface="Microsoft YaHei" pitchFamily="34" charset="0"/>
                <a:ea typeface="Microsoft YaHei" pitchFamily="34" charset="-122"/>
                <a:cs typeface="Microsoft YaHei" pitchFamily="34" charset="-120"/>
              </a:rPr>
              <a:t>随着</a:t>
            </a:r>
            <a:r>
              <a:rPr lang="zh-CN" altLang="en-US" sz="1733" dirty="0" smtClean="0">
                <a:solidFill>
                  <a:srgbClr val="2D2D2D"/>
                </a:solidFill>
                <a:latin typeface="Microsoft YaHei" pitchFamily="34" charset="0"/>
                <a:ea typeface="Microsoft YaHei" pitchFamily="34" charset="-122"/>
                <a:cs typeface="Microsoft YaHei" pitchFamily="34" charset="-120"/>
              </a:rPr>
              <a:t>新能源</a:t>
            </a:r>
            <a:r>
              <a:rPr lang="en-US" sz="1733" dirty="0" smtClean="0">
                <a:solidFill>
                  <a:srgbClr val="2D2D2D"/>
                </a:solidFill>
                <a:latin typeface="Microsoft YaHei" pitchFamily="34" charset="0"/>
                <a:ea typeface="Microsoft YaHei" pitchFamily="34" charset="-122"/>
                <a:cs typeface="Microsoft YaHei" pitchFamily="34" charset="-120"/>
              </a:rPr>
              <a:t>公交电动化率</a:t>
            </a:r>
            <a:r>
              <a:rPr lang="zh-CN" altLang="en-US" sz="1733" dirty="0" smtClean="0">
                <a:solidFill>
                  <a:srgbClr val="2D2D2D"/>
                </a:solidFill>
                <a:latin typeface="Microsoft YaHei" pitchFamily="34" charset="0"/>
                <a:ea typeface="Microsoft YaHei" pitchFamily="34" charset="-122"/>
                <a:cs typeface="Microsoft YaHei" pitchFamily="34" charset="-120"/>
              </a:rPr>
              <a:t>的全面</a:t>
            </a:r>
            <a:r>
              <a:rPr lang="zh-CN" altLang="en-US" sz="1733" dirty="0">
                <a:solidFill>
                  <a:srgbClr val="2D2D2D"/>
                </a:solidFill>
                <a:latin typeface="Microsoft YaHei" pitchFamily="34" charset="0"/>
                <a:ea typeface="Microsoft YaHei" pitchFamily="34" charset="-122"/>
                <a:cs typeface="Microsoft YaHei" pitchFamily="34" charset="-120"/>
              </a:rPr>
              <a:t>普及</a:t>
            </a:r>
            <a:r>
              <a:rPr lang="en-US" sz="1733" dirty="0" smtClean="0">
                <a:solidFill>
                  <a:srgbClr val="2D2D2D"/>
                </a:solidFill>
                <a:latin typeface="Microsoft YaHei" pitchFamily="34" charset="0"/>
                <a:ea typeface="Microsoft YaHei" pitchFamily="34" charset="-122"/>
                <a:cs typeface="Microsoft YaHei" pitchFamily="34" charset="-120"/>
              </a:rPr>
              <a:t>，充电调度问题将从‘几乎不存在’演变为‘必须解决’。</a:t>
            </a:r>
            <a:r>
              <a:rPr lang="zh-CN" altLang="en-US" sz="1733" dirty="0" smtClean="0">
                <a:solidFill>
                  <a:srgbClr val="2D2D2D"/>
                </a:solidFill>
                <a:latin typeface="Microsoft YaHei" pitchFamily="34" charset="0"/>
                <a:ea typeface="Microsoft YaHei" pitchFamily="34" charset="-122"/>
                <a:cs typeface="Microsoft YaHei" pitchFamily="34" charset="-120"/>
              </a:rPr>
              <a:t>本项目</a:t>
            </a:r>
            <a:r>
              <a:rPr lang="en-US" sz="1733" dirty="0" smtClean="0">
                <a:solidFill>
                  <a:srgbClr val="2D2D2D"/>
                </a:solidFill>
                <a:latin typeface="Microsoft YaHei" pitchFamily="34" charset="0"/>
                <a:ea typeface="Microsoft YaHei" pitchFamily="34" charset="-122"/>
                <a:cs typeface="Microsoft YaHei" pitchFamily="34" charset="-120"/>
              </a:rPr>
              <a:t>构建的框架</a:t>
            </a:r>
            <a:r>
              <a:rPr lang="en-US" sz="1733" dirty="0">
                <a:solidFill>
                  <a:srgbClr val="2D2D2D"/>
                </a:solidFill>
                <a:latin typeface="Microsoft YaHei" pitchFamily="34" charset="0"/>
                <a:ea typeface="Microsoft YaHei" pitchFamily="34" charset="-122"/>
                <a:cs typeface="Microsoft YaHei" pitchFamily="34" charset="-120"/>
              </a:rPr>
              <a:t>——真实 GTFS 数据底座 + MLP 能耗预测 + JSQ 基线 + GA 全局优化 + 三规模评估——为这一演进路径提供了可复现、可扩展的量化分析基础。</a:t>
            </a:r>
            <a:endParaRPr lang="en-US" sz="1733" dirty="0"/>
          </a:p>
        </p:txBody>
      </p:sp>
    </p:spTree>
    <p:extLst>
      <p:ext uri="{BB962C8B-B14F-4D97-AF65-F5344CB8AC3E}">
        <p14:creationId xmlns:p14="http://schemas.microsoft.com/office/powerpoint/2010/main" val="725286214"/>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down)">
                                      <p:cBhvr>
                                        <p:cTn id="12" dur="500"/>
                                        <p:tgtEl>
                                          <p:spTgt spid="7"/>
                                        </p:tgtEl>
                                      </p:cBhvr>
                                    </p:animEffect>
                                  </p:childTnLst>
                                </p:cTn>
                              </p:par>
                              <p:par>
                                <p:cTn id="13" presetID="12" presetClass="entr" presetSubtype="2"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ppt_x</p:attrName>
                                        </p:attrNameLst>
                                      </p:cBhvr>
                                      <p:tavLst>
                                        <p:tav tm="0">
                                          <p:val>
                                            <p:strVal val="#ppt_x+#ppt_w*1.125000"/>
                                          </p:val>
                                        </p:tav>
                                        <p:tav tm="100000">
                                          <p:val>
                                            <p:strVal val="#ppt_x"/>
                                          </p:val>
                                        </p:tav>
                                      </p:tavLst>
                                    </p:anim>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淘宝-想搞设计PPT(倒卖必究)-5"/>
          <p:cNvSpPr/>
          <p:nvPr/>
        </p:nvSpPr>
        <p:spPr>
          <a:xfrm rot="10800000">
            <a:off x="0" y="-7"/>
            <a:ext cx="12192000" cy="2426618"/>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p:nvPr/>
        </p:nvSpPr>
        <p:spPr>
          <a:xfrm rot="10800000">
            <a:off x="0" y="2493941"/>
            <a:ext cx="12192000" cy="70698"/>
          </a:xfrm>
          <a:prstGeom prst="rect">
            <a:avLst/>
          </a:prstGeom>
          <a:solidFill>
            <a:srgbClr val="155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淘宝-想搞设计PPT(倒卖必究)-12"/>
          <p:cNvSpPr txBox="1"/>
          <p:nvPr/>
        </p:nvSpPr>
        <p:spPr>
          <a:xfrm>
            <a:off x="3536239" y="3909427"/>
            <a:ext cx="5119523" cy="1107996"/>
          </a:xfrm>
          <a:prstGeom prst="rect">
            <a:avLst/>
          </a:prstGeom>
          <a:noFill/>
        </p:spPr>
        <p:txBody>
          <a:bodyPr wrap="square" rtlCol="0">
            <a:spAutoFit/>
          </a:bodyPr>
          <a:lstStyle/>
          <a:p>
            <a:pPr algn="ctr"/>
            <a:r>
              <a:rPr lang="zh-CN" altLang="en-US" sz="6600" b="1" dirty="0">
                <a:solidFill>
                  <a:srgbClr val="15548D"/>
                </a:solidFill>
                <a:latin typeface="微软雅黑" panose="020B0503020204020204" pitchFamily="34" charset="-122"/>
                <a:ea typeface="微软雅黑" panose="020B0503020204020204" pitchFamily="34" charset="-122"/>
              </a:rPr>
              <a:t>感谢聆听</a:t>
            </a:r>
          </a:p>
        </p:txBody>
      </p:sp>
      <p:sp>
        <p:nvSpPr>
          <p:cNvPr id="19" name="淘宝-想搞设计PPT(倒卖必究)-19"/>
          <p:cNvSpPr txBox="1"/>
          <p:nvPr/>
        </p:nvSpPr>
        <p:spPr>
          <a:xfrm>
            <a:off x="323851" y="-24013"/>
            <a:ext cx="11544299" cy="3154706"/>
          </a:xfrm>
          <a:prstGeom prst="rect">
            <a:avLst/>
          </a:prstGeom>
        </p:spPr>
        <p:txBody>
          <a:bodyPr wrap="square" lIns="91436" tIns="45718" rIns="91436" bIns="45718">
            <a:spAutoFit/>
          </a:bodyPr>
          <a:lstStyle>
            <a:defPPr>
              <a:defRPr lang="zh-CN"/>
            </a:defPPr>
            <a:lvl1pPr algn="ctr">
              <a:defRPr sz="105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dist"/>
            <a:r>
              <a:rPr lang="en-US" altLang="zh-CN" sz="19900" b="1" dirty="0">
                <a:solidFill>
                  <a:schemeClr val="bg1">
                    <a:alpha val="10000"/>
                  </a:schemeClr>
                </a:solidFill>
              </a:rPr>
              <a:t>THANKS</a:t>
            </a:r>
            <a:endParaRPr lang="zh-CN" altLang="en-US" sz="19900" b="1" dirty="0">
              <a:solidFill>
                <a:schemeClr val="bg1">
                  <a:alpha val="10000"/>
                </a:schemeClr>
              </a:solidFill>
            </a:endParaRPr>
          </a:p>
        </p:txBody>
      </p:sp>
      <p:grpSp>
        <p:nvGrpSpPr>
          <p:cNvPr id="7" name="组合 6"/>
          <p:cNvGrpSpPr/>
          <p:nvPr/>
        </p:nvGrpSpPr>
        <p:grpSpPr>
          <a:xfrm>
            <a:off x="4876405" y="1196335"/>
            <a:ext cx="2439190" cy="2439192"/>
            <a:chOff x="5007734" y="902247"/>
            <a:chExt cx="2543685" cy="2543686"/>
          </a:xfrm>
        </p:grpSpPr>
        <p:sp>
          <p:nvSpPr>
            <p:cNvPr id="8" name="淘宝-想搞设计PPT(倒卖必究)-8"/>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淘宝-想搞设计PPT(倒卖必究)-10"/>
            <p:cNvSpPr/>
            <p:nvPr/>
          </p:nvSpPr>
          <p:spPr>
            <a:xfrm rot="10800000">
              <a:off x="5253394" y="1176935"/>
              <a:ext cx="2052364" cy="2052365"/>
            </a:xfrm>
            <a:prstGeom prst="ellipse">
              <a:avLst/>
            </a:prstGeom>
            <a:blipFill dpi="0" rotWithShape="0">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淘宝-想搞设计PPT(倒卖必究)-20">
            <a:extLst>
              <a:ext uri="{FF2B5EF4-FFF2-40B4-BE49-F238E27FC236}">
                <a16:creationId xmlns:a16="http://schemas.microsoft.com/office/drawing/2014/main" id="{C303C299-66F1-B249-43A2-F403AE445B1B}"/>
              </a:ext>
            </a:extLst>
          </p:cNvPr>
          <p:cNvSpPr/>
          <p:nvPr/>
        </p:nvSpPr>
        <p:spPr>
          <a:xfrm>
            <a:off x="4830714" y="1181254"/>
            <a:ext cx="2490717" cy="249071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Picture 36" descr="华中科技大学.png"/>
          <p:cNvPicPr>
            <a:picLocks noChangeAspect="1"/>
          </p:cNvPicPr>
          <p:nvPr/>
        </p:nvPicPr>
        <p:blipFill>
          <a:blip r:embed="rId4"/>
          <a:stretch>
            <a:fillRect/>
          </a:stretch>
        </p:blipFill>
        <p:spPr>
          <a:xfrm>
            <a:off x="4869407" y="1213302"/>
            <a:ext cx="2426030" cy="24260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0">
        <p14:ferris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par>
                                <p:cTn id="9" presetID="12" presetClass="entr" presetSubtype="4" fill="hold" grpId="0" nodeType="withEffect">
                                  <p:stCondLst>
                                    <p:cond delay="2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ppt_y</p:attrName>
                                        </p:attrNameLst>
                                      </p:cBhvr>
                                      <p:tavLst>
                                        <p:tav tm="0">
                                          <p:val>
                                            <p:strVal val="#ppt_y+#ppt_h*1.125000"/>
                                          </p:val>
                                        </p:tav>
                                        <p:tav tm="100000">
                                          <p:val>
                                            <p:strVal val="#ppt_y"/>
                                          </p:val>
                                        </p:tav>
                                      </p:tavLst>
                                    </p:anim>
                                    <p:animEffect transition="in" filter="wipe(up)">
                                      <p:cBhvr>
                                        <p:cTn id="12" dur="500"/>
                                        <p:tgtEl>
                                          <p:spTgt spid="6"/>
                                        </p:tgtEl>
                                      </p:cBhvr>
                                    </p:animEffect>
                                  </p:childTnLst>
                                </p:cTn>
                              </p:par>
                              <p:par>
                                <p:cTn id="13" presetID="41" presetClass="entr" presetSubtype="0" fill="hold" grpId="0" nodeType="withEffect">
                                  <p:stCondLst>
                                    <p:cond delay="200"/>
                                  </p:stCondLst>
                                  <p:iterate type="lt">
                                    <p:tmPct val="10000"/>
                                  </p:iterate>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19"/>
                                        </p:tgtEl>
                                        <p:attrNameLst>
                                          <p:attrName>ppt_y</p:attrName>
                                        </p:attrNameLst>
                                      </p:cBhvr>
                                      <p:tavLst>
                                        <p:tav tm="0">
                                          <p:val>
                                            <p:strVal val="#ppt_y"/>
                                          </p:val>
                                        </p:tav>
                                        <p:tav tm="100000">
                                          <p:val>
                                            <p:strVal val="#ppt_y"/>
                                          </p:val>
                                        </p:tav>
                                      </p:tavLst>
                                    </p:anim>
                                    <p:anim calcmode="lin" valueType="num">
                                      <p:cBhvr>
                                        <p:cTn id="17"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19"/>
                                        </p:tgtEl>
                                      </p:cBhvr>
                                    </p:animEffect>
                                  </p:childTnLst>
                                </p:cTn>
                              </p:par>
                            </p:childTnLst>
                          </p:cTn>
                        </p:par>
                        <p:par>
                          <p:cTn id="20" fill="hold">
                            <p:stCondLst>
                              <p:cond delay="0"/>
                            </p:stCondLst>
                            <p:childTnLst>
                              <p:par>
                                <p:cTn id="21" presetID="49" presetClass="entr" presetSubtype="0" decel="10000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2" presetClass="entr" presetSubtype="4"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p:tgtEl>
                                          <p:spTgt spid="12"/>
                                        </p:tgtEl>
                                        <p:attrNameLst>
                                          <p:attrName>ppt_y</p:attrName>
                                        </p:attrNameLst>
                                      </p:cBhvr>
                                      <p:tavLst>
                                        <p:tav tm="0">
                                          <p:val>
                                            <p:strVal val="#ppt_y+#ppt_h*1.125000"/>
                                          </p:val>
                                        </p:tav>
                                        <p:tav tm="100000">
                                          <p:val>
                                            <p:strVal val="#ppt_y"/>
                                          </p:val>
                                        </p:tav>
                                      </p:tavLst>
                                    </p:anim>
                                    <p:animEffect transition="in" filter="wipe(up)">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p:bldP spid="1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1392</TotalTime>
  <Words>7724</Words>
  <Application>Microsoft Office PowerPoint</Application>
  <PresentationFormat>宽屏</PresentationFormat>
  <Paragraphs>750</Paragraphs>
  <Slides>30</Slides>
  <Notes>30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宋体</vt:lpstr>
      <vt:lpstr>Microsoft YaHei</vt:lpstr>
      <vt:lpstr>Microsoft YaHei</vt:lpstr>
      <vt:lpstr>Arial</vt:lpstr>
      <vt:lpstr>Calibri</vt:lpstr>
      <vt:lpstr>Calibri Light</vt:lpstr>
      <vt:lpstr>Consolas</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基础架构处</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Administrator</cp:lastModifiedBy>
  <cp:revision>204</cp:revision>
  <dcterms:created xsi:type="dcterms:W3CDTF">2017-04-21T07:43:00Z</dcterms:created>
  <dcterms:modified xsi:type="dcterms:W3CDTF">2026-06-21T14:09:40Z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